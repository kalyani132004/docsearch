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5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302" r:id="rId40"/>
    <p:sldId id="293" r:id="rId41"/>
    <p:sldId id="294" r:id="rId42"/>
    <p:sldId id="295" r:id="rId43"/>
    <p:sldId id="296" r:id="rId44"/>
    <p:sldId id="298" r:id="rId45"/>
    <p:sldId id="299" r:id="rId46"/>
    <p:sldId id="300" r:id="rId47"/>
    <p:sldId id="301"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39" r:id="rId69"/>
    <p:sldId id="340" r:id="rId70"/>
    <p:sldId id="341" r:id="rId71"/>
    <p:sldId id="324" r:id="rId72"/>
    <p:sldId id="323" r:id="rId73"/>
    <p:sldId id="325" r:id="rId74"/>
    <p:sldId id="342" r:id="rId75"/>
    <p:sldId id="326" r:id="rId76"/>
    <p:sldId id="343" r:id="rId77"/>
    <p:sldId id="344" r:id="rId78"/>
    <p:sldId id="345" r:id="rId79"/>
    <p:sldId id="346" r:id="rId80"/>
    <p:sldId id="347" r:id="rId81"/>
    <p:sldId id="327" r:id="rId82"/>
    <p:sldId id="328" r:id="rId83"/>
    <p:sldId id="329" r:id="rId84"/>
    <p:sldId id="330" r:id="rId85"/>
    <p:sldId id="348" r:id="rId86"/>
    <p:sldId id="349" r:id="rId87"/>
    <p:sldId id="350" r:id="rId88"/>
    <p:sldId id="351" r:id="rId89"/>
    <p:sldId id="352" r:id="rId90"/>
    <p:sldId id="331" r:id="rId91"/>
    <p:sldId id="332" r:id="rId92"/>
    <p:sldId id="333" r:id="rId93"/>
    <p:sldId id="353" r:id="rId94"/>
    <p:sldId id="354" r:id="rId95"/>
    <p:sldId id="355" r:id="rId96"/>
    <p:sldId id="334" r:id="rId97"/>
    <p:sldId id="336" r:id="rId98"/>
    <p:sldId id="337" r:id="rId99"/>
    <p:sldId id="338" r:id="rId100"/>
    <p:sldId id="356"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81" r:id="rId122"/>
    <p:sldId id="378" r:id="rId123"/>
    <p:sldId id="382" r:id="rId124"/>
    <p:sldId id="383" r:id="rId125"/>
    <p:sldId id="384" r:id="rId126"/>
    <p:sldId id="335" r:id="rId1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E987611-F314-42B2-AC32-9171D9552BAC}"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CAED-B4C0-4F6E-9290-B26AC4CD5400}"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0"/>
            <a:ext cx="9144000" cy="1459864"/>
          </a:xfrm>
          <a:prstGeom prst="rect">
            <a:avLst/>
          </a:prstGeom>
        </p:spPr>
      </p:pic>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987611-F314-42B2-AC32-9171D9552BAC}"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CAED-B4C0-4F6E-9290-B26AC4CD5400}"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987611-F314-42B2-AC32-9171D9552BAC}"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CAED-B4C0-4F6E-9290-B26AC4CD5400}"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E987611-F314-42B2-AC32-9171D9552BAC}"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CAED-B4C0-4F6E-9290-B26AC4CD5400}" type="slidenum">
              <a:rPr lang="en-US" smtClean="0"/>
              <a:pPr/>
              <a:t>‹#›</a:t>
            </a:fld>
            <a:endParaRPr lang="en-US"/>
          </a:p>
        </p:txBody>
      </p:sp>
      <p:pic>
        <p:nvPicPr>
          <p:cNvPr id="8" name="Picture 7"/>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9" name="Picture 8"/>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987611-F314-42B2-AC32-9171D9552BAC}"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94CAED-B4C0-4F6E-9290-B26AC4CD5400}" type="slidenum">
              <a:rPr lang="en-US" smtClean="0"/>
              <a:pPr/>
              <a:t>‹#›</a:t>
            </a:fld>
            <a:endParaRPr lang="en-US"/>
          </a:p>
        </p:txBody>
      </p:sp>
      <p:pic>
        <p:nvPicPr>
          <p:cNvPr id="10" name="Picture 9"/>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11" name="Picture 10"/>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E987611-F314-42B2-AC32-9171D9552BAC}"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94CAED-B4C0-4F6E-9290-B26AC4CD5400}" type="slidenum">
              <a:rPr lang="en-US" smtClean="0"/>
              <a:pPr/>
              <a:t>‹#›</a:t>
            </a:fld>
            <a:endParaRPr lang="en-US"/>
          </a:p>
        </p:txBody>
      </p:sp>
      <p:pic>
        <p:nvPicPr>
          <p:cNvPr id="6" name="Pictur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987611-F314-42B2-AC32-9171D9552BAC}"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94CAED-B4C0-4F6E-9290-B26AC4CD5400}" type="slidenum">
              <a:rPr lang="en-US" smtClean="0"/>
              <a:pPr/>
              <a:t>‹#›</a:t>
            </a:fld>
            <a:endParaRPr lang="en-US"/>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987611-F314-42B2-AC32-9171D9552BAC}"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CAED-B4C0-4F6E-9290-B26AC4CD5400}" type="slidenum">
              <a:rPr lang="en-US" smtClean="0"/>
              <a:pPr/>
              <a:t>‹#›</a:t>
            </a:fld>
            <a:endParaRPr lang="en-US"/>
          </a:p>
        </p:txBody>
      </p:sp>
      <p:pic>
        <p:nvPicPr>
          <p:cNvPr id="8" name="Picture 7"/>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9" name="Picture 8"/>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987611-F314-42B2-AC32-9171D9552BAC}"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CAED-B4C0-4F6E-9290-B26AC4CD5400}" type="slidenum">
              <a:rPr lang="en-US" smtClean="0"/>
              <a:pPr/>
              <a:t>‹#›</a:t>
            </a:fld>
            <a:endParaRPr lang="en-US"/>
          </a:p>
        </p:txBody>
      </p:sp>
      <p:pic>
        <p:nvPicPr>
          <p:cNvPr id="8" name="Picture 7"/>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9" name="Picture 8"/>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987611-F314-42B2-AC32-9171D9552BAC}"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CAED-B4C0-4F6E-9290-B26AC4CD5400}"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987611-F314-42B2-AC32-9171D9552BAC}"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CAED-B4C0-4F6E-9290-B26AC4CD5400}"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236" y="6294222"/>
            <a:ext cx="9133764" cy="563778"/>
          </a:xfrm>
          <a:prstGeom prst="rect">
            <a:avLst/>
          </a:prstGeom>
        </p:spPr>
      </p:pic>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144000" cy="55447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987611-F314-42B2-AC32-9171D9552BAC}" type="datetimeFigureOut">
              <a:rPr lang="en-US" smtClean="0"/>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94CAED-B4C0-4F6E-9290-B26AC4CD540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software-engineering/software-requirement-specification-srs-forma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software-testing/software-testing-basics/" TargetMode="External"/><Relationship Id="rId2" Type="http://schemas.openxmlformats.org/officeDocument/2006/relationships/hyperlink" Target="https://www.geeksforgeeks.org/software-engineering/activities-involved-in-software-requirement-analysis/" TargetMode="External"/><Relationship Id="rId1" Type="http://schemas.openxmlformats.org/officeDocument/2006/relationships/slideLayout" Target="../slideLayouts/slideLayout2.xml"/><Relationship Id="rId4" Type="http://schemas.openxmlformats.org/officeDocument/2006/relationships/hyperlink" Target="https://www.geeksforgeeks.org/software-engineering/software-engineering-debuggin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software-engineering/software-engineering-software-maintenance/" TargetMode="External"/><Relationship Id="rId2" Type="http://schemas.openxmlformats.org/officeDocument/2006/relationships/hyperlink" Target="https://www.geeksforgeeks.org/blogs/5-best-practices-for-code-review/" TargetMode="External"/><Relationship Id="rId1" Type="http://schemas.openxmlformats.org/officeDocument/2006/relationships/slideLayout" Target="../slideLayouts/slideLayout2.xml"/><Relationship Id="rId4" Type="http://schemas.openxmlformats.org/officeDocument/2006/relationships/hyperlink" Target="https://www.geeksforgeeks.org/software-engineering/overview-software-documentatio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software-testing/software-testing-tutorial/" TargetMode="External"/><Relationship Id="rId2" Type="http://schemas.openxmlformats.org/officeDocument/2006/relationships/hyperlink" Target="https://www.geeksforgeeks.org/software-engineering/coding-standards-and-guidelines/" TargetMode="External"/><Relationship Id="rId1" Type="http://schemas.openxmlformats.org/officeDocument/2006/relationships/slideLayout" Target="../slideLayouts/slideLayout2.xml"/><Relationship Id="rId5" Type="http://schemas.openxmlformats.org/officeDocument/2006/relationships/hyperlink" Target="https://www.geeksforgeeks.org/software-engineering/what-is-software-development/" TargetMode="External"/><Relationship Id="rId4" Type="http://schemas.openxmlformats.org/officeDocument/2006/relationships/hyperlink" Target="https://www.geeksforgeeks.org/system-design/oops-object-oriented-desig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software-engineering/activities-involved-in-software-requirement-analysis/" TargetMode="External"/><Relationship Id="rId2" Type="http://schemas.openxmlformats.org/officeDocument/2006/relationships/hyperlink" Target="https://www.geeksforgeeks.org/software-engineering/software-developmen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software-engineering/software-requirement-specification-srs-format/"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eeksforgeeks.org/software-engineering/overview-software-documenta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geeksforgeeks.org/software-engineering/product-managemen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geeksforgeeks.org/software-engineering/software-development-life-cycle-sdlc/"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C00000"/>
                </a:solidFill>
                <a:latin typeface="Times New Roman" pitchFamily="18" charset="0"/>
                <a:cs typeface="Times New Roman" pitchFamily="18" charset="0"/>
              </a:rPr>
              <a:t>Introduction to Software Engineering</a:t>
            </a:r>
            <a:endParaRPr lang="en-US" b="1"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pPr algn="r"/>
            <a:r>
              <a:rPr lang="en-US" dirty="0" smtClean="0">
                <a:latin typeface="Times New Roman" pitchFamily="18" charset="0"/>
                <a:cs typeface="Times New Roman" pitchFamily="18" charset="0"/>
              </a:rPr>
              <a:t>Ms. </a:t>
            </a:r>
            <a:r>
              <a:rPr lang="en-US" dirty="0" err="1" smtClean="0">
                <a:latin typeface="Times New Roman" pitchFamily="18" charset="0"/>
                <a:cs typeface="Times New Roman" pitchFamily="18" charset="0"/>
              </a:rPr>
              <a:t>Sujata</a:t>
            </a:r>
            <a:r>
              <a:rPr lang="en-US" dirty="0" smtClean="0">
                <a:latin typeface="Times New Roman" pitchFamily="18" charset="0"/>
                <a:cs typeface="Times New Roman" pitchFamily="18" charset="0"/>
              </a:rPr>
              <a:t> P. </a:t>
            </a:r>
            <a:r>
              <a:rPr lang="en-US" dirty="0" err="1" smtClean="0">
                <a:latin typeface="Times New Roman" pitchFamily="18" charset="0"/>
                <a:cs typeface="Times New Roman" pitchFamily="18" charset="0"/>
              </a:rPr>
              <a:t>Kangune</a:t>
            </a:r>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Showcard Gothic" pitchFamily="82" charset="0"/>
              </a:rPr>
              <a:t>Contents</a:t>
            </a:r>
            <a:endParaRPr lang="en-IN" dirty="0">
              <a:solidFill>
                <a:srgbClr val="FF0000"/>
              </a:solidFill>
              <a:latin typeface="Showcard Gothic" pitchFamily="82" charset="0"/>
            </a:endParaRPr>
          </a:p>
        </p:txBody>
      </p:sp>
      <p:sp>
        <p:nvSpPr>
          <p:cNvPr id="3" name="Content Placeholder 2"/>
          <p:cNvSpPr>
            <a:spLocks noGrp="1"/>
          </p:cNvSpPr>
          <p:nvPr>
            <p:ph idx="1"/>
          </p:nvPr>
        </p:nvSpPr>
        <p:spPr>
          <a:xfrm>
            <a:off x="304800" y="1295400"/>
            <a:ext cx="8610600" cy="4830763"/>
          </a:xfrm>
        </p:spPr>
        <p:txBody>
          <a:bodyPr>
            <a:normAutofit fontScale="70000" lnSpcReduction="20000"/>
          </a:bodyPr>
          <a:lstStyle/>
          <a:p>
            <a:pPr>
              <a:buNone/>
            </a:pPr>
            <a:r>
              <a:rPr lang="en-IN" sz="3400" b="1" dirty="0" smtClean="0">
                <a:latin typeface="Times New Roman" pitchFamily="18" charset="0"/>
                <a:cs typeface="Times New Roman" pitchFamily="18" charset="0"/>
              </a:rPr>
              <a:t>Overview of Software Engineering </a:t>
            </a:r>
            <a:endParaRPr lang="en-IN" sz="3400" b="1" dirty="0" smtClean="0">
              <a:latin typeface="Times New Roman" pitchFamily="18" charset="0"/>
              <a:cs typeface="Times New Roman" pitchFamily="18" charset="0"/>
            </a:endParaRPr>
          </a:p>
          <a:p>
            <a:pPr>
              <a:buNone/>
            </a:pPr>
            <a:endParaRPr lang="en-IN" sz="3400" b="1" dirty="0" smtClean="0">
              <a:latin typeface="Times New Roman" pitchFamily="18" charset="0"/>
              <a:cs typeface="Times New Roman" pitchFamily="18" charset="0"/>
            </a:endParaRPr>
          </a:p>
          <a:p>
            <a:pPr marL="514350" indent="-514350">
              <a:buFont typeface="Wingdings" pitchFamily="2" charset="2"/>
              <a:buChar char="q"/>
            </a:pPr>
            <a:r>
              <a:rPr lang="en-IN" sz="3400" dirty="0" smtClean="0">
                <a:latin typeface="Times New Roman" pitchFamily="18" charset="0"/>
                <a:cs typeface="Times New Roman" pitchFamily="18" charset="0"/>
              </a:rPr>
              <a:t>1.1. Overview of Software Engineering </a:t>
            </a:r>
          </a:p>
          <a:p>
            <a:pPr marL="514350" indent="-514350">
              <a:buFont typeface="Wingdings" pitchFamily="2" charset="2"/>
              <a:buChar char="q"/>
            </a:pPr>
            <a:r>
              <a:rPr lang="en-IN" sz="3400" dirty="0" smtClean="0">
                <a:latin typeface="Times New Roman" pitchFamily="18" charset="0"/>
                <a:cs typeface="Times New Roman" pitchFamily="18" charset="0"/>
              </a:rPr>
              <a:t>1.2. SDLC models </a:t>
            </a:r>
          </a:p>
          <a:p>
            <a:pPr marL="514350" indent="-514350">
              <a:buFont typeface="Wingdings" pitchFamily="2" charset="2"/>
              <a:buChar char="q"/>
            </a:pPr>
            <a:r>
              <a:rPr lang="en-IN" sz="3400" dirty="0" smtClean="0">
                <a:latin typeface="Times New Roman" pitchFamily="18" charset="0"/>
                <a:cs typeface="Times New Roman" pitchFamily="18" charset="0"/>
              </a:rPr>
              <a:t>1.3</a:t>
            </a:r>
            <a:r>
              <a:rPr lang="en-IN" sz="3400" dirty="0" smtClean="0">
                <a:latin typeface="Times New Roman" pitchFamily="18" charset="0"/>
                <a:cs typeface="Times New Roman" pitchFamily="18" charset="0"/>
              </a:rPr>
              <a:t>. Requirement Engineering </a:t>
            </a:r>
          </a:p>
          <a:p>
            <a:pPr marL="514350" indent="-514350">
              <a:buFont typeface="Wingdings" pitchFamily="2" charset="2"/>
              <a:buChar char="q"/>
            </a:pPr>
            <a:r>
              <a:rPr lang="en-IN" sz="3400" dirty="0" smtClean="0">
                <a:latin typeface="Times New Roman" pitchFamily="18" charset="0"/>
                <a:cs typeface="Times New Roman" pitchFamily="18" charset="0"/>
              </a:rPr>
              <a:t>1.3.1. Types of Requirements: -Functional and Non-functional </a:t>
            </a:r>
          </a:p>
          <a:p>
            <a:pPr marL="514350" indent="-514350">
              <a:buFont typeface="Wingdings" pitchFamily="2" charset="2"/>
              <a:buChar char="q"/>
            </a:pPr>
            <a:r>
              <a:rPr lang="en-IN" sz="3400" dirty="0" smtClean="0">
                <a:latin typeface="Times New Roman" pitchFamily="18" charset="0"/>
                <a:cs typeface="Times New Roman" pitchFamily="18" charset="0"/>
              </a:rPr>
              <a:t>1.3.2. Four Phases of Requirement Engineering </a:t>
            </a:r>
          </a:p>
          <a:p>
            <a:pPr marL="514350" indent="-514350">
              <a:buFont typeface="Wingdings" pitchFamily="2" charset="2"/>
              <a:buChar char="q"/>
            </a:pPr>
            <a:r>
              <a:rPr lang="en-IN" sz="3400" dirty="0" smtClean="0">
                <a:latin typeface="Times New Roman" pitchFamily="18" charset="0"/>
                <a:cs typeface="Times New Roman" pitchFamily="18" charset="0"/>
              </a:rPr>
              <a:t>1.4. Software requirement Specification (SRS) </a:t>
            </a:r>
          </a:p>
          <a:p>
            <a:pPr marL="514350" indent="-514350">
              <a:buFont typeface="Wingdings" pitchFamily="2" charset="2"/>
              <a:buChar char="q"/>
            </a:pPr>
            <a:r>
              <a:rPr lang="en-IN" sz="3400" dirty="0" smtClean="0">
                <a:latin typeface="Times New Roman" pitchFamily="18" charset="0"/>
                <a:cs typeface="Times New Roman" pitchFamily="18" charset="0"/>
              </a:rPr>
              <a:t>1.4.1. Structure and contents of SRS </a:t>
            </a:r>
          </a:p>
          <a:p>
            <a:pPr marL="514350" indent="-514350">
              <a:buFont typeface="Wingdings" pitchFamily="2" charset="2"/>
              <a:buChar char="q"/>
            </a:pPr>
            <a:r>
              <a:rPr lang="en-IN" sz="3400" dirty="0" smtClean="0">
                <a:latin typeface="Times New Roman" pitchFamily="18" charset="0"/>
                <a:cs typeface="Times New Roman" pitchFamily="18" charset="0"/>
              </a:rPr>
              <a:t>1.4.2</a:t>
            </a:r>
            <a:r>
              <a:rPr lang="en-IN" sz="3400" dirty="0" smtClean="0">
                <a:latin typeface="Times New Roman" pitchFamily="18" charset="0"/>
                <a:cs typeface="Times New Roman" pitchFamily="18" charset="0"/>
              </a:rPr>
              <a:t>. IEEE SRS Format </a:t>
            </a:r>
          </a:p>
          <a:p>
            <a:endParaRPr lang="en-IN" sz="3400" dirty="0" smtClean="0">
              <a:latin typeface="Times New Roman" pitchFamily="18" charset="0"/>
              <a:cs typeface="Times New Roman" pitchFamily="18" charset="0"/>
            </a:endParaRPr>
          </a:p>
          <a:p>
            <a:pPr>
              <a:buFont typeface="Wingdings" pitchFamily="2" charset="2"/>
              <a:buChar char="Ø"/>
            </a:pPr>
            <a:r>
              <a:rPr lang="en-IN" sz="3400" dirty="0" smtClean="0">
                <a:latin typeface="Times New Roman" pitchFamily="18" charset="0"/>
                <a:cs typeface="Times New Roman" pitchFamily="18" charset="0"/>
              </a:rPr>
              <a:t>Case studies : based on SRS 	</a:t>
            </a:r>
          </a:p>
          <a:p>
            <a:endParaRPr lang="en-IN" dirty="0" smtClean="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latin typeface="Times New Roman" pitchFamily="18" charset="0"/>
                <a:cs typeface="Times New Roman" pitchFamily="18" charset="0"/>
              </a:rPr>
              <a:t>Software</a:t>
            </a:r>
            <a:endParaRPr lang="en-US"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fontAlgn="base"/>
            <a:r>
              <a:rPr lang="en-US" sz="2400" b="1" dirty="0">
                <a:latin typeface="Times New Roman" pitchFamily="18" charset="0"/>
                <a:cs typeface="Times New Roman" pitchFamily="18" charset="0"/>
              </a:rPr>
              <a:t>Software</a:t>
            </a:r>
            <a:r>
              <a:rPr lang="en-US" sz="2400" dirty="0">
                <a:latin typeface="Times New Roman" pitchFamily="18" charset="0"/>
                <a:cs typeface="Times New Roman" pitchFamily="18" charset="0"/>
              </a:rPr>
              <a:t> is a program or set of programs containing instructions that provide the desired functionality. </a:t>
            </a:r>
            <a:r>
              <a:rPr lang="en-US" sz="2400" b="1" dirty="0">
                <a:latin typeface="Times New Roman" pitchFamily="18" charset="0"/>
                <a:cs typeface="Times New Roman" pitchFamily="18" charset="0"/>
              </a:rPr>
              <a:t>Engineering</a:t>
            </a:r>
            <a:r>
              <a:rPr lang="en-US" sz="2400" dirty="0">
                <a:latin typeface="Times New Roman" pitchFamily="18" charset="0"/>
                <a:cs typeface="Times New Roman" pitchFamily="18" charset="0"/>
              </a:rPr>
              <a:t> is the process of designing and building something that serves a particular purpose and finds a cost-effective solution to problems.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smtClean="0">
                <a:latin typeface="Times New Roman" pitchFamily="18" charset="0"/>
                <a:cs typeface="Times New Roman" pitchFamily="18" charset="0"/>
              </a:rPr>
              <a:t>Software Engineering</a:t>
            </a:r>
            <a:r>
              <a:rPr lang="en-US" dirty="0" smtClean="0">
                <a:latin typeface="Times New Roman" pitchFamily="18" charset="0"/>
                <a:cs typeface="Times New Roman" pitchFamily="18" charset="0"/>
              </a:rPr>
              <a:t> is the process of designing, developing, testing, and maintaining software.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92500" lnSpcReduction="10000"/>
          </a:bodyPr>
          <a:lstStyle/>
          <a:p>
            <a:pPr algn="just">
              <a:buFont typeface="Wingdings" pitchFamily="2" charset="2"/>
              <a:buChar char="§"/>
            </a:pPr>
            <a:r>
              <a:rPr lang="en-US" sz="2400" dirty="0" smtClean="0">
                <a:latin typeface="Times New Roman" pitchFamily="18" charset="0"/>
                <a:cs typeface="Times New Roman" pitchFamily="18" charset="0"/>
              </a:rPr>
              <a:t>Software engineering includes requirements analysis, design, testing, and maintenance.</a:t>
            </a:r>
          </a:p>
          <a:p>
            <a:pPr algn="just">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It focuses mainly on large software systems, not just single programs.</a:t>
            </a:r>
          </a:p>
          <a:p>
            <a:pPr algn="just">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The field is rapidly evolving with new tools and technologies.</a:t>
            </a:r>
          </a:p>
          <a:p>
            <a:pPr algn="just">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The main goal is to develop high-quality, reliable, and maintainable software.</a:t>
            </a:r>
          </a:p>
          <a:p>
            <a:pPr algn="just">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It ensures software is delivered on time, within budget, and meets requirements.</a:t>
            </a:r>
          </a:p>
          <a:p>
            <a:pPr algn="just">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Software engineering improves quality, budget management, and time efficiency.</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fontAlgn="base"/>
            <a:r>
              <a:rPr lang="en-US" sz="3600" b="1" dirty="0">
                <a:solidFill>
                  <a:srgbClr val="C00000"/>
                </a:solidFill>
                <a:latin typeface="Times New Roman" pitchFamily="18" charset="0"/>
                <a:cs typeface="Times New Roman" pitchFamily="18" charset="0"/>
              </a:rPr>
              <a:t>Key Principles of Software Engineering</a:t>
            </a:r>
            <a:r>
              <a:rPr lang="en-US" b="1" dirty="0">
                <a:solidFill>
                  <a:srgbClr val="C00000"/>
                </a:solidFill>
                <a:latin typeface="Times New Roman" pitchFamily="18" charset="0"/>
                <a:cs typeface="Times New Roman" pitchFamily="18" charset="0"/>
              </a:rPr>
              <a:t/>
            </a:r>
            <a:br>
              <a:rPr lang="en-US" b="1" dirty="0">
                <a:solidFill>
                  <a:srgbClr val="C00000"/>
                </a:solidFill>
                <a:latin typeface="Times New Roman" pitchFamily="18" charset="0"/>
                <a:cs typeface="Times New Roman" pitchFamily="18" charset="0"/>
              </a:rPr>
            </a:br>
            <a:r>
              <a:rPr lang="en-US" dirty="0">
                <a:solidFill>
                  <a:srgbClr val="C00000"/>
                </a:solidFill>
                <a:latin typeface="Times New Roman" pitchFamily="18" charset="0"/>
                <a:cs typeface="Times New Roman" pitchFamily="18" charset="0"/>
              </a:rPr>
              <a:t/>
            </a:r>
            <a:br>
              <a:rPr lang="en-US"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pPr algn="just" fontAlgn="base"/>
            <a:r>
              <a:rPr lang="en-US" b="1" dirty="0">
                <a:latin typeface="Times New Roman" pitchFamily="18" charset="0"/>
                <a:cs typeface="Times New Roman" pitchFamily="18" charset="0"/>
              </a:rPr>
              <a:t>Modularity</a:t>
            </a:r>
            <a:r>
              <a:rPr lang="en-US" dirty="0">
                <a:latin typeface="Times New Roman" pitchFamily="18" charset="0"/>
                <a:cs typeface="Times New Roman" pitchFamily="18" charset="0"/>
              </a:rPr>
              <a:t>: Breaking the software into smaller, reusable components that can be developed and tested independently.</a:t>
            </a:r>
          </a:p>
          <a:p>
            <a:pPr algn="just" fontAlgn="base"/>
            <a:r>
              <a:rPr lang="en-US" b="1" dirty="0">
                <a:latin typeface="Times New Roman" pitchFamily="18" charset="0"/>
                <a:cs typeface="Times New Roman" pitchFamily="18" charset="0"/>
              </a:rPr>
              <a:t>Abstraction</a:t>
            </a:r>
            <a:r>
              <a:rPr lang="en-US" dirty="0">
                <a:latin typeface="Times New Roman" pitchFamily="18" charset="0"/>
                <a:cs typeface="Times New Roman" pitchFamily="18" charset="0"/>
              </a:rPr>
              <a:t>: Hiding the implementation details of a component and exposing only the necessary functionality to other </a:t>
            </a:r>
            <a:r>
              <a:rPr lang="en-US" dirty="0" smtClean="0">
                <a:latin typeface="Times New Roman" pitchFamily="18" charset="0"/>
                <a:cs typeface="Times New Roman" pitchFamily="18" charset="0"/>
              </a:rPr>
              <a:t>parts </a:t>
            </a:r>
            <a:r>
              <a:rPr lang="en-US" dirty="0">
                <a:latin typeface="Times New Roman" pitchFamily="18" charset="0"/>
                <a:cs typeface="Times New Roman" pitchFamily="18" charset="0"/>
              </a:rPr>
              <a:t>of the software.</a:t>
            </a:r>
          </a:p>
          <a:p>
            <a:pPr algn="just" fontAlgn="base"/>
            <a:r>
              <a:rPr lang="en-US" b="1" dirty="0">
                <a:latin typeface="Times New Roman" pitchFamily="18" charset="0"/>
                <a:cs typeface="Times New Roman" pitchFamily="18" charset="0"/>
              </a:rPr>
              <a:t>Encapsulation</a:t>
            </a:r>
            <a:r>
              <a:rPr lang="en-US" dirty="0">
                <a:latin typeface="Times New Roman" pitchFamily="18" charset="0"/>
                <a:cs typeface="Times New Roman" pitchFamily="18" charset="0"/>
              </a:rPr>
              <a:t>: Wrapping up the data and functions of an object into a single unit, and protecting the internal state of an object from external modifications.</a:t>
            </a:r>
          </a:p>
          <a:p>
            <a:pPr algn="just" fontAlgn="base"/>
            <a:r>
              <a:rPr lang="en-US" b="1" dirty="0">
                <a:latin typeface="Times New Roman" pitchFamily="18" charset="0"/>
                <a:cs typeface="Times New Roman" pitchFamily="18" charset="0"/>
              </a:rPr>
              <a:t>Reusability</a:t>
            </a:r>
            <a:r>
              <a:rPr lang="en-US" dirty="0">
                <a:latin typeface="Times New Roman" pitchFamily="18" charset="0"/>
                <a:cs typeface="Times New Roman" pitchFamily="18" charset="0"/>
              </a:rPr>
              <a:t>: Creating components that can be used in multiple projects, which can save time and resources.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pPr algn="just" fontAlgn="base"/>
            <a:r>
              <a:rPr lang="en-US" b="1" dirty="0" smtClean="0">
                <a:latin typeface="Times New Roman" pitchFamily="18" charset="0"/>
                <a:cs typeface="Times New Roman" pitchFamily="18" charset="0"/>
              </a:rPr>
              <a:t>Maintenance</a:t>
            </a:r>
            <a:r>
              <a:rPr lang="en-US" dirty="0" smtClean="0">
                <a:latin typeface="Times New Roman" pitchFamily="18" charset="0"/>
                <a:cs typeface="Times New Roman" pitchFamily="18" charset="0"/>
              </a:rPr>
              <a:t>: Regularly updating and improving the software to fix bugs, add new features, and address security vulnerabilities.</a:t>
            </a:r>
          </a:p>
          <a:p>
            <a:pPr algn="just" fontAlgn="base"/>
            <a:r>
              <a:rPr lang="en-US" b="1" dirty="0" smtClean="0">
                <a:latin typeface="Times New Roman" pitchFamily="18" charset="0"/>
                <a:cs typeface="Times New Roman" pitchFamily="18" charset="0"/>
              </a:rPr>
              <a:t>Testing</a:t>
            </a:r>
            <a:r>
              <a:rPr lang="en-US" dirty="0" smtClean="0">
                <a:latin typeface="Times New Roman" pitchFamily="18" charset="0"/>
                <a:cs typeface="Times New Roman" pitchFamily="18" charset="0"/>
              </a:rPr>
              <a:t>: Verifying that the software meets its requirements and is free of bugs.</a:t>
            </a:r>
          </a:p>
          <a:p>
            <a:pPr algn="just" fontAlgn="base"/>
            <a:r>
              <a:rPr lang="en-US" b="1" dirty="0" smtClean="0">
                <a:latin typeface="Times New Roman" pitchFamily="18" charset="0"/>
                <a:cs typeface="Times New Roman" pitchFamily="18" charset="0"/>
              </a:rPr>
              <a:t>Design Patterns</a:t>
            </a:r>
            <a:r>
              <a:rPr lang="en-US" dirty="0" smtClean="0">
                <a:latin typeface="Times New Roman" pitchFamily="18" charset="0"/>
                <a:cs typeface="Times New Roman" pitchFamily="18" charset="0"/>
              </a:rPr>
              <a:t>: Solving recurring problems in software design by providing templates for solving them.</a:t>
            </a:r>
          </a:p>
          <a:p>
            <a:pPr algn="just" fontAlgn="base"/>
            <a:r>
              <a:rPr lang="en-US" b="1" dirty="0" smtClean="0">
                <a:latin typeface="Times New Roman" pitchFamily="18" charset="0"/>
                <a:cs typeface="Times New Roman" pitchFamily="18" charset="0"/>
              </a:rPr>
              <a:t>Agile methodologies: </a:t>
            </a:r>
            <a:r>
              <a:rPr lang="en-US" dirty="0" smtClean="0">
                <a:latin typeface="Times New Roman" pitchFamily="18" charset="0"/>
                <a:cs typeface="Times New Roman" pitchFamily="18" charset="0"/>
              </a:rPr>
              <a:t>Using iterative and incremental development processes that focus on customer satisfaction, rapid delivery, and flexibility.</a:t>
            </a:r>
          </a:p>
          <a:p>
            <a:pPr algn="just" fontAlgn="base"/>
            <a:r>
              <a:rPr lang="en-US" b="1" dirty="0" smtClean="0">
                <a:latin typeface="Times New Roman" pitchFamily="18" charset="0"/>
                <a:cs typeface="Times New Roman" pitchFamily="18" charset="0"/>
              </a:rPr>
              <a:t>Continuous Integration &amp; Deployment:</a:t>
            </a:r>
            <a:r>
              <a:rPr lang="en-US" dirty="0" smtClean="0">
                <a:latin typeface="Times New Roman" pitchFamily="18" charset="0"/>
                <a:cs typeface="Times New Roman" pitchFamily="18" charset="0"/>
              </a:rPr>
              <a:t> Continuously integrating the code changes and deploying them into the production environment.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rgbClr val="C00000"/>
                </a:solidFill>
                <a:latin typeface="Times New Roman" pitchFamily="18" charset="0"/>
                <a:cs typeface="Times New Roman" pitchFamily="18" charset="0"/>
              </a:rPr>
              <a:t>Main Attributes of Software Engineering</a:t>
            </a:r>
            <a:r>
              <a:rPr lang="en-US" b="1" dirty="0"/>
              <a:t/>
            </a:r>
            <a:br>
              <a:rPr lang="en-US" b="1" dirty="0"/>
            </a:br>
            <a:endParaRPr lang="en-US" dirty="0"/>
          </a:p>
        </p:txBody>
      </p:sp>
      <p:sp>
        <p:nvSpPr>
          <p:cNvPr id="3" name="Content Placeholder 2"/>
          <p:cNvSpPr>
            <a:spLocks noGrp="1"/>
          </p:cNvSpPr>
          <p:nvPr>
            <p:ph idx="1"/>
          </p:nvPr>
        </p:nvSpPr>
        <p:spPr>
          <a:xfrm>
            <a:off x="457200" y="1066800"/>
            <a:ext cx="8229600" cy="5486400"/>
          </a:xfrm>
        </p:spPr>
        <p:txBody>
          <a:bodyPr>
            <a:normAutofit lnSpcReduction="10000"/>
          </a:bodyPr>
          <a:lstStyle/>
          <a:p>
            <a:pPr algn="just" fontAlgn="base"/>
            <a:r>
              <a:rPr lang="en-US" b="1" dirty="0">
                <a:latin typeface="Times New Roman" pitchFamily="18" charset="0"/>
                <a:cs typeface="Times New Roman" pitchFamily="18" charset="0"/>
              </a:rPr>
              <a:t>Efficiency: </a:t>
            </a:r>
            <a:r>
              <a:rPr lang="en-US" dirty="0">
                <a:latin typeface="Times New Roman" pitchFamily="18" charset="0"/>
                <a:cs typeface="Times New Roman" pitchFamily="18" charset="0"/>
              </a:rPr>
              <a:t>It provides a measure of the resource requirement of a software product efficiently.</a:t>
            </a:r>
          </a:p>
          <a:p>
            <a:pPr algn="just" fontAlgn="base"/>
            <a:r>
              <a:rPr lang="en-US" b="1" dirty="0">
                <a:latin typeface="Times New Roman" pitchFamily="18" charset="0"/>
                <a:cs typeface="Times New Roman" pitchFamily="18" charset="0"/>
              </a:rPr>
              <a:t>Reliability: </a:t>
            </a:r>
            <a:r>
              <a:rPr lang="en-US" dirty="0">
                <a:latin typeface="Times New Roman" pitchFamily="18" charset="0"/>
                <a:cs typeface="Times New Roman" pitchFamily="18" charset="0"/>
              </a:rPr>
              <a:t>It assures that the product will deliver the same results when used in similar working environment.</a:t>
            </a:r>
          </a:p>
          <a:p>
            <a:pPr algn="just" fontAlgn="base"/>
            <a:r>
              <a:rPr lang="en-US" b="1" dirty="0">
                <a:latin typeface="Times New Roman" pitchFamily="18" charset="0"/>
                <a:cs typeface="Times New Roman" pitchFamily="18" charset="0"/>
              </a:rPr>
              <a:t>Reusability: </a:t>
            </a:r>
            <a:r>
              <a:rPr lang="en-US" dirty="0">
                <a:latin typeface="Times New Roman" pitchFamily="18" charset="0"/>
                <a:cs typeface="Times New Roman" pitchFamily="18" charset="0"/>
              </a:rPr>
              <a:t>This attribute makes sure that the module can be used in multiple applications.</a:t>
            </a:r>
          </a:p>
          <a:p>
            <a:pPr algn="just" fontAlgn="base"/>
            <a:r>
              <a:rPr lang="en-US" b="1" dirty="0">
                <a:latin typeface="Times New Roman" pitchFamily="18" charset="0"/>
                <a:cs typeface="Times New Roman" pitchFamily="18" charset="0"/>
              </a:rPr>
              <a:t>Maintainability: </a:t>
            </a:r>
            <a:r>
              <a:rPr lang="en-US" dirty="0">
                <a:latin typeface="Times New Roman" pitchFamily="18" charset="0"/>
                <a:cs typeface="Times New Roman" pitchFamily="18" charset="0"/>
              </a:rPr>
              <a:t>It is the ability of the software to be modified, repaired, or enhanced easily with changing requirements.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Dual Role of Software</a:t>
            </a:r>
            <a:br>
              <a:rPr lang="en-US" b="1" dirty="0">
                <a:solidFill>
                  <a:srgbClr val="C00000"/>
                </a:solidFill>
              </a:rPr>
            </a:br>
            <a:endParaRPr lang="en-US" dirty="0">
              <a:solidFill>
                <a:srgbClr val="C00000"/>
              </a:solidFill>
            </a:endParaRPr>
          </a:p>
        </p:txBody>
      </p:sp>
      <p:sp>
        <p:nvSpPr>
          <p:cNvPr id="3" name="Content Placeholder 2"/>
          <p:cNvSpPr>
            <a:spLocks noGrp="1"/>
          </p:cNvSpPr>
          <p:nvPr>
            <p:ph idx="1"/>
          </p:nvPr>
        </p:nvSpPr>
        <p:spPr>
          <a:xfrm>
            <a:off x="457200" y="1600200"/>
            <a:ext cx="8229600" cy="4724400"/>
          </a:xfrm>
        </p:spPr>
        <p:txBody>
          <a:bodyPr/>
          <a:lstStyle/>
          <a:p>
            <a:pPr algn="just" fontAlgn="base">
              <a:buNone/>
            </a:pPr>
            <a:r>
              <a:rPr lang="en-US" sz="2800" b="1" dirty="0">
                <a:latin typeface="Times New Roman" pitchFamily="18" charset="0"/>
                <a:cs typeface="Times New Roman" pitchFamily="18" charset="0"/>
              </a:rPr>
              <a:t>1. As a Product</a:t>
            </a:r>
          </a:p>
          <a:p>
            <a:pPr algn="just" fontAlgn="base"/>
            <a:r>
              <a:rPr lang="en-US" sz="2800" dirty="0">
                <a:latin typeface="Times New Roman" pitchFamily="18" charset="0"/>
                <a:cs typeface="Times New Roman" pitchFamily="18" charset="0"/>
              </a:rPr>
              <a:t>It delivers computing potential across networks of Hardware.</a:t>
            </a:r>
          </a:p>
          <a:p>
            <a:pPr algn="just" fontAlgn="base"/>
            <a:r>
              <a:rPr lang="en-US" sz="2800" dirty="0">
                <a:latin typeface="Times New Roman" pitchFamily="18" charset="0"/>
                <a:cs typeface="Times New Roman" pitchFamily="18" charset="0"/>
              </a:rPr>
              <a:t>It enables the Hardware to deliver the expected functionality.</a:t>
            </a:r>
          </a:p>
          <a:p>
            <a:pPr algn="just" fontAlgn="base"/>
            <a:r>
              <a:rPr lang="en-US" sz="2800" dirty="0">
                <a:latin typeface="Times New Roman" pitchFamily="18" charset="0"/>
                <a:cs typeface="Times New Roman" pitchFamily="18" charset="0"/>
              </a:rPr>
              <a:t>It acts as an information transformer because it produces, manages, acquires, modifies, displays, or transmits information.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lgn="just" fontAlgn="base">
              <a:buNone/>
            </a:pPr>
            <a:r>
              <a:rPr lang="en-US" sz="2800" b="1" dirty="0">
                <a:latin typeface="Times New Roman" pitchFamily="18" charset="0"/>
                <a:cs typeface="Times New Roman" pitchFamily="18" charset="0"/>
              </a:rPr>
              <a:t>2. As a Vehicle for Delivering a </a:t>
            </a:r>
            <a:r>
              <a:rPr lang="en-US" sz="2800" b="1" dirty="0" smtClean="0">
                <a:latin typeface="Times New Roman" pitchFamily="18" charset="0"/>
                <a:cs typeface="Times New Roman" pitchFamily="18" charset="0"/>
              </a:rPr>
              <a:t>Product</a:t>
            </a:r>
          </a:p>
          <a:p>
            <a:pPr algn="just" fontAlgn="base">
              <a:buNone/>
            </a:pPr>
            <a:endParaRPr lang="en-US" sz="2800" b="1" dirty="0">
              <a:latin typeface="Times New Roman" pitchFamily="18" charset="0"/>
              <a:cs typeface="Times New Roman" pitchFamily="18" charset="0"/>
            </a:endParaRPr>
          </a:p>
          <a:p>
            <a:pPr algn="just" fontAlgn="base"/>
            <a:r>
              <a:rPr lang="en-US" sz="2800" dirty="0">
                <a:latin typeface="Times New Roman" pitchFamily="18" charset="0"/>
                <a:cs typeface="Times New Roman" pitchFamily="18" charset="0"/>
              </a:rPr>
              <a:t>It provides system functionality (e.g., payroll system</a:t>
            </a:r>
            <a:r>
              <a:rPr lang="en-US" sz="2800" dirty="0" smtClean="0">
                <a:latin typeface="Times New Roman" pitchFamily="18" charset="0"/>
                <a:cs typeface="Times New Roman" pitchFamily="18" charset="0"/>
              </a:rPr>
              <a:t>).</a:t>
            </a:r>
          </a:p>
          <a:p>
            <a:pPr algn="just" fontAlgn="base"/>
            <a:endParaRPr lang="en-US" sz="2800" dirty="0">
              <a:latin typeface="Times New Roman" pitchFamily="18" charset="0"/>
              <a:cs typeface="Times New Roman" pitchFamily="18" charset="0"/>
            </a:endParaRPr>
          </a:p>
          <a:p>
            <a:pPr algn="just" fontAlgn="base"/>
            <a:r>
              <a:rPr lang="en-US" sz="2800" dirty="0">
                <a:latin typeface="Times New Roman" pitchFamily="18" charset="0"/>
                <a:cs typeface="Times New Roman" pitchFamily="18" charset="0"/>
              </a:rPr>
              <a:t>It controls other software (e.g., an operating system</a:t>
            </a:r>
            <a:r>
              <a:rPr lang="en-US" sz="2800" dirty="0" smtClean="0">
                <a:latin typeface="Times New Roman" pitchFamily="18" charset="0"/>
                <a:cs typeface="Times New Roman" pitchFamily="18" charset="0"/>
              </a:rPr>
              <a:t>).</a:t>
            </a:r>
          </a:p>
          <a:p>
            <a:pPr algn="just" fontAlgn="base"/>
            <a:endParaRPr lang="en-US" sz="2800" dirty="0">
              <a:latin typeface="Times New Roman" pitchFamily="18" charset="0"/>
              <a:cs typeface="Times New Roman" pitchFamily="18" charset="0"/>
            </a:endParaRPr>
          </a:p>
          <a:p>
            <a:pPr algn="just" fontAlgn="base"/>
            <a:r>
              <a:rPr lang="en-US" sz="2800" dirty="0">
                <a:latin typeface="Times New Roman" pitchFamily="18" charset="0"/>
                <a:cs typeface="Times New Roman" pitchFamily="18" charset="0"/>
              </a:rPr>
              <a:t>It helps build other software (e.g., software tools).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latin typeface="Times New Roman" pitchFamily="18" charset="0"/>
                <a:cs typeface="Times New Roman" pitchFamily="18" charset="0"/>
              </a:rPr>
              <a:t>Objectives of Software Engineering</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10200"/>
          </a:xfrm>
        </p:spPr>
        <p:txBody>
          <a:bodyPr>
            <a:normAutofit fontScale="85000" lnSpcReduction="20000"/>
          </a:bodyPr>
          <a:lstStyle/>
          <a:p>
            <a:pPr algn="just" fontAlgn="base"/>
            <a:r>
              <a:rPr lang="en-US" sz="2600" b="1" dirty="0">
                <a:latin typeface="Times New Roman" pitchFamily="18" charset="0"/>
                <a:cs typeface="Times New Roman" pitchFamily="18" charset="0"/>
              </a:rPr>
              <a:t>Maintainability: </a:t>
            </a:r>
            <a:r>
              <a:rPr lang="en-US" sz="2600" dirty="0">
                <a:latin typeface="Times New Roman" pitchFamily="18" charset="0"/>
                <a:cs typeface="Times New Roman" pitchFamily="18" charset="0"/>
              </a:rPr>
              <a:t>It should be feasible for the software to evolve to meet changing requirements</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dirty="0">
                <a:latin typeface="Times New Roman" pitchFamily="18" charset="0"/>
                <a:cs typeface="Times New Roman" pitchFamily="18" charset="0"/>
              </a:rPr>
              <a:t>Efficiency: </a:t>
            </a:r>
            <a:r>
              <a:rPr lang="en-US" sz="2600" dirty="0">
                <a:latin typeface="Times New Roman" pitchFamily="18" charset="0"/>
                <a:cs typeface="Times New Roman" pitchFamily="18" charset="0"/>
              </a:rPr>
              <a:t>The software should not make wasteful use of computing devices such as memory, processor cycles, etc</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dirty="0">
                <a:latin typeface="Times New Roman" pitchFamily="18" charset="0"/>
                <a:cs typeface="Times New Roman" pitchFamily="18" charset="0"/>
              </a:rPr>
              <a:t>Correctness: </a:t>
            </a:r>
            <a:r>
              <a:rPr lang="en-US" sz="2600" dirty="0">
                <a:latin typeface="Times New Roman" pitchFamily="18" charset="0"/>
                <a:cs typeface="Times New Roman" pitchFamily="18" charset="0"/>
              </a:rPr>
              <a:t>A software product is correct if the different requirements specified in the </a:t>
            </a:r>
            <a:r>
              <a:rPr lang="en-US" sz="2600" u="sng" dirty="0">
                <a:latin typeface="Times New Roman" pitchFamily="18" charset="0"/>
                <a:cs typeface="Times New Roman" pitchFamily="18" charset="0"/>
                <a:hlinkClick r:id="rId2"/>
              </a:rPr>
              <a:t>SRS Document</a:t>
            </a:r>
            <a:r>
              <a:rPr lang="en-US" sz="2600" dirty="0">
                <a:latin typeface="Times New Roman" pitchFamily="18" charset="0"/>
                <a:cs typeface="Times New Roman" pitchFamily="18" charset="0"/>
              </a:rPr>
              <a:t> have been correctly implemented</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dirty="0">
                <a:latin typeface="Times New Roman" pitchFamily="18" charset="0"/>
                <a:cs typeface="Times New Roman" pitchFamily="18" charset="0"/>
              </a:rPr>
              <a:t>Reusability: </a:t>
            </a:r>
            <a:r>
              <a:rPr lang="en-US" sz="2600" dirty="0">
                <a:latin typeface="Times New Roman" pitchFamily="18" charset="0"/>
                <a:cs typeface="Times New Roman" pitchFamily="18" charset="0"/>
              </a:rPr>
              <a:t>A software product has good reusability if the different modules of the product can easily be reused to develop new products</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dirty="0">
                <a:latin typeface="Times New Roman" pitchFamily="18" charset="0"/>
                <a:cs typeface="Times New Roman" pitchFamily="18" charset="0"/>
              </a:rPr>
              <a:t>Testability: </a:t>
            </a:r>
            <a:r>
              <a:rPr lang="en-US" sz="2600" dirty="0">
                <a:latin typeface="Times New Roman" pitchFamily="18" charset="0"/>
                <a:cs typeface="Times New Roman" pitchFamily="18" charset="0"/>
              </a:rPr>
              <a:t>Here software facilitates both the establishment of test criteria and the evaluation of the software concerning those criteria.</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16563"/>
          </a:xfrm>
        </p:spPr>
        <p:txBody>
          <a:bodyPr>
            <a:normAutofit fontScale="92500" lnSpcReduction="10000"/>
          </a:bodyPr>
          <a:lstStyle/>
          <a:p>
            <a:pPr algn="just" fontAlgn="base"/>
            <a:r>
              <a:rPr lang="en-US" sz="2800" b="1" dirty="0">
                <a:latin typeface="Times New Roman" pitchFamily="18" charset="0"/>
                <a:cs typeface="Times New Roman" pitchFamily="18" charset="0"/>
              </a:rPr>
              <a:t>Reliability: </a:t>
            </a:r>
            <a:r>
              <a:rPr lang="en-US" sz="2800" dirty="0">
                <a:latin typeface="Times New Roman" pitchFamily="18" charset="0"/>
                <a:cs typeface="Times New Roman" pitchFamily="18" charset="0"/>
              </a:rPr>
              <a:t>It is an attribute of software quality. The extent to which a program can be expected to perform its desired function, over an arbitrary time period</a:t>
            </a:r>
            <a:r>
              <a:rPr lang="en-US" sz="2800" dirty="0" smtClean="0">
                <a:latin typeface="Times New Roman" pitchFamily="18" charset="0"/>
                <a:cs typeface="Times New Roman" pitchFamily="18" charset="0"/>
              </a:rPr>
              <a:t>.</a:t>
            </a:r>
          </a:p>
          <a:p>
            <a:pPr algn="just" fontAlgn="base"/>
            <a:endParaRPr lang="en-US" sz="2800" dirty="0">
              <a:latin typeface="Times New Roman" pitchFamily="18" charset="0"/>
              <a:cs typeface="Times New Roman" pitchFamily="18" charset="0"/>
            </a:endParaRPr>
          </a:p>
          <a:p>
            <a:pPr algn="just" fontAlgn="base"/>
            <a:r>
              <a:rPr lang="en-US" sz="2800" b="1" dirty="0">
                <a:latin typeface="Times New Roman" pitchFamily="18" charset="0"/>
                <a:cs typeface="Times New Roman" pitchFamily="18" charset="0"/>
              </a:rPr>
              <a:t>Portability: </a:t>
            </a:r>
            <a:r>
              <a:rPr lang="en-US" sz="2800" dirty="0">
                <a:latin typeface="Times New Roman" pitchFamily="18" charset="0"/>
                <a:cs typeface="Times New Roman" pitchFamily="18" charset="0"/>
              </a:rPr>
              <a:t>In this case, the software can be transferred from one computer system or environment to another</a:t>
            </a:r>
            <a:r>
              <a:rPr lang="en-US" sz="2800" dirty="0" smtClean="0">
                <a:latin typeface="Times New Roman" pitchFamily="18" charset="0"/>
                <a:cs typeface="Times New Roman" pitchFamily="18" charset="0"/>
              </a:rPr>
              <a:t>.</a:t>
            </a:r>
          </a:p>
          <a:p>
            <a:pPr algn="just" fontAlgn="base"/>
            <a:endParaRPr lang="en-US" sz="2800" dirty="0">
              <a:latin typeface="Times New Roman" pitchFamily="18" charset="0"/>
              <a:cs typeface="Times New Roman" pitchFamily="18" charset="0"/>
            </a:endParaRPr>
          </a:p>
          <a:p>
            <a:pPr algn="just" fontAlgn="base"/>
            <a:r>
              <a:rPr lang="en-US" sz="2800" b="1" dirty="0">
                <a:latin typeface="Times New Roman" pitchFamily="18" charset="0"/>
                <a:cs typeface="Times New Roman" pitchFamily="18" charset="0"/>
              </a:rPr>
              <a:t>Adaptability: </a:t>
            </a:r>
            <a:r>
              <a:rPr lang="en-US" sz="2800" dirty="0">
                <a:latin typeface="Times New Roman" pitchFamily="18" charset="0"/>
                <a:cs typeface="Times New Roman" pitchFamily="18" charset="0"/>
              </a:rPr>
              <a:t>In this case, the software allows differing system constraints and the user needs to be satisfied by making changes to the software</a:t>
            </a:r>
            <a:r>
              <a:rPr lang="en-US" sz="2800" dirty="0" smtClean="0">
                <a:latin typeface="Times New Roman" pitchFamily="18" charset="0"/>
                <a:cs typeface="Times New Roman" pitchFamily="18" charset="0"/>
              </a:rPr>
              <a:t>.</a:t>
            </a:r>
          </a:p>
          <a:p>
            <a:pPr algn="just" fontAlgn="base"/>
            <a:endParaRPr lang="en-US" sz="2800" dirty="0">
              <a:latin typeface="Times New Roman" pitchFamily="18" charset="0"/>
              <a:cs typeface="Times New Roman" pitchFamily="18" charset="0"/>
            </a:endParaRPr>
          </a:p>
          <a:p>
            <a:pPr algn="just" fontAlgn="base"/>
            <a:r>
              <a:rPr lang="en-US" sz="2800" b="1" dirty="0">
                <a:latin typeface="Times New Roman" pitchFamily="18" charset="0"/>
                <a:cs typeface="Times New Roman" pitchFamily="18" charset="0"/>
              </a:rPr>
              <a:t>Interoperability:</a:t>
            </a:r>
            <a:r>
              <a:rPr lang="en-US" sz="2800" dirty="0">
                <a:latin typeface="Times New Roman" pitchFamily="18" charset="0"/>
                <a:cs typeface="Times New Roman" pitchFamily="18" charset="0"/>
              </a:rPr>
              <a:t> Capability of 2 or more functional units to process data cooperatively.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C00000"/>
                </a:solidFill>
                <a:latin typeface="Times New Roman" pitchFamily="18" charset="0"/>
                <a:cs typeface="Times New Roman" pitchFamily="18" charset="0"/>
              </a:rPr>
              <a:t>What Careers Are There in Software Engineering?</a:t>
            </a:r>
            <a:r>
              <a:rPr lang="en-US" b="1" dirty="0"/>
              <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sz="2800" dirty="0">
                <a:latin typeface="Times New Roman" pitchFamily="18" charset="0"/>
                <a:cs typeface="Times New Roman" pitchFamily="18" charset="0"/>
              </a:rPr>
              <a:t>SWE (Software Engineer)</a:t>
            </a:r>
          </a:p>
          <a:p>
            <a:pPr fontAlgn="base"/>
            <a:r>
              <a:rPr lang="en-US" sz="2800" dirty="0">
                <a:latin typeface="Times New Roman" pitchFamily="18" charset="0"/>
                <a:cs typeface="Times New Roman" pitchFamily="18" charset="0"/>
              </a:rPr>
              <a:t>SDE ( Software Development Engineer)</a:t>
            </a:r>
          </a:p>
          <a:p>
            <a:pPr fontAlgn="base"/>
            <a:r>
              <a:rPr lang="en-US" sz="2800" dirty="0">
                <a:latin typeface="Times New Roman" pitchFamily="18" charset="0"/>
                <a:cs typeface="Times New Roman" pitchFamily="18" charset="0"/>
              </a:rPr>
              <a:t>Web Developer</a:t>
            </a:r>
          </a:p>
          <a:p>
            <a:pPr fontAlgn="base"/>
            <a:r>
              <a:rPr lang="en-US" sz="2800" dirty="0">
                <a:latin typeface="Times New Roman" pitchFamily="18" charset="0"/>
                <a:cs typeface="Times New Roman" pitchFamily="18" charset="0"/>
              </a:rPr>
              <a:t>Quality Assurance Engineer</a:t>
            </a:r>
          </a:p>
          <a:p>
            <a:pPr fontAlgn="base"/>
            <a:r>
              <a:rPr lang="en-US" sz="2800" dirty="0">
                <a:latin typeface="Times New Roman" pitchFamily="18" charset="0"/>
                <a:cs typeface="Times New Roman" pitchFamily="18" charset="0"/>
              </a:rPr>
              <a:t>Web Designer</a:t>
            </a:r>
          </a:p>
          <a:p>
            <a:pPr fontAlgn="base"/>
            <a:r>
              <a:rPr lang="en-US" sz="2800" dirty="0">
                <a:latin typeface="Times New Roman" pitchFamily="18" charset="0"/>
                <a:cs typeface="Times New Roman" pitchFamily="18" charset="0"/>
              </a:rPr>
              <a:t>Software Test Engineer</a:t>
            </a:r>
          </a:p>
          <a:p>
            <a:pPr fontAlgn="base"/>
            <a:r>
              <a:rPr lang="en-US" sz="2800" dirty="0">
                <a:latin typeface="Times New Roman" pitchFamily="18" charset="0"/>
                <a:cs typeface="Times New Roman" pitchFamily="18" charset="0"/>
              </a:rPr>
              <a:t>Cloud Engineer ·</a:t>
            </a:r>
          </a:p>
          <a:p>
            <a:pPr fontAlgn="base"/>
            <a:r>
              <a:rPr lang="en-US" sz="2800" dirty="0">
                <a:latin typeface="Times New Roman" pitchFamily="18" charset="0"/>
                <a:cs typeface="Times New Roman" pitchFamily="18" charset="0"/>
              </a:rPr>
              <a:t>Front-End Developer</a:t>
            </a:r>
          </a:p>
          <a:p>
            <a:pPr fontAlgn="base"/>
            <a:r>
              <a:rPr lang="en-US" sz="2800" dirty="0">
                <a:latin typeface="Times New Roman" pitchFamily="18" charset="0"/>
                <a:cs typeface="Times New Roman" pitchFamily="18" charset="0"/>
              </a:rPr>
              <a:t>Back-End Developer </a:t>
            </a:r>
          </a:p>
          <a:p>
            <a:pPr fontAlgn="base"/>
            <a:r>
              <a:rPr lang="en-US" sz="2800" dirty="0" err="1">
                <a:latin typeface="Times New Roman" pitchFamily="18" charset="0"/>
                <a:cs typeface="Times New Roman" pitchFamily="18" charset="0"/>
              </a:rPr>
              <a:t>DevOps</a:t>
            </a:r>
            <a:r>
              <a:rPr lang="en-US" sz="2800" dirty="0">
                <a:latin typeface="Times New Roman" pitchFamily="18" charset="0"/>
                <a:cs typeface="Times New Roman" pitchFamily="18" charset="0"/>
              </a:rPr>
              <a:t> Engineer.</a:t>
            </a:r>
          </a:p>
          <a:p>
            <a:pPr fontAlgn="base"/>
            <a:r>
              <a:rPr lang="en-US" sz="2800" dirty="0">
                <a:latin typeface="Times New Roman" pitchFamily="18" charset="0"/>
                <a:cs typeface="Times New Roman" pitchFamily="18" charset="0"/>
              </a:rPr>
              <a:t>Security Engineer.</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solidFill>
                  <a:srgbClr val="C00000"/>
                </a:solidFill>
                <a:latin typeface="Times New Roman" pitchFamily="18" charset="0"/>
                <a:cs typeface="Times New Roman" pitchFamily="18" charset="0"/>
              </a:rPr>
              <a:t>What Tasks do Software Engineers do?</a:t>
            </a:r>
            <a:r>
              <a:rPr lang="en-US" b="1" dirty="0"/>
              <a:t/>
            </a:r>
            <a:br>
              <a:rPr lang="en-US" b="1" dirty="0"/>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pPr algn="just" fontAlgn="base"/>
            <a:r>
              <a:rPr lang="en-US" sz="2600" b="1" u="sng" dirty="0">
                <a:latin typeface="Times New Roman" pitchFamily="18" charset="0"/>
                <a:cs typeface="Times New Roman" pitchFamily="18" charset="0"/>
                <a:hlinkClick r:id="rId2"/>
              </a:rPr>
              <a:t>Requirement Analysis</a:t>
            </a:r>
            <a:r>
              <a:rPr lang="en-US" sz="2600" dirty="0">
                <a:latin typeface="Times New Roman" pitchFamily="18" charset="0"/>
                <a:cs typeface="Times New Roman" pitchFamily="18" charset="0"/>
              </a:rPr>
              <a:t>: Collaborating with stakeholders to understand and gather the requirements to design and develop software solutions</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dirty="0">
                <a:latin typeface="Times New Roman" pitchFamily="18" charset="0"/>
                <a:cs typeface="Times New Roman" pitchFamily="18" charset="0"/>
              </a:rPr>
              <a:t>Design and Development</a:t>
            </a:r>
            <a:r>
              <a:rPr lang="en-US" sz="2600" dirty="0">
                <a:latin typeface="Times New Roman" pitchFamily="18" charset="0"/>
                <a:cs typeface="Times New Roman" pitchFamily="18" charset="0"/>
              </a:rPr>
              <a:t>: Creating well-structured, maintainable code that meets the functional requirements and adheres to software design principles</a:t>
            </a:r>
            <a:r>
              <a:rPr lang="en-US" sz="2600" dirty="0" smtClean="0">
                <a:latin typeface="Times New Roman" pitchFamily="18" charset="0"/>
                <a:cs typeface="Times New Roman" pitchFamily="18" charset="0"/>
              </a:rPr>
              <a:t>.</a:t>
            </a:r>
          </a:p>
          <a:p>
            <a:pPr algn="just" fontAlgn="base"/>
            <a:endParaRPr lang="en-US" sz="2600" dirty="0">
              <a:latin typeface="Times New Roman" pitchFamily="18" charset="0"/>
              <a:cs typeface="Times New Roman" pitchFamily="18" charset="0"/>
            </a:endParaRPr>
          </a:p>
          <a:p>
            <a:pPr algn="just" fontAlgn="base"/>
            <a:r>
              <a:rPr lang="en-US" sz="2600" b="1" u="sng" dirty="0">
                <a:latin typeface="Times New Roman" pitchFamily="18" charset="0"/>
                <a:cs typeface="Times New Roman" pitchFamily="18" charset="0"/>
                <a:hlinkClick r:id="rId3"/>
              </a:rPr>
              <a:t>Testing</a:t>
            </a:r>
            <a:r>
              <a:rPr lang="en-US" sz="2600" b="1" dirty="0">
                <a:latin typeface="Times New Roman" pitchFamily="18" charset="0"/>
                <a:cs typeface="Times New Roman" pitchFamily="18" charset="0"/>
              </a:rPr>
              <a:t> and </a:t>
            </a:r>
            <a:r>
              <a:rPr lang="en-US" sz="2600" b="1" u="sng" dirty="0">
                <a:latin typeface="Times New Roman" pitchFamily="18" charset="0"/>
                <a:cs typeface="Times New Roman" pitchFamily="18" charset="0"/>
                <a:hlinkClick r:id="rId4"/>
              </a:rPr>
              <a:t>Debugging</a:t>
            </a:r>
            <a:r>
              <a:rPr lang="en-US" sz="2600" dirty="0">
                <a:latin typeface="Times New Roman" pitchFamily="18" charset="0"/>
                <a:cs typeface="Times New Roman" pitchFamily="18" charset="0"/>
              </a:rPr>
              <a:t>: Writing and conducting unit tests, integration tests, and debugging code to ensure software is reliable and bug-free.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lgn="just" fontAlgn="base"/>
            <a:r>
              <a:rPr lang="en-US" sz="2400" b="1" u="sng" dirty="0" smtClean="0">
                <a:latin typeface="Times New Roman" pitchFamily="18" charset="0"/>
                <a:cs typeface="Times New Roman" pitchFamily="18" charset="0"/>
                <a:hlinkClick r:id="rId2"/>
              </a:rPr>
              <a:t>Code Review</a:t>
            </a:r>
            <a:r>
              <a:rPr lang="en-US" sz="2400" dirty="0" smtClean="0">
                <a:latin typeface="Times New Roman" pitchFamily="18" charset="0"/>
                <a:cs typeface="Times New Roman" pitchFamily="18" charset="0"/>
              </a:rPr>
              <a:t>: Participating in code reviews to improve code quality, ensure adherence to standards, and facilitate knowledge sharing among team members.</a:t>
            </a:r>
          </a:p>
          <a:p>
            <a:pPr algn="just" fontAlgn="base"/>
            <a:endParaRPr lang="en-US" sz="2400" dirty="0" smtClean="0">
              <a:latin typeface="Times New Roman" pitchFamily="18" charset="0"/>
              <a:cs typeface="Times New Roman" pitchFamily="18" charset="0"/>
            </a:endParaRPr>
          </a:p>
          <a:p>
            <a:pPr algn="just" fontAlgn="base"/>
            <a:r>
              <a:rPr lang="en-US" sz="2400" b="1" u="sng" dirty="0" smtClean="0">
                <a:latin typeface="Times New Roman" pitchFamily="18" charset="0"/>
                <a:cs typeface="Times New Roman" pitchFamily="18" charset="0"/>
                <a:hlinkClick r:id="rId3"/>
              </a:rPr>
              <a:t>Maintenance</a:t>
            </a:r>
            <a:r>
              <a:rPr lang="en-US" sz="2400" dirty="0" smtClean="0">
                <a:latin typeface="Times New Roman" pitchFamily="18" charset="0"/>
                <a:cs typeface="Times New Roman" pitchFamily="18" charset="0"/>
              </a:rPr>
              <a:t>: Updating and maintaining existing software systems, fixing bugs, and improving performance or adding new features.</a:t>
            </a:r>
          </a:p>
          <a:p>
            <a:pPr algn="just" fontAlgn="base"/>
            <a:endParaRPr lang="en-US" sz="2400" dirty="0" smtClean="0">
              <a:latin typeface="Times New Roman" pitchFamily="18" charset="0"/>
              <a:cs typeface="Times New Roman" pitchFamily="18" charset="0"/>
            </a:endParaRPr>
          </a:p>
          <a:p>
            <a:pPr algn="just" fontAlgn="base"/>
            <a:r>
              <a:rPr lang="en-US" sz="2400" b="1" u="sng" dirty="0" smtClean="0">
                <a:latin typeface="Times New Roman" pitchFamily="18" charset="0"/>
                <a:cs typeface="Times New Roman" pitchFamily="18" charset="0"/>
                <a:hlinkClick r:id="rId4"/>
              </a:rPr>
              <a:t>Documentation</a:t>
            </a:r>
            <a:r>
              <a:rPr lang="en-US" sz="2400" dirty="0" smtClean="0">
                <a:latin typeface="Times New Roman" pitchFamily="18" charset="0"/>
                <a:cs typeface="Times New Roman" pitchFamily="18" charset="0"/>
              </a:rPr>
              <a:t>: Writing clear documentation, including code comments, API documentation, and design documents to help other engineers and future developers understand the system.</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solidFill>
                  <a:srgbClr val="C00000"/>
                </a:solidFill>
              </a:rPr>
              <a:t>What Skills do Software Engineers Need?</a:t>
            </a:r>
            <a:r>
              <a:rPr lang="en-US" b="1" dirty="0"/>
              <a:t/>
            </a:r>
            <a:br>
              <a:rPr lang="en-US" b="1" dirty="0"/>
            </a:br>
            <a:endParaRPr lang="en-US" dirty="0"/>
          </a:p>
        </p:txBody>
      </p:sp>
      <p:sp>
        <p:nvSpPr>
          <p:cNvPr id="3" name="Content Placeholder 2"/>
          <p:cNvSpPr>
            <a:spLocks noGrp="1"/>
          </p:cNvSpPr>
          <p:nvPr>
            <p:ph idx="1"/>
          </p:nvPr>
        </p:nvSpPr>
        <p:spPr/>
        <p:txBody>
          <a:bodyPr/>
          <a:lstStyle/>
          <a:p>
            <a:pPr fontAlgn="base"/>
            <a:r>
              <a:rPr lang="en-US" dirty="0"/>
              <a:t>Following are some must have technical skills to become Software Engineers:</a:t>
            </a:r>
          </a:p>
          <a:p>
            <a:pPr fontAlgn="base"/>
            <a:r>
              <a:rPr lang="en-US" u="sng" dirty="0">
                <a:hlinkClick r:id="rId2"/>
              </a:rPr>
              <a:t>Coding</a:t>
            </a:r>
            <a:r>
              <a:rPr lang="en-US" dirty="0"/>
              <a:t> and computer programming</a:t>
            </a:r>
          </a:p>
          <a:p>
            <a:pPr fontAlgn="base"/>
            <a:r>
              <a:rPr lang="en-US" u="sng" dirty="0">
                <a:hlinkClick r:id="rId3"/>
              </a:rPr>
              <a:t>Software testing</a:t>
            </a:r>
            <a:endParaRPr lang="en-US" dirty="0"/>
          </a:p>
          <a:p>
            <a:pPr fontAlgn="base"/>
            <a:r>
              <a:rPr lang="en-US" u="sng" dirty="0">
                <a:hlinkClick r:id="rId4"/>
              </a:rPr>
              <a:t>Object-oriented design (OOD)</a:t>
            </a:r>
            <a:endParaRPr lang="en-US" dirty="0"/>
          </a:p>
          <a:p>
            <a:pPr fontAlgn="base"/>
            <a:r>
              <a:rPr lang="en-US" u="sng" dirty="0">
                <a:hlinkClick r:id="rId5"/>
              </a:rPr>
              <a:t>Software development</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fontAlgn="base"/>
            <a:r>
              <a:rPr lang="en-US" dirty="0">
                <a:latin typeface="Times New Roman" pitchFamily="18" charset="0"/>
                <a:cs typeface="Times New Roman" pitchFamily="18" charset="0"/>
              </a:rPr>
              <a:t>Following are some must have soft skills to become Software Engineers</a:t>
            </a:r>
            <a:r>
              <a:rPr lang="en-US" dirty="0" smtClean="0">
                <a:latin typeface="Times New Roman" pitchFamily="18" charset="0"/>
                <a:cs typeface="Times New Roman" pitchFamily="18" charset="0"/>
              </a:rPr>
              <a:t>:</a:t>
            </a:r>
          </a:p>
          <a:p>
            <a:pPr algn="just" fontAlgn="base"/>
            <a:endParaRPr lang="en-US"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Communication skills</a:t>
            </a:r>
          </a:p>
          <a:p>
            <a:pPr algn="just" fontAlgn="base"/>
            <a:r>
              <a:rPr lang="en-US" dirty="0">
                <a:latin typeface="Times New Roman" pitchFamily="18" charset="0"/>
                <a:cs typeface="Times New Roman" pitchFamily="18" charset="0"/>
              </a:rPr>
              <a:t>Team player</a:t>
            </a:r>
          </a:p>
          <a:p>
            <a:pPr algn="just" fontAlgn="base"/>
            <a:r>
              <a:rPr lang="en-US" dirty="0">
                <a:latin typeface="Times New Roman" pitchFamily="18" charset="0"/>
                <a:cs typeface="Times New Roman" pitchFamily="18" charset="0"/>
              </a:rPr>
              <a:t>Problem solving</a:t>
            </a:r>
          </a:p>
          <a:p>
            <a:pPr algn="just" fontAlgn="base"/>
            <a:r>
              <a:rPr lang="en-US" dirty="0">
                <a:latin typeface="Times New Roman" pitchFamily="18" charset="0"/>
                <a:cs typeface="Times New Roman" pitchFamily="18" charset="0"/>
              </a:rPr>
              <a:t>Attention to detail</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latin typeface="Times New Roman" pitchFamily="18" charset="0"/>
                <a:cs typeface="Times New Roman" pitchFamily="18" charset="0"/>
              </a:rPr>
              <a:t>Program </a:t>
            </a:r>
            <a:r>
              <a:rPr lang="en-US" sz="2800" b="1" dirty="0" err="1">
                <a:solidFill>
                  <a:srgbClr val="C00000"/>
                </a:solidFill>
                <a:latin typeface="Times New Roman" pitchFamily="18" charset="0"/>
                <a:cs typeface="Times New Roman" pitchFamily="18" charset="0"/>
              </a:rPr>
              <a:t>vs</a:t>
            </a:r>
            <a:r>
              <a:rPr lang="en-US" sz="2800" b="1" dirty="0">
                <a:solidFill>
                  <a:srgbClr val="C00000"/>
                </a:solidFill>
                <a:latin typeface="Times New Roman" pitchFamily="18" charset="0"/>
                <a:cs typeface="Times New Roman" pitchFamily="18" charset="0"/>
              </a:rPr>
              <a:t> Software Product</a:t>
            </a:r>
            <a:br>
              <a:rPr lang="en-US" sz="2800" b="1" dirty="0">
                <a:solidFill>
                  <a:srgbClr val="C00000"/>
                </a:solidFill>
                <a:latin typeface="Times New Roman" pitchFamily="18" charset="0"/>
                <a:cs typeface="Times New Roman" pitchFamily="18" charset="0"/>
              </a:rPr>
            </a:br>
            <a:endParaRPr lang="en-US" sz="2800" dirty="0">
              <a:solidFill>
                <a:srgbClr val="C00000"/>
              </a:solidFill>
              <a:latin typeface="Times New Roman" pitchFamily="18" charset="0"/>
              <a:cs typeface="Times New Roman" pitchFamily="18" charset="0"/>
            </a:endParaRPr>
          </a:p>
        </p:txBody>
      </p:sp>
      <p:graphicFrame>
        <p:nvGraphicFramePr>
          <p:cNvPr id="6" name="Table 5"/>
          <p:cNvGraphicFramePr>
            <a:graphicFrameLocks noGrp="1"/>
          </p:cNvGraphicFramePr>
          <p:nvPr/>
        </p:nvGraphicFramePr>
        <p:xfrm>
          <a:off x="304800" y="1066800"/>
          <a:ext cx="8229601" cy="5410200"/>
        </p:xfrm>
        <a:graphic>
          <a:graphicData uri="http://schemas.openxmlformats.org/drawingml/2006/table">
            <a:tbl>
              <a:tblPr firstRow="1" bandRow="1">
                <a:tableStyleId>{5C22544A-7EE6-4342-B048-85BDC9FD1C3A}</a:tableStyleId>
              </a:tblPr>
              <a:tblGrid>
                <a:gridCol w="1371600"/>
                <a:gridCol w="2362200"/>
                <a:gridCol w="4495801"/>
              </a:tblGrid>
              <a:tr h="563768">
                <a:tc>
                  <a:txBody>
                    <a:bodyPr/>
                    <a:lstStyle/>
                    <a:p>
                      <a:pPr algn="ctr" rtl="0" fontAlgn="base"/>
                      <a:r>
                        <a:rPr lang="en-US" sz="2000" b="1" dirty="0">
                          <a:latin typeface="Times New Roman" pitchFamily="18" charset="0"/>
                          <a:cs typeface="Times New Roman" pitchFamily="18" charset="0"/>
                        </a:rPr>
                        <a:t>Parameters</a:t>
                      </a:r>
                    </a:p>
                  </a:txBody>
                  <a:tcPr marL="38100" marR="38100" marT="95250" marB="95250" anchor="ctr"/>
                </a:tc>
                <a:tc>
                  <a:txBody>
                    <a:bodyPr/>
                    <a:lstStyle/>
                    <a:p>
                      <a:pPr algn="ctr" rtl="0" fontAlgn="base"/>
                      <a:r>
                        <a:rPr lang="en-US" sz="2000" b="1" dirty="0">
                          <a:latin typeface="Times New Roman" pitchFamily="18" charset="0"/>
                          <a:cs typeface="Times New Roman" pitchFamily="18" charset="0"/>
                        </a:rPr>
                        <a:t>Program</a:t>
                      </a:r>
                    </a:p>
                  </a:txBody>
                  <a:tcPr marL="95250" marR="95250" marT="95250" marB="95250" anchor="ctr"/>
                </a:tc>
                <a:tc>
                  <a:txBody>
                    <a:bodyPr/>
                    <a:lstStyle/>
                    <a:p>
                      <a:pPr algn="ctr" rtl="0" fontAlgn="base"/>
                      <a:r>
                        <a:rPr lang="en-US" sz="2000" b="1" dirty="0">
                          <a:latin typeface="Times New Roman" pitchFamily="18" charset="0"/>
                          <a:cs typeface="Times New Roman" pitchFamily="18" charset="0"/>
                        </a:rPr>
                        <a:t>Software Product</a:t>
                      </a:r>
                    </a:p>
                  </a:txBody>
                  <a:tcPr marL="95250" marR="95250" marT="95250" marB="95250" anchor="ctr"/>
                </a:tc>
              </a:tr>
              <a:tr h="2284747">
                <a:tc>
                  <a:txBody>
                    <a:bodyPr/>
                    <a:lstStyle/>
                    <a:p>
                      <a:pPr algn="ctr" rtl="0" fontAlgn="base"/>
                      <a:r>
                        <a:rPr lang="en-US" sz="2000" b="0" dirty="0">
                          <a:latin typeface="Times New Roman" pitchFamily="18" charset="0"/>
                          <a:cs typeface="Times New Roman" pitchFamily="18" charset="0"/>
                        </a:rPr>
                        <a:t>Definition</a:t>
                      </a:r>
                    </a:p>
                  </a:txBody>
                  <a:tcPr marL="95250" marR="95250" marT="133350" marB="133350" anchor="ctr"/>
                </a:tc>
                <a:tc>
                  <a:txBody>
                    <a:bodyPr/>
                    <a:lstStyle/>
                    <a:p>
                      <a:pPr algn="just" rtl="0" fontAlgn="base"/>
                      <a:r>
                        <a:rPr lang="en-US" sz="2000" b="0" dirty="0">
                          <a:latin typeface="Times New Roman" pitchFamily="18" charset="0"/>
                          <a:cs typeface="Times New Roman" pitchFamily="18" charset="0"/>
                        </a:rPr>
                        <a:t>A program is a set of instructions that are given to a computer in order to achieve a specific task.</a:t>
                      </a:r>
                    </a:p>
                  </a:txBody>
                  <a:tcPr marL="95250" marR="95250" marT="133350" marB="133350" anchor="ctr"/>
                </a:tc>
                <a:tc>
                  <a:txBody>
                    <a:bodyPr/>
                    <a:lstStyle/>
                    <a:p>
                      <a:pPr algn="just" rtl="0" fontAlgn="base"/>
                      <a:r>
                        <a:rPr lang="en-US" sz="2000" b="0" dirty="0">
                          <a:latin typeface="Times New Roman" pitchFamily="18" charset="0"/>
                          <a:cs typeface="Times New Roman" pitchFamily="18" charset="0"/>
                        </a:rPr>
                        <a:t>Software is when a program is made available for commercial business and is properly documented along with its licensing.</a:t>
                      </a:r>
                    </a:p>
                    <a:p>
                      <a:pPr algn="ctr" rtl="0" fontAlgn="base"/>
                      <a:r>
                        <a:rPr lang="en-US" sz="2000" b="0" dirty="0">
                          <a:latin typeface="Times New Roman" pitchFamily="18" charset="0"/>
                          <a:cs typeface="Times New Roman" pitchFamily="18" charset="0"/>
                        </a:rPr>
                        <a:t>Software Product = Program + Documentation + Licensing.</a:t>
                      </a:r>
                    </a:p>
                  </a:txBody>
                  <a:tcPr marL="95250" marR="95250" marT="133350" marB="133350" anchor="ctr"/>
                </a:tc>
              </a:tr>
              <a:tr h="2561685">
                <a:tc>
                  <a:txBody>
                    <a:bodyPr/>
                    <a:lstStyle/>
                    <a:p>
                      <a:pPr algn="ctr" rtl="0" fontAlgn="base"/>
                      <a:r>
                        <a:rPr lang="en-US" sz="2000" b="0">
                          <a:latin typeface="Times New Roman" pitchFamily="18" charset="0"/>
                          <a:cs typeface="Times New Roman" pitchFamily="18" charset="0"/>
                        </a:rPr>
                        <a:t>Stages Involved</a:t>
                      </a:r>
                    </a:p>
                  </a:txBody>
                  <a:tcPr marL="95250" marR="95250" marT="133350" marB="133350" anchor="ctr"/>
                </a:tc>
                <a:tc>
                  <a:txBody>
                    <a:bodyPr/>
                    <a:lstStyle/>
                    <a:p>
                      <a:pPr algn="just" rtl="0" fontAlgn="base"/>
                      <a:r>
                        <a:rPr lang="en-US" sz="2000" b="0" dirty="0">
                          <a:latin typeface="Times New Roman" pitchFamily="18" charset="0"/>
                          <a:cs typeface="Times New Roman" pitchFamily="18" charset="0"/>
                        </a:rPr>
                        <a:t>Program is one of the stages involved in the development of the software.</a:t>
                      </a:r>
                    </a:p>
                  </a:txBody>
                  <a:tcPr marL="95250" marR="95250" marT="133350" marB="133350" anchor="ctr"/>
                </a:tc>
                <a:tc>
                  <a:txBody>
                    <a:bodyPr/>
                    <a:lstStyle/>
                    <a:p>
                      <a:pPr algn="just" rtl="0" fontAlgn="base"/>
                      <a:r>
                        <a:rPr lang="en-US" sz="2000" b="0" dirty="0">
                          <a:latin typeface="Times New Roman" pitchFamily="18" charset="0"/>
                          <a:cs typeface="Times New Roman" pitchFamily="18" charset="0"/>
                        </a:rPr>
                        <a:t>Software Development usually follows a life cycle, which involves the feasibility study of the project, requirement gathering, development of a prototype, system design, coding, and testing.</a:t>
                      </a:r>
                    </a:p>
                  </a:txBody>
                  <a:tcPr marL="95250" marR="95250" marT="133350" marB="1333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Software Development Life Cycle (SDLC)</a:t>
            </a:r>
            <a:r>
              <a:rPr lang="en-IN" b="1" dirty="0" smtClean="0"/>
              <a:t/>
            </a:r>
            <a:br>
              <a:rPr lang="en-IN" b="1" dirty="0" smtClean="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2"/>
                </a:solidFill>
                <a:latin typeface="Times New Roman" pitchFamily="18" charset="0"/>
                <a:cs typeface="Times New Roman" pitchFamily="18" charset="0"/>
              </a:rPr>
              <a:t>Introduction</a:t>
            </a:r>
            <a:endParaRPr lang="en-IN" b="1"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
            </a:pPr>
            <a:r>
              <a:rPr lang="en-IN" sz="2400" b="1" dirty="0" smtClean="0">
                <a:latin typeface="Times New Roman" pitchFamily="18" charset="0"/>
                <a:cs typeface="Times New Roman" pitchFamily="18" charset="0"/>
              </a:rPr>
              <a:t>Software Development Life Cycle (SDLC) </a:t>
            </a:r>
            <a:r>
              <a:rPr lang="en-IN" sz="2400" dirty="0" smtClean="0">
                <a:latin typeface="Times New Roman" pitchFamily="18" charset="0"/>
                <a:cs typeface="Times New Roman" pitchFamily="18" charset="0"/>
              </a:rPr>
              <a:t>is a </a:t>
            </a:r>
            <a:r>
              <a:rPr lang="en-IN" sz="2400" b="1" dirty="0" smtClean="0">
                <a:latin typeface="Times New Roman" pitchFamily="18" charset="0"/>
                <a:cs typeface="Times New Roman" pitchFamily="18" charset="0"/>
              </a:rPr>
              <a:t>structured process that is used to design, develop, and test high-quality software. </a:t>
            </a:r>
          </a:p>
          <a:p>
            <a:pPr algn="just">
              <a:buFont typeface="Wingdings" pitchFamily="2" charset="2"/>
              <a:buChar char="§"/>
            </a:pPr>
            <a:endParaRPr lang="en-IN" sz="2400" dirty="0" smtClean="0">
              <a:latin typeface="Times New Roman" pitchFamily="18" charset="0"/>
              <a:cs typeface="Times New Roman" pitchFamily="18" charset="0"/>
            </a:endParaRPr>
          </a:p>
          <a:p>
            <a:pPr algn="just">
              <a:buFont typeface="Wingdings" pitchFamily="2" charset="2"/>
              <a:buChar char="§"/>
            </a:pPr>
            <a:r>
              <a:rPr lang="en-IN" sz="2400" dirty="0" smtClean="0">
                <a:latin typeface="Times New Roman" pitchFamily="18" charset="0"/>
                <a:cs typeface="Times New Roman" pitchFamily="18" charset="0"/>
              </a:rPr>
              <a:t>SDLC, or software development life cycle, is a methodology that defines the entire procedure of software development step-by-step. </a:t>
            </a:r>
          </a:p>
          <a:p>
            <a:pPr algn="just">
              <a:buFont typeface="Wingdings" pitchFamily="2" charset="2"/>
              <a:buChar char="§"/>
            </a:pPr>
            <a:endParaRPr lang="en-IN" sz="2400" dirty="0" smtClean="0">
              <a:latin typeface="Times New Roman" pitchFamily="18" charset="0"/>
              <a:cs typeface="Times New Roman" pitchFamily="18" charset="0"/>
            </a:endParaRPr>
          </a:p>
          <a:p>
            <a:pPr algn="just">
              <a:buFont typeface="Wingdings" pitchFamily="2" charset="2"/>
              <a:buChar char="§"/>
            </a:pPr>
            <a:r>
              <a:rPr lang="en-IN" sz="2400" dirty="0" smtClean="0">
                <a:latin typeface="Times New Roman" pitchFamily="18" charset="0"/>
                <a:cs typeface="Times New Roman" pitchFamily="18" charset="0"/>
              </a:rPr>
              <a:t>The goal of the SDLC life cycle model is to deliver high-quality, maintainable software that meets the user's requirements.</a:t>
            </a:r>
            <a:endParaRPr lang="en-IN"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r>
              <a:rPr lang="en-IN" sz="3600" b="1" dirty="0" smtClean="0">
                <a:solidFill>
                  <a:schemeClr val="tx2"/>
                </a:solidFill>
                <a:latin typeface="Times New Roman" pitchFamily="18" charset="0"/>
                <a:cs typeface="Times New Roman" pitchFamily="18" charset="0"/>
              </a:rPr>
              <a:t>What is the Software Development Life Cycle (SDLC)?</a:t>
            </a:r>
            <a:r>
              <a:rPr lang="en-IN" b="1" dirty="0" smtClean="0"/>
              <a:t/>
            </a:r>
            <a:br>
              <a:rPr lang="en-IN" b="1" dirty="0" smtClean="0"/>
            </a:br>
            <a:endParaRPr lang="en-IN" dirty="0"/>
          </a:p>
        </p:txBody>
      </p:sp>
      <p:sp>
        <p:nvSpPr>
          <p:cNvPr id="3" name="Content Placeholder 2"/>
          <p:cNvSpPr>
            <a:spLocks noGrp="1"/>
          </p:cNvSpPr>
          <p:nvPr>
            <p:ph idx="1"/>
          </p:nvPr>
        </p:nvSpPr>
        <p:spPr>
          <a:xfrm>
            <a:off x="457200" y="1600200"/>
            <a:ext cx="8229600" cy="4800600"/>
          </a:xfrm>
        </p:spPr>
        <p:txBody>
          <a:bodyPr>
            <a:normAutofit/>
          </a:bodyPr>
          <a:lstStyle/>
          <a:p>
            <a:pPr algn="just" fontAlgn="base">
              <a:buFont typeface="Wingdings" pitchFamily="2" charset="2"/>
              <a:buChar char="q"/>
            </a:pPr>
            <a:r>
              <a:rPr lang="en-IN" sz="2400" dirty="0" smtClean="0">
                <a:latin typeface="Times New Roman" pitchFamily="18" charset="0"/>
                <a:cs typeface="Times New Roman" pitchFamily="18" charset="0"/>
              </a:rPr>
              <a:t>SDLC is a process followed for software building within a software organization. </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dirty="0" smtClean="0">
                <a:latin typeface="Times New Roman" pitchFamily="18" charset="0"/>
                <a:cs typeface="Times New Roman" pitchFamily="18" charset="0"/>
              </a:rPr>
              <a:t>SDLC consists of a precise plan that describes </a:t>
            </a:r>
            <a:r>
              <a:rPr lang="en-IN" sz="2400" b="1" dirty="0" smtClean="0">
                <a:latin typeface="Times New Roman" pitchFamily="18" charset="0"/>
                <a:cs typeface="Times New Roman" pitchFamily="18" charset="0"/>
              </a:rPr>
              <a:t>how to develop, maintain, replace, and enhance specific software. </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dirty="0" smtClean="0">
                <a:latin typeface="Times New Roman" pitchFamily="18" charset="0"/>
                <a:cs typeface="Times New Roman" pitchFamily="18" charset="0"/>
              </a:rPr>
              <a:t>The life cycle defines a method for improving the quality of software and the all-around development process.  </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DLC.jpg"/>
          <p:cNvPicPr>
            <a:picLocks noGrp="1" noChangeAspect="1"/>
          </p:cNvPicPr>
          <p:nvPr>
            <p:ph idx="1"/>
          </p:nvPr>
        </p:nvPicPr>
        <p:blipFill>
          <a:blip r:embed="rId2"/>
          <a:stretch>
            <a:fillRect/>
          </a:stretch>
        </p:blipFill>
        <p:spPr>
          <a:xfrm>
            <a:off x="152400" y="457200"/>
            <a:ext cx="8763000" cy="6019800"/>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763000" cy="1143000"/>
          </a:xfrm>
        </p:spPr>
        <p:txBody>
          <a:bodyPr>
            <a:noAutofit/>
          </a:bodyPr>
          <a:lstStyle/>
          <a:p>
            <a:r>
              <a:rPr lang="en-IN" sz="3200" b="1" dirty="0" smtClean="0">
                <a:solidFill>
                  <a:schemeClr val="tx2"/>
                </a:solidFill>
                <a:latin typeface="Times New Roman" pitchFamily="18" charset="0"/>
                <a:cs typeface="Times New Roman" pitchFamily="18" charset="0"/>
              </a:rPr>
              <a:t>Stages of the Software Development Life Cycle</a:t>
            </a:r>
            <a:r>
              <a:rPr lang="en-IN" sz="4000" b="1" dirty="0" smtClean="0"/>
              <a:t/>
            </a:r>
            <a:br>
              <a:rPr lang="en-IN" sz="4000" b="1" dirty="0" smtClean="0"/>
            </a:br>
            <a:endParaRPr lang="en-IN" sz="4000" dirty="0"/>
          </a:p>
        </p:txBody>
      </p:sp>
      <p:sp>
        <p:nvSpPr>
          <p:cNvPr id="3" name="Content Placeholder 2"/>
          <p:cNvSpPr>
            <a:spLocks noGrp="1"/>
          </p:cNvSpPr>
          <p:nvPr>
            <p:ph idx="1"/>
          </p:nvPr>
        </p:nvSpPr>
        <p:spPr>
          <a:xfrm>
            <a:off x="457200" y="1600200"/>
            <a:ext cx="8229600" cy="4800600"/>
          </a:xfrm>
        </p:spPr>
        <p:txBody>
          <a:bodyPr>
            <a:normAutofit/>
          </a:bodyPr>
          <a:lstStyle/>
          <a:p>
            <a:pPr algn="just" fontAlgn="base">
              <a:buFont typeface="Wingdings" pitchFamily="2" charset="2"/>
              <a:buChar char="§"/>
            </a:pPr>
            <a:r>
              <a:rPr lang="en-IN" sz="2400" b="1" dirty="0" smtClean="0">
                <a:latin typeface="Times New Roman" pitchFamily="18" charset="0"/>
                <a:cs typeface="Times New Roman" pitchFamily="18" charset="0"/>
              </a:rPr>
              <a:t>SDLC specifies the tasks to be performed at various stages by a software engineer or developer</a:t>
            </a:r>
            <a:r>
              <a:rPr lang="en-IN" sz="2400" dirty="0" smtClean="0">
                <a:latin typeface="Times New Roman" pitchFamily="18" charset="0"/>
                <a:cs typeface="Times New Roman" pitchFamily="18" charset="0"/>
              </a:rPr>
              <a:t>.</a:t>
            </a:r>
          </a:p>
          <a:p>
            <a:pPr algn="just" fontAlgn="base">
              <a:buFont typeface="Wingdings" pitchFamily="2" charset="2"/>
              <a:buChar char="§"/>
            </a:pPr>
            <a:endParaRPr lang="en-IN" sz="2400" dirty="0" smtClean="0">
              <a:latin typeface="Times New Roman" pitchFamily="18" charset="0"/>
              <a:cs typeface="Times New Roman" pitchFamily="18" charset="0"/>
            </a:endParaRPr>
          </a:p>
          <a:p>
            <a:pPr algn="just" fontAlgn="base">
              <a:buFont typeface="Wingdings" pitchFamily="2" charset="2"/>
              <a:buChar char="§"/>
            </a:pPr>
            <a:r>
              <a:rPr lang="en-IN" sz="2400" b="1" dirty="0" smtClean="0">
                <a:latin typeface="Times New Roman" pitchFamily="18" charset="0"/>
                <a:cs typeface="Times New Roman" pitchFamily="18" charset="0"/>
              </a:rPr>
              <a:t> It ensures that the end product is able to meet the customer's expectations and fits within the overall budget</a:t>
            </a:r>
            <a:r>
              <a:rPr lang="en-IN" sz="2400" dirty="0" smtClean="0">
                <a:latin typeface="Times New Roman" pitchFamily="18" charset="0"/>
                <a:cs typeface="Times New Roman" pitchFamily="18" charset="0"/>
              </a:rPr>
              <a:t>. </a:t>
            </a:r>
          </a:p>
          <a:p>
            <a:pPr algn="just" fontAlgn="base">
              <a:buFont typeface="Wingdings" pitchFamily="2" charset="2"/>
              <a:buChar char="§"/>
            </a:pPr>
            <a:endParaRPr lang="en-IN" sz="2400" dirty="0" smtClean="0">
              <a:latin typeface="Times New Roman" pitchFamily="18" charset="0"/>
              <a:cs typeface="Times New Roman" pitchFamily="18" charset="0"/>
            </a:endParaRPr>
          </a:p>
          <a:p>
            <a:pPr algn="just" fontAlgn="base">
              <a:buFont typeface="Wingdings" pitchFamily="2" charset="2"/>
              <a:buChar char="§"/>
            </a:pPr>
            <a:r>
              <a:rPr lang="en-IN" sz="2400" dirty="0" smtClean="0">
                <a:latin typeface="Times New Roman" pitchFamily="18" charset="0"/>
                <a:cs typeface="Times New Roman" pitchFamily="18" charset="0"/>
              </a:rPr>
              <a:t>Hence, it's vital for a software developer to have prior knowledge of this software development process.</a:t>
            </a:r>
          </a:p>
          <a:p>
            <a:pPr algn="just" fontAlgn="base">
              <a:buFont typeface="Wingdings" pitchFamily="2" charset="2"/>
              <a:buChar char="§"/>
            </a:pPr>
            <a:endParaRPr lang="en-IN" sz="2400" dirty="0" smtClean="0">
              <a:latin typeface="Times New Roman" pitchFamily="18" charset="0"/>
              <a:cs typeface="Times New Roman" pitchFamily="18" charset="0"/>
            </a:endParaRPr>
          </a:p>
          <a:p>
            <a:pPr algn="just" fontAlgn="base">
              <a:buFont typeface="Wingdings" pitchFamily="2" charset="2"/>
              <a:buChar char="§"/>
            </a:pPr>
            <a:r>
              <a:rPr lang="en-IN" sz="2400" dirty="0" smtClean="0">
                <a:latin typeface="Times New Roman" pitchFamily="18" charset="0"/>
                <a:cs typeface="Times New Roman" pitchFamily="18" charset="0"/>
              </a:rPr>
              <a:t> SDLC is a collection of these six stages, and the stages of SDLC are as follows:</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6-Stages-of-Software-Development-Life-Cycle.jpg"/>
          <p:cNvPicPr>
            <a:picLocks noChangeAspect="1"/>
          </p:cNvPicPr>
          <p:nvPr/>
        </p:nvPicPr>
        <p:blipFill>
          <a:blip r:embed="rId2"/>
          <a:stretch>
            <a:fillRect/>
          </a:stretch>
        </p:blipFill>
        <p:spPr>
          <a:xfrm>
            <a:off x="228600" y="228600"/>
            <a:ext cx="8915400" cy="6248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sz="3100" b="1" dirty="0" smtClean="0">
                <a:solidFill>
                  <a:schemeClr val="tx2"/>
                </a:solidFill>
                <a:latin typeface="Times New Roman" pitchFamily="18" charset="0"/>
                <a:cs typeface="Times New Roman" pitchFamily="18" charset="0"/>
              </a:rPr>
              <a:t>Stage 1: Planning and Requirement Analysis</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830763"/>
          </a:xfrm>
        </p:spPr>
        <p:txBody>
          <a:bodyPr>
            <a:normAutofit/>
          </a:bodyPr>
          <a:lstStyle/>
          <a:p>
            <a:pPr algn="just" fontAlgn="base"/>
            <a:r>
              <a:rPr lang="en-IN" sz="2000" dirty="0" smtClean="0">
                <a:latin typeface="Times New Roman" pitchFamily="18" charset="0"/>
                <a:cs typeface="Times New Roman" pitchFamily="18" charset="0"/>
              </a:rPr>
              <a:t>Planning is a crucial step in everything, just as in</a:t>
            </a:r>
            <a:r>
              <a:rPr lang="en-IN" sz="2000" u="sng" dirty="0" smtClean="0">
                <a:latin typeface="Times New Roman" pitchFamily="18" charset="0"/>
                <a:cs typeface="Times New Roman" pitchFamily="18" charset="0"/>
                <a:hlinkClick r:id="rId2"/>
              </a:rPr>
              <a:t> software development</a:t>
            </a:r>
            <a:r>
              <a:rPr lang="en-IN" sz="2000" dirty="0" smtClean="0">
                <a:latin typeface="Times New Roman" pitchFamily="18" charset="0"/>
                <a:cs typeface="Times New Roman" pitchFamily="18" charset="0"/>
              </a:rPr>
              <a:t>.</a:t>
            </a: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 In this same stage, </a:t>
            </a:r>
            <a:r>
              <a:rPr lang="en-IN" sz="2000" u="sng" dirty="0" smtClean="0">
                <a:latin typeface="Times New Roman" pitchFamily="18" charset="0"/>
                <a:cs typeface="Times New Roman" pitchFamily="18" charset="0"/>
                <a:hlinkClick r:id="rId3"/>
              </a:rPr>
              <a:t>requirement analysis </a:t>
            </a:r>
            <a:r>
              <a:rPr lang="en-IN" sz="2000" dirty="0" smtClean="0">
                <a:latin typeface="Times New Roman" pitchFamily="18" charset="0"/>
                <a:cs typeface="Times New Roman" pitchFamily="18" charset="0"/>
              </a:rPr>
              <a:t>is also performed by the developers of the organization. </a:t>
            </a:r>
          </a:p>
          <a:p>
            <a:pPr algn="just" fontAlgn="base"/>
            <a:endParaRPr lang="en-IN" sz="2000" dirty="0" smtClean="0">
              <a:latin typeface="Times New Roman" pitchFamily="18" charset="0"/>
              <a:cs typeface="Times New Roman" pitchFamily="18" charset="0"/>
            </a:endParaRPr>
          </a:p>
          <a:p>
            <a:pPr algn="just" fontAlgn="base"/>
            <a:r>
              <a:rPr lang="en-IN" sz="2000" b="1" dirty="0" smtClean="0">
                <a:latin typeface="Times New Roman" pitchFamily="18" charset="0"/>
                <a:cs typeface="Times New Roman" pitchFamily="18" charset="0"/>
              </a:rPr>
              <a:t>This is attained from customer inputs, and sales department/market surveys. </a:t>
            </a: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The information from this analysis </a:t>
            </a:r>
            <a:r>
              <a:rPr lang="en-IN" sz="2000" b="1" dirty="0" smtClean="0">
                <a:latin typeface="Times New Roman" pitchFamily="18" charset="0"/>
                <a:cs typeface="Times New Roman" pitchFamily="18" charset="0"/>
              </a:rPr>
              <a:t>forms the building blocks of a basic project</a:t>
            </a:r>
            <a:r>
              <a:rPr lang="en-IN" sz="2000" dirty="0" smtClean="0">
                <a:latin typeface="Times New Roman" pitchFamily="18" charset="0"/>
                <a:cs typeface="Times New Roman" pitchFamily="18" charset="0"/>
              </a:rPr>
              <a:t>. </a:t>
            </a: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The quality of the project is a result of planning. Thus, in this stage, the basic project is designed with all the available information.</a:t>
            </a:r>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jpg"/>
          <p:cNvPicPr>
            <a:picLocks noChangeAspect="1"/>
          </p:cNvPicPr>
          <p:nvPr/>
        </p:nvPicPr>
        <p:blipFill>
          <a:blip r:embed="rId2"/>
          <a:stretch>
            <a:fillRect/>
          </a:stretch>
        </p:blipFill>
        <p:spPr>
          <a:xfrm>
            <a:off x="381000" y="914400"/>
            <a:ext cx="8153400" cy="4572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143000"/>
          </a:xfrm>
        </p:spPr>
        <p:txBody>
          <a:bodyPr>
            <a:normAutofit fontScale="90000"/>
          </a:bodyPr>
          <a:lstStyle/>
          <a:p>
            <a:r>
              <a:rPr lang="en-IN" sz="3600" b="1" dirty="0" smtClean="0">
                <a:solidFill>
                  <a:schemeClr val="tx2"/>
                </a:solidFill>
                <a:latin typeface="Times New Roman" pitchFamily="18" charset="0"/>
                <a:cs typeface="Times New Roman" pitchFamily="18" charset="0"/>
              </a:rPr>
              <a:t>Stage 2: Defining Requirements</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830763"/>
          </a:xfrm>
        </p:spPr>
        <p:txBody>
          <a:bodyPr>
            <a:normAutofit/>
          </a:bodyPr>
          <a:lstStyle/>
          <a:p>
            <a:pPr algn="just" fontAlgn="base"/>
            <a:r>
              <a:rPr lang="en-IN" sz="2400" dirty="0" smtClean="0">
                <a:latin typeface="Times New Roman" pitchFamily="18" charset="0"/>
                <a:cs typeface="Times New Roman" pitchFamily="18" charset="0"/>
              </a:rPr>
              <a:t>In this stage, all the requirements for the target software are specified.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These requirements get approval from customers, market analysts, and stakeholders. </a:t>
            </a:r>
            <a:br>
              <a:rPr lang="en-IN" sz="2400" dirty="0" smtClean="0">
                <a:latin typeface="Times New Roman" pitchFamily="18" charset="0"/>
                <a:cs typeface="Times New Roman" pitchFamily="18" charset="0"/>
              </a:rPr>
            </a:br>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This is fulfilled by utilizing SRS (Software Requirement Specification).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This is a sort of document that specifies all those things that need to be defined and created during the entire project cycle.</a:t>
            </a: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jpg"/>
          <p:cNvPicPr>
            <a:picLocks noGrp="1" noChangeAspect="1"/>
          </p:cNvPicPr>
          <p:nvPr>
            <p:ph idx="1"/>
          </p:nvPr>
        </p:nvPicPr>
        <p:blipFill>
          <a:blip r:embed="rId2"/>
          <a:stretch>
            <a:fillRect/>
          </a:stretch>
        </p:blipFill>
        <p:spPr>
          <a:xfrm>
            <a:off x="457200" y="609600"/>
            <a:ext cx="8229600" cy="5562600"/>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Stage 3: Designing Architecture</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fontAlgn="base"/>
            <a:r>
              <a:rPr lang="en-IN" sz="2400" u="sng" dirty="0" smtClean="0">
                <a:latin typeface="Times New Roman" pitchFamily="18" charset="0"/>
                <a:cs typeface="Times New Roman" pitchFamily="18" charset="0"/>
                <a:hlinkClick r:id="rId2"/>
              </a:rPr>
              <a:t>SRS</a:t>
            </a:r>
            <a:r>
              <a:rPr lang="en-IN" sz="2400" dirty="0" smtClean="0">
                <a:latin typeface="Times New Roman" pitchFamily="18" charset="0"/>
                <a:cs typeface="Times New Roman" pitchFamily="18" charset="0"/>
              </a:rPr>
              <a:t> is a reference for software designers to come up with the best architecture for the software.</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Hence, with the requirements defined in SRS, multiple designs for the product architecture are present in the Design Document Specification (DDS).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This DDS is assessed by market analysts and stakeholders. After evaluating all the possible factors, the most practical and logical design is chosen for development.</a:t>
            </a:r>
          </a:p>
          <a:p>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3.jpg"/>
          <p:cNvPicPr>
            <a:picLocks noChangeAspect="1"/>
          </p:cNvPicPr>
          <p:nvPr/>
        </p:nvPicPr>
        <p:blipFill>
          <a:blip r:embed="rId2"/>
          <a:stretch>
            <a:fillRect/>
          </a:stretch>
        </p:blipFill>
        <p:spPr>
          <a:xfrm>
            <a:off x="457200" y="685800"/>
            <a:ext cx="8458200" cy="5105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000" b="1" dirty="0" smtClean="0">
                <a:solidFill>
                  <a:schemeClr val="tx2"/>
                </a:solidFill>
                <a:latin typeface="Times New Roman" pitchFamily="18" charset="0"/>
                <a:cs typeface="Times New Roman" pitchFamily="18" charset="0"/>
              </a:rPr>
              <a:t>Stage 4: Developing Product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fontAlgn="base"/>
            <a:r>
              <a:rPr lang="en-IN" sz="2400" dirty="0" smtClean="0">
                <a:latin typeface="Times New Roman" pitchFamily="18" charset="0"/>
                <a:cs typeface="Times New Roman" pitchFamily="18" charset="0"/>
              </a:rPr>
              <a:t>At this stage, the fundamental development of the product starts.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For this, developers use a specific programming code as per the design in the DDS. Hence, it is important for the coders to follow the protocols set by the association.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Conventional programming tools like compilers, interpreters, debuggers, etc. are also put into use at this stage. Some popular languages like C/C++, Python, Java, etc. are put into use as per the software regulations.</a:t>
            </a:r>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4.jpg"/>
          <p:cNvPicPr>
            <a:picLocks noGrp="1" noChangeAspect="1"/>
          </p:cNvPicPr>
          <p:nvPr>
            <p:ph idx="1"/>
          </p:nvPr>
        </p:nvPicPr>
        <p:blipFill>
          <a:blip r:embed="rId2"/>
          <a:stretch>
            <a:fillRect/>
          </a:stretch>
        </p:blipFill>
        <p:spPr>
          <a:xfrm>
            <a:off x="457200" y="914400"/>
            <a:ext cx="8229600" cy="5006181"/>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sz="4000" b="1" dirty="0" smtClean="0">
                <a:solidFill>
                  <a:schemeClr val="tx2"/>
                </a:solidFill>
                <a:latin typeface="Times New Roman" pitchFamily="18" charset="0"/>
                <a:cs typeface="Times New Roman" pitchFamily="18" charset="0"/>
              </a:rPr>
              <a:t>Stage 5: Product Testing and Integration</a:t>
            </a:r>
            <a:r>
              <a:rPr lang="en-IN" b="1" dirty="0" smtClean="0"/>
              <a:t/>
            </a:r>
            <a:br>
              <a:rPr lang="en-IN" b="1" dirty="0" smtClean="0"/>
            </a:br>
            <a:endParaRPr lang="en-IN" dirty="0"/>
          </a:p>
        </p:txBody>
      </p:sp>
      <p:sp>
        <p:nvSpPr>
          <p:cNvPr id="3" name="Content Placeholder 2"/>
          <p:cNvSpPr>
            <a:spLocks noGrp="1"/>
          </p:cNvSpPr>
          <p:nvPr>
            <p:ph idx="1"/>
          </p:nvPr>
        </p:nvSpPr>
        <p:spPr>
          <a:xfrm>
            <a:off x="457200" y="1143000"/>
            <a:ext cx="8229600" cy="5257800"/>
          </a:xfrm>
        </p:spPr>
        <p:txBody>
          <a:bodyPr>
            <a:normAutofit/>
          </a:bodyPr>
          <a:lstStyle/>
          <a:p>
            <a:pPr algn="just" fontAlgn="base"/>
            <a:r>
              <a:rPr lang="en-IN" dirty="0" smtClean="0">
                <a:latin typeface="Times New Roman" pitchFamily="18" charset="0"/>
                <a:cs typeface="Times New Roman" pitchFamily="18" charset="0"/>
              </a:rPr>
              <a:t>After the development of the product, testing of the software is necessary to ensure its smooth execution. Although, minimal testing is conducted at every stage of SDLC. </a:t>
            </a:r>
          </a:p>
          <a:p>
            <a:pPr algn="just" fontAlgn="base"/>
            <a:endParaRPr lang="en-IN" dirty="0" smtClean="0">
              <a:latin typeface="Times New Roman" pitchFamily="18" charset="0"/>
              <a:cs typeface="Times New Roman" pitchFamily="18" charset="0"/>
            </a:endParaRPr>
          </a:p>
          <a:p>
            <a:pPr algn="just" fontAlgn="base"/>
            <a:r>
              <a:rPr lang="en-IN" dirty="0" smtClean="0">
                <a:latin typeface="Times New Roman" pitchFamily="18" charset="0"/>
                <a:cs typeface="Times New Roman" pitchFamily="18" charset="0"/>
              </a:rPr>
              <a:t>Therefore, at this stage, all the probable flaws are tracked, fixed, and retested. This ensures that the product confronts the quality requirements of SRS. </a:t>
            </a:r>
          </a:p>
          <a:p>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610600" cy="5562600"/>
          </a:xfrm>
        </p:spPr>
        <p:txBody>
          <a:bodyPr>
            <a:normAutofit/>
          </a:bodyPr>
          <a:lstStyle/>
          <a:p>
            <a:pPr algn="just"/>
            <a:r>
              <a:rPr lang="en-IN" sz="2000" b="1" dirty="0" smtClean="0">
                <a:latin typeface="Times New Roman" pitchFamily="18" charset="0"/>
                <a:cs typeface="Times New Roman" pitchFamily="18" charset="0"/>
              </a:rPr>
              <a:t>Documentation, Training, and Support: </a:t>
            </a:r>
          </a:p>
          <a:p>
            <a:pPr algn="just"/>
            <a:r>
              <a:rPr lang="en-IN" sz="2000" u="sng" dirty="0" smtClean="0">
                <a:latin typeface="Times New Roman" pitchFamily="18" charset="0"/>
                <a:cs typeface="Times New Roman" pitchFamily="18" charset="0"/>
                <a:hlinkClick r:id="rId2"/>
              </a:rPr>
              <a:t>Software documentation</a:t>
            </a:r>
            <a:r>
              <a:rPr lang="en-IN" sz="2000" dirty="0" smtClean="0">
                <a:latin typeface="Times New Roman" pitchFamily="18" charset="0"/>
                <a:cs typeface="Times New Roman" pitchFamily="18" charset="0"/>
              </a:rPr>
              <a:t> is an essential part of the software development life cycle.</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 A well-written document acts as a tool and means to information repository necessary to know about software processes, functions, and maintenance.</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 Documentation also provides information about how to use the product. </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Training in an attempt to improve the current or future employee performance by increasing an employee's ability to work through learning, usually by changing his attitude and developing his skills and understanding. </a:t>
            </a:r>
          </a:p>
          <a:p>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5.jpg"/>
          <p:cNvPicPr>
            <a:picLocks noGrp="1" noChangeAspect="1"/>
          </p:cNvPicPr>
          <p:nvPr>
            <p:ph idx="1"/>
          </p:nvPr>
        </p:nvPicPr>
        <p:blipFill>
          <a:blip r:embed="rId2"/>
          <a:stretch>
            <a:fillRect/>
          </a:stretch>
        </p:blipFill>
        <p:spPr>
          <a:xfrm>
            <a:off x="457200" y="914400"/>
            <a:ext cx="8229600" cy="5006181"/>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sz="3100" b="1" dirty="0" smtClean="0">
                <a:solidFill>
                  <a:schemeClr val="tx2"/>
                </a:solidFill>
                <a:latin typeface="Times New Roman" pitchFamily="18" charset="0"/>
                <a:cs typeface="Times New Roman" pitchFamily="18" charset="0"/>
              </a:rPr>
              <a:t>Stage 6: Deployment and Maintenance of Products</a:t>
            </a:r>
            <a:r>
              <a:rPr lang="en-IN" b="1" dirty="0" smtClean="0"/>
              <a:t/>
            </a:r>
            <a:br>
              <a:rPr lang="en-IN" b="1" dirty="0" smtClean="0"/>
            </a:br>
            <a:endParaRPr lang="en-IN" dirty="0"/>
          </a:p>
        </p:txBody>
      </p:sp>
      <p:sp>
        <p:nvSpPr>
          <p:cNvPr id="3" name="Content Placeholder 2"/>
          <p:cNvSpPr>
            <a:spLocks noGrp="1"/>
          </p:cNvSpPr>
          <p:nvPr>
            <p:ph idx="1"/>
          </p:nvPr>
        </p:nvSpPr>
        <p:spPr>
          <a:xfrm>
            <a:off x="457200" y="1066800"/>
            <a:ext cx="8229600" cy="5059363"/>
          </a:xfrm>
        </p:spPr>
        <p:txBody>
          <a:bodyPr>
            <a:normAutofit lnSpcReduction="10000"/>
          </a:bodyPr>
          <a:lstStyle/>
          <a:p>
            <a:pPr algn="just" fontAlgn="base"/>
            <a:r>
              <a:rPr lang="en-IN" sz="2400" dirty="0" smtClean="0">
                <a:latin typeface="Times New Roman" pitchFamily="18" charset="0"/>
                <a:cs typeface="Times New Roman" pitchFamily="18" charset="0"/>
              </a:rPr>
              <a:t>After detailed testing, the conclusive product is released in phases as per the organization’s strategy.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Then it is tested in a real industrial environment. It is important to ensure its smooth performance.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If it performs well, the organization sends out the product as a whole. After retrieving beneficial feedback, the company releases it as it is or with auxiliary improvements to make it further helpful for the customers. </a:t>
            </a:r>
          </a:p>
          <a:p>
            <a:pPr algn="just" fontAlgn="base"/>
            <a:endParaRPr lang="en-IN" sz="2400" dirty="0" smtClean="0">
              <a:latin typeface="Times New Roman" pitchFamily="18" charset="0"/>
              <a:cs typeface="Times New Roman" pitchFamily="18" charset="0"/>
            </a:endParaRPr>
          </a:p>
          <a:p>
            <a:pPr algn="just" fontAlgn="base"/>
            <a:r>
              <a:rPr lang="en-IN" sz="2400" dirty="0" smtClean="0">
                <a:latin typeface="Times New Roman" pitchFamily="18" charset="0"/>
                <a:cs typeface="Times New Roman" pitchFamily="18" charset="0"/>
              </a:rPr>
              <a:t>However, this alone is not enough. Therefore, along with the deployment, the </a:t>
            </a:r>
            <a:r>
              <a:rPr lang="en-IN" sz="2400" u="sng" dirty="0" smtClean="0">
                <a:latin typeface="Times New Roman" pitchFamily="18" charset="0"/>
                <a:cs typeface="Times New Roman" pitchFamily="18" charset="0"/>
                <a:hlinkClick r:id="rId2"/>
              </a:rPr>
              <a:t>product's supervision</a:t>
            </a:r>
            <a:r>
              <a:rPr lang="en-IN" sz="2400" dirty="0" smtClean="0">
                <a:latin typeface="Times New Roman" pitchFamily="18" charset="0"/>
                <a:cs typeface="Times New Roman" pitchFamily="18" charset="0"/>
              </a:rPr>
              <a:t>. </a:t>
            </a:r>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6.jpg"/>
          <p:cNvPicPr>
            <a:picLocks noChangeAspect="1"/>
          </p:cNvPicPr>
          <p:nvPr/>
        </p:nvPicPr>
        <p:blipFill>
          <a:blip r:embed="rId2"/>
          <a:stretch>
            <a:fillRect/>
          </a:stretch>
        </p:blipFill>
        <p:spPr>
          <a:xfrm>
            <a:off x="381000" y="685800"/>
            <a:ext cx="8458200" cy="4572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SDLC Models</a:t>
            </a:r>
            <a:endParaRPr lang="en-IN" dirty="0"/>
          </a:p>
        </p:txBody>
      </p:sp>
      <p:sp>
        <p:nvSpPr>
          <p:cNvPr id="3" name="Content Placeholder 2"/>
          <p:cNvSpPr>
            <a:spLocks noGrp="1"/>
          </p:cNvSpPr>
          <p:nvPr>
            <p:ph idx="1"/>
          </p:nvPr>
        </p:nvSpPr>
        <p:spPr/>
        <p:txBody>
          <a:bodyPr/>
          <a:lstStyle/>
          <a:p>
            <a:pPr fontAlgn="base">
              <a:buFont typeface="Wingdings" pitchFamily="2" charset="2"/>
              <a:buChar char="q"/>
            </a:pPr>
            <a:r>
              <a:rPr lang="en-IN" dirty="0" smtClean="0">
                <a:latin typeface="Times New Roman" pitchFamily="18" charset="0"/>
                <a:cs typeface="Times New Roman" pitchFamily="18" charset="0"/>
              </a:rPr>
              <a:t>Waterfall Model</a:t>
            </a:r>
          </a:p>
          <a:p>
            <a:pPr fontAlgn="base">
              <a:buFont typeface="Wingdings" pitchFamily="2" charset="2"/>
              <a:buChar char="q"/>
            </a:pPr>
            <a:r>
              <a:rPr lang="en-IN" dirty="0" smtClean="0">
                <a:latin typeface="Times New Roman" pitchFamily="18" charset="0"/>
                <a:cs typeface="Times New Roman" pitchFamily="18" charset="0"/>
              </a:rPr>
              <a:t>Agile Model</a:t>
            </a:r>
          </a:p>
          <a:p>
            <a:pPr fontAlgn="base">
              <a:buFont typeface="Wingdings" pitchFamily="2" charset="2"/>
              <a:buChar char="q"/>
            </a:pPr>
            <a:r>
              <a:rPr lang="en-IN" dirty="0" smtClean="0">
                <a:latin typeface="Times New Roman" pitchFamily="18" charset="0"/>
                <a:cs typeface="Times New Roman" pitchFamily="18" charset="0"/>
              </a:rPr>
              <a:t>V-Model</a:t>
            </a:r>
          </a:p>
          <a:p>
            <a:pPr fontAlgn="base">
              <a:buFont typeface="Wingdings" pitchFamily="2" charset="2"/>
              <a:buChar char="q"/>
            </a:pPr>
            <a:r>
              <a:rPr lang="en-IN" dirty="0" smtClean="0">
                <a:latin typeface="Times New Roman" pitchFamily="18" charset="0"/>
                <a:cs typeface="Times New Roman" pitchFamily="18" charset="0"/>
              </a:rPr>
              <a:t>Spiral Model</a:t>
            </a:r>
          </a:p>
          <a:p>
            <a:pPr fontAlgn="base">
              <a:buFont typeface="Wingdings" pitchFamily="2" charset="2"/>
              <a:buChar char="q"/>
            </a:pPr>
            <a:r>
              <a:rPr lang="en-IN" dirty="0" smtClean="0">
                <a:latin typeface="Times New Roman" pitchFamily="18" charset="0"/>
                <a:cs typeface="Times New Roman" pitchFamily="18" charset="0"/>
              </a:rPr>
              <a:t>Incremental Model</a:t>
            </a:r>
          </a:p>
          <a:p>
            <a:pPr fontAlgn="base">
              <a:buFont typeface="Wingdings" pitchFamily="2" charset="2"/>
              <a:buChar char="q"/>
            </a:pPr>
            <a:r>
              <a:rPr lang="en-IN" dirty="0" smtClean="0">
                <a:latin typeface="Times New Roman" pitchFamily="18" charset="0"/>
                <a:cs typeface="Times New Roman" pitchFamily="18" charset="0"/>
              </a:rPr>
              <a:t>RAD Model</a:t>
            </a:r>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2"/>
                </a:solidFill>
                <a:latin typeface="Times New Roman" pitchFamily="18" charset="0"/>
                <a:cs typeface="Times New Roman" pitchFamily="18" charset="0"/>
              </a:rPr>
              <a:t>Waterfall Model</a:t>
            </a:r>
            <a:endParaRPr lang="en-IN" b="1" dirty="0">
              <a:solidFill>
                <a:schemeClr val="tx2"/>
              </a:solidFill>
              <a:latin typeface="Times New Roman" pitchFamily="18" charset="0"/>
              <a:cs typeface="Times New Roman" pitchFamily="18" charset="0"/>
            </a:endParaRPr>
          </a:p>
        </p:txBody>
      </p:sp>
      <p:pic>
        <p:nvPicPr>
          <p:cNvPr id="4" name="Content Placeholder 3" descr="waterfall-model.gif"/>
          <p:cNvPicPr>
            <a:picLocks noGrp="1" noChangeAspect="1"/>
          </p:cNvPicPr>
          <p:nvPr>
            <p:ph idx="1"/>
          </p:nvPr>
        </p:nvPicPr>
        <p:blipFill>
          <a:blip r:embed="rId2"/>
          <a:stretch>
            <a:fillRect/>
          </a:stretch>
        </p:blipFill>
        <p:spPr>
          <a:xfrm>
            <a:off x="685800" y="1175972"/>
            <a:ext cx="7772400" cy="5301028"/>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sz="3600" b="1" dirty="0" smtClean="0">
                <a:solidFill>
                  <a:schemeClr val="tx2"/>
                </a:solidFill>
                <a:latin typeface="Times New Roman" pitchFamily="18" charset="0"/>
                <a:cs typeface="Times New Roman" pitchFamily="18" charset="0"/>
              </a:rPr>
              <a:t>Waterfall Model - Software Engineering</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lgn="just"/>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Waterfall Model</a:t>
            </a:r>
            <a:r>
              <a:rPr lang="en-IN" sz="2400" dirty="0" smtClean="0">
                <a:latin typeface="Times New Roman" pitchFamily="18" charset="0"/>
                <a:cs typeface="Times New Roman" pitchFamily="18" charset="0"/>
              </a:rPr>
              <a:t> is the </a:t>
            </a:r>
            <a:r>
              <a:rPr lang="en-IN" sz="2400" b="1" dirty="0" smtClean="0">
                <a:latin typeface="Times New Roman" pitchFamily="18" charset="0"/>
                <a:cs typeface="Times New Roman" pitchFamily="18" charset="0"/>
              </a:rPr>
              <a:t>oldest SDLC model</a:t>
            </a:r>
            <a:r>
              <a:rPr lang="en-IN" sz="2400" dirty="0" smtClean="0">
                <a:latin typeface="Times New Roman" pitchFamily="18" charset="0"/>
                <a:cs typeface="Times New Roman" pitchFamily="18" charset="0"/>
              </a:rPr>
              <a:t>, introduced in 1970 by Winston Royce.</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is a </a:t>
            </a:r>
            <a:r>
              <a:rPr lang="en-IN" sz="2400" b="1" dirty="0" smtClean="0">
                <a:latin typeface="Times New Roman" pitchFamily="18" charset="0"/>
                <a:cs typeface="Times New Roman" pitchFamily="18" charset="0"/>
              </a:rPr>
              <a:t>linear-sequential life cycle model</a:t>
            </a:r>
            <a:r>
              <a:rPr lang="en-IN" sz="2400" dirty="0" smtClean="0">
                <a:latin typeface="Times New Roman" pitchFamily="18" charset="0"/>
                <a:cs typeface="Times New Roman" pitchFamily="18" charset="0"/>
              </a:rPr>
              <a:t>, where the output of one phase becomes the input of the next.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Each phase must be </a:t>
            </a:r>
            <a:r>
              <a:rPr lang="en-IN" sz="2400" b="1" dirty="0" smtClean="0">
                <a:latin typeface="Times New Roman" pitchFamily="18" charset="0"/>
                <a:cs typeface="Times New Roman" pitchFamily="18" charset="0"/>
              </a:rPr>
              <a:t>completed fully</a:t>
            </a:r>
            <a:r>
              <a:rPr lang="en-IN" sz="2400" dirty="0" smtClean="0">
                <a:latin typeface="Times New Roman" pitchFamily="18" charset="0"/>
                <a:cs typeface="Times New Roman" pitchFamily="18" charset="0"/>
              </a:rPr>
              <a:t> before moving to the next — like water flowing down a waterfall.</a:t>
            </a:r>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Phases of Waterfall Model</a:t>
            </a:r>
            <a:r>
              <a:rPr lang="en-IN" b="1" dirty="0" smtClean="0"/>
              <a:t/>
            </a:r>
            <a:br>
              <a:rPr lang="en-IN" b="1" dirty="0" smtClean="0"/>
            </a:br>
            <a:endParaRPr lang="en-IN" dirty="0"/>
          </a:p>
        </p:txBody>
      </p:sp>
      <p:sp>
        <p:nvSpPr>
          <p:cNvPr id="4" name="Rectangle 3"/>
          <p:cNvSpPr/>
          <p:nvPr/>
        </p:nvSpPr>
        <p:spPr>
          <a:xfrm>
            <a:off x="304800" y="1447800"/>
            <a:ext cx="8534400" cy="4524315"/>
          </a:xfrm>
          <a:prstGeom prst="rect">
            <a:avLst/>
          </a:prstGeom>
        </p:spPr>
        <p:txBody>
          <a:bodyPr wrap="square">
            <a:spAutoFit/>
          </a:bodyPr>
          <a:lstStyle/>
          <a:p>
            <a:pPr algn="just">
              <a:buFont typeface="Wingdings" pitchFamily="2" charset="2"/>
              <a:buChar char="q"/>
            </a:pPr>
            <a:r>
              <a:rPr lang="en-IN" sz="2400" b="1" dirty="0" smtClean="0">
                <a:latin typeface="Times New Roman" pitchFamily="18" charset="0"/>
                <a:cs typeface="Times New Roman" pitchFamily="18" charset="0"/>
              </a:rPr>
              <a:t>Requirement Gathering &amp; Analysis</a:t>
            </a:r>
            <a:r>
              <a:rPr lang="en-IN" sz="2400" dirty="0" smtClean="0">
                <a:latin typeface="Times New Roman" pitchFamily="18" charset="0"/>
                <a:cs typeface="Times New Roman" pitchFamily="18" charset="0"/>
              </a:rPr>
              <a:t> – Collect and document all requirements clearly.</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b="1" dirty="0" smtClean="0">
                <a:latin typeface="Times New Roman" pitchFamily="18" charset="0"/>
                <a:cs typeface="Times New Roman" pitchFamily="18" charset="0"/>
              </a:rPr>
              <a:t>System Design</a:t>
            </a:r>
            <a:r>
              <a:rPr lang="en-IN" sz="2400" dirty="0" smtClean="0">
                <a:latin typeface="Times New Roman" pitchFamily="18" charset="0"/>
                <a:cs typeface="Times New Roman" pitchFamily="18" charset="0"/>
              </a:rPr>
              <a:t> – High-level design and detailed design created.</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b="1" dirty="0" smtClean="0">
                <a:latin typeface="Times New Roman" pitchFamily="18" charset="0"/>
                <a:cs typeface="Times New Roman" pitchFamily="18" charset="0"/>
              </a:rPr>
              <a:t>Implementation (Coding)</a:t>
            </a:r>
            <a:r>
              <a:rPr lang="en-IN" sz="2400" dirty="0" smtClean="0">
                <a:latin typeface="Times New Roman" pitchFamily="18" charset="0"/>
                <a:cs typeface="Times New Roman" pitchFamily="18" charset="0"/>
              </a:rPr>
              <a:t> – Actual coding based on the design.</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b="1" dirty="0" smtClean="0">
                <a:latin typeface="Times New Roman" pitchFamily="18" charset="0"/>
                <a:cs typeface="Times New Roman" pitchFamily="18" charset="0"/>
              </a:rPr>
              <a:t>Integration &amp; Testing</a:t>
            </a:r>
            <a:r>
              <a:rPr lang="en-IN" sz="2400" dirty="0" smtClean="0">
                <a:latin typeface="Times New Roman" pitchFamily="18" charset="0"/>
                <a:cs typeface="Times New Roman" pitchFamily="18" charset="0"/>
              </a:rPr>
              <a:t> – Modules are integrated and tested.</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b="1" dirty="0" smtClean="0">
                <a:latin typeface="Times New Roman" pitchFamily="18" charset="0"/>
                <a:cs typeface="Times New Roman" pitchFamily="18" charset="0"/>
              </a:rPr>
              <a:t>Deployment</a:t>
            </a:r>
            <a:r>
              <a:rPr lang="en-IN" sz="2400" dirty="0" smtClean="0">
                <a:latin typeface="Times New Roman" pitchFamily="18" charset="0"/>
                <a:cs typeface="Times New Roman" pitchFamily="18" charset="0"/>
              </a:rPr>
              <a:t> – System is installed at the customer site.</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b="1" dirty="0" smtClean="0">
                <a:latin typeface="Times New Roman" pitchFamily="18" charset="0"/>
                <a:cs typeface="Times New Roman" pitchFamily="18" charset="0"/>
              </a:rPr>
              <a:t>Maintenance</a:t>
            </a:r>
            <a:r>
              <a:rPr lang="en-IN" sz="2400" dirty="0" smtClean="0">
                <a:latin typeface="Times New Roman" pitchFamily="18" charset="0"/>
                <a:cs typeface="Times New Roman" pitchFamily="18" charset="0"/>
              </a:rPr>
              <a:t> – Fixing bugs, upgrades, and improvements.</a:t>
            </a:r>
            <a:endParaRPr lang="en-IN" sz="24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Features of Waterfall Model</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a:buFont typeface="Wingdings" pitchFamily="2" charset="2"/>
              <a:buChar char="q"/>
            </a:pPr>
            <a:r>
              <a:rPr lang="en-IN" sz="2800" dirty="0" smtClean="0">
                <a:latin typeface="Times New Roman" pitchFamily="18" charset="0"/>
                <a:cs typeface="Times New Roman" pitchFamily="18" charset="0"/>
              </a:rPr>
              <a:t>Linear and sequential approach.</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Documentation-heavy.</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Simple and easy to understand.</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Each phase has specific deliverables and reviews.</a:t>
            </a:r>
          </a:p>
          <a:p>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Importance of Waterfall Model</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lgn="just"/>
            <a:r>
              <a:rPr lang="en-IN" sz="2800" dirty="0" smtClean="0">
                <a:latin typeface="Times New Roman" pitchFamily="18" charset="0"/>
                <a:cs typeface="Times New Roman" pitchFamily="18" charset="0"/>
              </a:rPr>
              <a:t>Provides a </a:t>
            </a:r>
            <a:r>
              <a:rPr lang="en-IN" sz="2800" b="1" dirty="0" smtClean="0">
                <a:latin typeface="Times New Roman" pitchFamily="18" charset="0"/>
                <a:cs typeface="Times New Roman" pitchFamily="18" charset="0"/>
              </a:rPr>
              <a:t>structured approach</a:t>
            </a:r>
            <a:r>
              <a:rPr lang="en-IN" sz="2800" dirty="0" smtClean="0">
                <a:latin typeface="Times New Roman" pitchFamily="18" charset="0"/>
                <a:cs typeface="Times New Roman" pitchFamily="18" charset="0"/>
              </a:rPr>
              <a:t> to software development.</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Suitable for </a:t>
            </a:r>
            <a:r>
              <a:rPr lang="en-IN" sz="2800" b="1" dirty="0" smtClean="0">
                <a:latin typeface="Times New Roman" pitchFamily="18" charset="0"/>
                <a:cs typeface="Times New Roman" pitchFamily="18" charset="0"/>
              </a:rPr>
              <a:t>small to medium projects</a:t>
            </a:r>
            <a:r>
              <a:rPr lang="en-IN" sz="2800" dirty="0" smtClean="0">
                <a:latin typeface="Times New Roman" pitchFamily="18" charset="0"/>
                <a:cs typeface="Times New Roman" pitchFamily="18" charset="0"/>
              </a:rPr>
              <a:t> with well-defined requirements.</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Ensures clarity because every phase is properly documented.</a:t>
            </a:r>
          </a:p>
          <a:p>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Advantages of Waterfall Model</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lgn="just">
              <a:buFont typeface="Wingdings" pitchFamily="2" charset="2"/>
              <a:buChar char="q"/>
            </a:pPr>
            <a:r>
              <a:rPr lang="en-IN" sz="2800" dirty="0" smtClean="0">
                <a:latin typeface="Times New Roman" pitchFamily="18" charset="0"/>
                <a:cs typeface="Times New Roman" pitchFamily="18" charset="0"/>
              </a:rPr>
              <a:t>Easy to understand and manage.</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Phases are clearly defined.</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Works well for projects with fixed requirements.</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Easy to track progress (phase by phase).</a:t>
            </a:r>
          </a:p>
          <a:p>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Disadvantages of Waterfall Model</a:t>
            </a:r>
            <a:br>
              <a:rPr lang="en-IN" b="1" dirty="0" smtClean="0">
                <a:solidFill>
                  <a:schemeClr val="tx2"/>
                </a:solidFill>
                <a:latin typeface="Times New Roman" pitchFamily="18" charset="0"/>
                <a:cs typeface="Times New Roman" pitchFamily="18" charset="0"/>
              </a:rPr>
            </a:br>
            <a:endParaRPr lang="en-IN"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800" dirty="0" smtClean="0">
                <a:latin typeface="Times New Roman" pitchFamily="18" charset="0"/>
                <a:cs typeface="Times New Roman" pitchFamily="18" charset="0"/>
              </a:rPr>
              <a:t>Inflexible: hard to go back once a phase is completed.</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Poor model for long, complex projects.</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Not suitable for projects with changing requirements.</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Late testing (issues are found very late).</a:t>
            </a:r>
            <a:endParaRPr lang="en-IN" sz="28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Autofit/>
          </a:bodyPr>
          <a:lstStyle/>
          <a:p>
            <a:r>
              <a:rPr lang="en-IN" sz="3600" b="1" dirty="0" smtClean="0">
                <a:solidFill>
                  <a:schemeClr val="tx2"/>
                </a:solidFill>
                <a:latin typeface="Times New Roman" pitchFamily="18" charset="0"/>
                <a:cs typeface="Times New Roman" pitchFamily="18" charset="0"/>
              </a:rPr>
              <a:t>When to Use Waterfall Model?</a:t>
            </a:r>
            <a:br>
              <a:rPr lang="en-IN" sz="3600" b="1" dirty="0" smtClean="0">
                <a:solidFill>
                  <a:schemeClr val="tx2"/>
                </a:solidFill>
                <a:latin typeface="Times New Roman" pitchFamily="18" charset="0"/>
                <a:cs typeface="Times New Roman" pitchFamily="18" charset="0"/>
              </a:rPr>
            </a:br>
            <a:endParaRPr lang="en-IN" sz="3600"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sz="2400" dirty="0" smtClean="0">
                <a:latin typeface="Times New Roman" pitchFamily="18" charset="0"/>
                <a:cs typeface="Times New Roman" pitchFamily="18" charset="0"/>
              </a:rPr>
              <a:t>When requirements are </a:t>
            </a:r>
            <a:r>
              <a:rPr lang="en-IN" sz="2400" b="1" dirty="0" smtClean="0">
                <a:latin typeface="Times New Roman" pitchFamily="18" charset="0"/>
                <a:cs typeface="Times New Roman" pitchFamily="18" charset="0"/>
              </a:rPr>
              <a:t>well understood and unlikely to change</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For </a:t>
            </a:r>
            <a:r>
              <a:rPr lang="en-IN" sz="2400" b="1" dirty="0" smtClean="0">
                <a:latin typeface="Times New Roman" pitchFamily="18" charset="0"/>
                <a:cs typeface="Times New Roman" pitchFamily="18" charset="0"/>
              </a:rPr>
              <a:t>short-duration projects</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Where </a:t>
            </a:r>
            <a:r>
              <a:rPr lang="en-IN" sz="2400" b="1" dirty="0" smtClean="0">
                <a:latin typeface="Times New Roman" pitchFamily="18" charset="0"/>
                <a:cs typeface="Times New Roman" pitchFamily="18" charset="0"/>
              </a:rPr>
              <a:t>technology is stable</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For projects with </a:t>
            </a:r>
            <a:r>
              <a:rPr lang="en-IN" sz="2400" b="1" dirty="0" smtClean="0">
                <a:latin typeface="Times New Roman" pitchFamily="18" charset="0"/>
                <a:cs typeface="Times New Roman" pitchFamily="18" charset="0"/>
              </a:rPr>
              <a:t>strict government/</a:t>
            </a:r>
            <a:r>
              <a:rPr lang="en-IN" sz="2400" b="1" dirty="0" err="1" smtClean="0">
                <a:latin typeface="Times New Roman" pitchFamily="18" charset="0"/>
                <a:cs typeface="Times New Roman" pitchFamily="18" charset="0"/>
              </a:rPr>
              <a:t>defense</a:t>
            </a:r>
            <a:r>
              <a:rPr lang="en-IN" sz="2400" b="1" dirty="0" smtClean="0">
                <a:latin typeface="Times New Roman" pitchFamily="18" charset="0"/>
                <a:cs typeface="Times New Roman" pitchFamily="18" charset="0"/>
              </a:rPr>
              <a:t> standards</a:t>
            </a:r>
            <a:r>
              <a:rPr lang="en-IN" sz="2400" dirty="0" smtClean="0">
                <a:latin typeface="Times New Roman" pitchFamily="18" charset="0"/>
                <a:cs typeface="Times New Roman" pitchFamily="18" charset="0"/>
              </a:rPr>
              <a:t>.</a:t>
            </a: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chemeClr val="tx2"/>
                </a:solidFill>
                <a:latin typeface="Times New Roman" pitchFamily="18" charset="0"/>
                <a:cs typeface="Times New Roman" pitchFamily="18" charset="0"/>
              </a:rPr>
              <a:t>Applications of Waterfall Model</a:t>
            </a:r>
            <a:br>
              <a:rPr lang="en-IN" b="1" dirty="0" smtClean="0">
                <a:solidFill>
                  <a:schemeClr val="tx2"/>
                </a:solidFill>
                <a:latin typeface="Times New Roman" pitchFamily="18" charset="0"/>
                <a:cs typeface="Times New Roman" pitchFamily="18" charset="0"/>
              </a:rPr>
            </a:br>
            <a:endParaRPr lang="en-IN"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ü"/>
            </a:pPr>
            <a:r>
              <a:rPr lang="en-IN" sz="2400" dirty="0" smtClean="0">
                <a:latin typeface="Times New Roman" pitchFamily="18" charset="0"/>
                <a:cs typeface="Times New Roman" pitchFamily="18" charset="0"/>
              </a:rPr>
              <a:t>Banking and financial software.</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Payroll and billing systems.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Manufacturing and production systems.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Government projects.</a:t>
            </a:r>
          </a:p>
          <a:p>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Agile Development Model</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10200"/>
          </a:xfrm>
        </p:spPr>
        <p:txBody>
          <a:bodyPr>
            <a:normAutofit/>
          </a:bodyPr>
          <a:lstStyle/>
          <a:p>
            <a:pPr algn="just" fontAlgn="base">
              <a:buFont typeface="Wingdings" pitchFamily="2" charset="2"/>
              <a:buChar char="q"/>
            </a:pPr>
            <a:endParaRPr lang="en-IN" sz="2000" b="1" dirty="0" smtClean="0">
              <a:latin typeface="Times New Roman" pitchFamily="18" charset="0"/>
              <a:cs typeface="Times New Roman" pitchFamily="18" charset="0"/>
            </a:endParaRPr>
          </a:p>
          <a:p>
            <a:pPr algn="just" fontAlgn="base">
              <a:buFont typeface="Wingdings" pitchFamily="2" charset="2"/>
              <a:buChar char="q"/>
            </a:pPr>
            <a:r>
              <a:rPr lang="en-IN" sz="2000" b="1" dirty="0" smtClean="0">
                <a:latin typeface="Times New Roman" pitchFamily="18" charset="0"/>
                <a:cs typeface="Times New Roman" pitchFamily="18" charset="0"/>
              </a:rPr>
              <a:t>The Agile Model</a:t>
            </a:r>
            <a:r>
              <a:rPr lang="en-IN" sz="2000" dirty="0" smtClean="0">
                <a:latin typeface="Times New Roman" pitchFamily="18" charset="0"/>
                <a:cs typeface="Times New Roman" pitchFamily="18" charset="0"/>
              </a:rPr>
              <a:t> was primarily designed to </a:t>
            </a:r>
            <a:r>
              <a:rPr lang="en-IN" sz="2000" b="1" dirty="0" smtClean="0">
                <a:latin typeface="Times New Roman" pitchFamily="18" charset="0"/>
                <a:cs typeface="Times New Roman" pitchFamily="18" charset="0"/>
              </a:rPr>
              <a:t>help a project adapt quickly to change requests.</a:t>
            </a:r>
            <a:r>
              <a:rPr lang="en-IN" sz="2000" dirty="0" smtClean="0">
                <a:latin typeface="Times New Roman" pitchFamily="18" charset="0"/>
                <a:cs typeface="Times New Roman" pitchFamily="18" charset="0"/>
              </a:rPr>
              <a:t> </a:t>
            </a:r>
          </a:p>
          <a:p>
            <a:pPr algn="just" fontAlgn="base">
              <a:buFont typeface="Wingdings" pitchFamily="2" charset="2"/>
              <a:buChar char="q"/>
            </a:pPr>
            <a:endParaRPr lang="en-IN" sz="2000" dirty="0" smtClean="0">
              <a:latin typeface="Times New Roman" pitchFamily="18" charset="0"/>
              <a:cs typeface="Times New Roman" pitchFamily="18" charset="0"/>
            </a:endParaRPr>
          </a:p>
          <a:p>
            <a:pPr algn="just" fontAlgn="base">
              <a:buFont typeface="Wingdings" pitchFamily="2" charset="2"/>
              <a:buChar char="q"/>
            </a:pPr>
            <a:r>
              <a:rPr lang="en-IN" sz="2000" dirty="0" smtClean="0">
                <a:latin typeface="Times New Roman" pitchFamily="18" charset="0"/>
                <a:cs typeface="Times New Roman" pitchFamily="18" charset="0"/>
              </a:rPr>
              <a:t>So, the main aim of the Agile model is to </a:t>
            </a:r>
            <a:r>
              <a:rPr lang="en-IN" sz="2000" b="1" dirty="0" smtClean="0">
                <a:latin typeface="Times New Roman" pitchFamily="18" charset="0"/>
                <a:cs typeface="Times New Roman" pitchFamily="18" charset="0"/>
              </a:rPr>
              <a:t>facilitate quick project completion.</a:t>
            </a:r>
            <a:r>
              <a:rPr lang="en-IN" sz="2000" dirty="0" smtClean="0">
                <a:latin typeface="Times New Roman" pitchFamily="18" charset="0"/>
                <a:cs typeface="Times New Roman" pitchFamily="18" charset="0"/>
              </a:rPr>
              <a:t> To accomplish this task, it's important that agility is required. </a:t>
            </a:r>
          </a:p>
          <a:p>
            <a:pPr algn="just" fontAlgn="base">
              <a:buFont typeface="Wingdings" pitchFamily="2" charset="2"/>
              <a:buChar char="q"/>
            </a:pPr>
            <a:endParaRPr lang="en-IN" sz="2000" dirty="0" smtClean="0">
              <a:latin typeface="Times New Roman" pitchFamily="18" charset="0"/>
              <a:cs typeface="Times New Roman" pitchFamily="18" charset="0"/>
            </a:endParaRPr>
          </a:p>
          <a:p>
            <a:pPr algn="just" fontAlgn="base">
              <a:buFont typeface="Wingdings" pitchFamily="2" charset="2"/>
              <a:buChar char="q"/>
            </a:pPr>
            <a:r>
              <a:rPr lang="en-IN" sz="2000" dirty="0" smtClean="0">
                <a:latin typeface="Times New Roman" pitchFamily="18" charset="0"/>
                <a:cs typeface="Times New Roman" pitchFamily="18" charset="0"/>
              </a:rPr>
              <a:t>Agility is achieved by fitting the process to the project and removing activities that may not be essential for a specific project.</a:t>
            </a:r>
          </a:p>
          <a:p>
            <a:pPr algn="just" fontAlgn="base">
              <a:buFont typeface="Wingdings" pitchFamily="2" charset="2"/>
              <a:buChar char="q"/>
            </a:pPr>
            <a:endParaRPr lang="en-IN" sz="2000" dirty="0" smtClean="0">
              <a:latin typeface="Times New Roman" pitchFamily="18" charset="0"/>
              <a:cs typeface="Times New Roman" pitchFamily="18" charset="0"/>
            </a:endParaRPr>
          </a:p>
          <a:p>
            <a:pPr algn="just" fontAlgn="base">
              <a:buFont typeface="Wingdings" pitchFamily="2" charset="2"/>
              <a:buChar char="q"/>
            </a:pPr>
            <a:r>
              <a:rPr lang="en-IN" sz="2000" dirty="0" smtClean="0">
                <a:latin typeface="Times New Roman" pitchFamily="18" charset="0"/>
                <a:cs typeface="Times New Roman" pitchFamily="18" charset="0"/>
              </a:rPr>
              <a:t>Also, anything that is a waste of time and effort is avoided. The Agile Model refers to a group of development processes. These processes share some basic characteristics but do have certain subtle differences among themselves.</a:t>
            </a:r>
          </a:p>
          <a:p>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Steps in the Agile Model</a:t>
            </a:r>
            <a:r>
              <a:rPr lang="en-IN" b="1" dirty="0" smtClean="0">
                <a:solidFill>
                  <a:srgbClr val="C00000"/>
                </a:solidFill>
              </a:rPr>
              <a:t/>
            </a:r>
            <a:br>
              <a:rPr lang="en-IN" b="1" dirty="0" smtClean="0">
                <a:solidFill>
                  <a:srgbClr val="C00000"/>
                </a:solidFill>
              </a:rPr>
            </a:br>
            <a:endParaRPr lang="en-IN" dirty="0">
              <a:solidFill>
                <a:srgbClr val="C00000"/>
              </a:solidFill>
            </a:endParaRPr>
          </a:p>
        </p:txBody>
      </p:sp>
      <p:sp>
        <p:nvSpPr>
          <p:cNvPr id="3" name="Content Placeholder 2"/>
          <p:cNvSpPr>
            <a:spLocks noGrp="1"/>
          </p:cNvSpPr>
          <p:nvPr>
            <p:ph idx="1"/>
          </p:nvPr>
        </p:nvSpPr>
        <p:spPr/>
        <p:txBody>
          <a:bodyPr>
            <a:normAutofit/>
          </a:bodyPr>
          <a:lstStyle/>
          <a:p>
            <a:pPr algn="just" fontAlgn="base"/>
            <a:r>
              <a:rPr lang="en-IN" sz="2400" dirty="0" smtClean="0">
                <a:latin typeface="Times New Roman" pitchFamily="18" charset="0"/>
                <a:cs typeface="Times New Roman" pitchFamily="18" charset="0"/>
              </a:rPr>
              <a:t>The Agile Model is a combination of iterative and incremental process models. The phases involve in </a:t>
            </a:r>
            <a:r>
              <a:rPr lang="en-IN" sz="2400" b="1" dirty="0" smtClean="0">
                <a:latin typeface="Times New Roman" pitchFamily="18" charset="0"/>
                <a:cs typeface="Times New Roman" pitchFamily="18" charset="0"/>
              </a:rPr>
              <a:t>Agile </a:t>
            </a:r>
            <a:r>
              <a:rPr lang="en-IN" sz="2400" b="1" u="sng" dirty="0" smtClean="0">
                <a:latin typeface="Times New Roman" pitchFamily="18" charset="0"/>
                <a:cs typeface="Times New Roman" pitchFamily="18" charset="0"/>
                <a:hlinkClick r:id="rId2"/>
              </a:rPr>
              <a:t>(SDLC)</a:t>
            </a:r>
            <a:r>
              <a:rPr lang="en-IN" sz="2400" b="1" dirty="0" smtClean="0">
                <a:latin typeface="Times New Roman" pitchFamily="18" charset="0"/>
                <a:cs typeface="Times New Roman" pitchFamily="18" charset="0"/>
              </a:rPr>
              <a:t> Model </a:t>
            </a:r>
            <a:r>
              <a:rPr lang="en-IN" sz="2400" dirty="0" smtClean="0">
                <a:latin typeface="Times New Roman" pitchFamily="18" charset="0"/>
                <a:cs typeface="Times New Roman" pitchFamily="18" charset="0"/>
              </a:rPr>
              <a:t>are: </a:t>
            </a:r>
          </a:p>
          <a:p>
            <a:pPr algn="just" fontAlgn="base"/>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Requirement Gathering</a:t>
            </a:r>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Design the Requirements</a:t>
            </a:r>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Construction / Iteration</a:t>
            </a:r>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Testing / Quality Assurance</a:t>
            </a:r>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Deployment</a:t>
            </a:r>
            <a:endParaRPr lang="en-IN" sz="2400" dirty="0" smtClean="0">
              <a:latin typeface="Times New Roman" pitchFamily="18" charset="0"/>
              <a:cs typeface="Times New Roman" pitchFamily="18" charset="0"/>
            </a:endParaRPr>
          </a:p>
          <a:p>
            <a:pPr algn="just" fontAlgn="base">
              <a:buFont typeface="Wingdings" pitchFamily="2" charset="2"/>
              <a:buChar char="ü"/>
            </a:pPr>
            <a:r>
              <a:rPr lang="en-IN" sz="2400" b="1" dirty="0" smtClean="0">
                <a:latin typeface="Times New Roman" pitchFamily="18" charset="0"/>
                <a:cs typeface="Times New Roman" pitchFamily="18" charset="0"/>
              </a:rPr>
              <a:t>Feedback</a:t>
            </a:r>
            <a:endParaRPr lang="en-IN" sz="2400" dirty="0" smtClean="0">
              <a:latin typeface="Times New Roman" pitchFamily="18" charset="0"/>
              <a:cs typeface="Times New Roman" pitchFamily="18" charset="0"/>
            </a:endParaRPr>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09600" y="471488"/>
            <a:ext cx="7772399" cy="5915025"/>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Agile SDLC Process</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marL="514350" indent="-514350">
              <a:buAutoNum type="arabicPeriod"/>
            </a:pPr>
            <a:r>
              <a:rPr lang="en-IN" b="1" dirty="0" smtClean="0">
                <a:latin typeface="Times New Roman" pitchFamily="18" charset="0"/>
                <a:cs typeface="Times New Roman" pitchFamily="18" charset="0"/>
              </a:rPr>
              <a:t>Requirement Gathering</a:t>
            </a:r>
          </a:p>
          <a:p>
            <a:pPr marL="514350" indent="-514350">
              <a:buAutoNum type="arabicPeriod"/>
            </a:pPr>
            <a:endParaRPr lang="en-IN" b="1" dirty="0" smtClean="0">
              <a:latin typeface="Times New Roman" pitchFamily="18" charset="0"/>
              <a:cs typeface="Times New Roman" pitchFamily="18" charset="0"/>
            </a:endParaRPr>
          </a:p>
          <a:p>
            <a:pPr>
              <a:buFont typeface="Wingdings" pitchFamily="2" charset="2"/>
              <a:buChar char="q"/>
            </a:pPr>
            <a:r>
              <a:rPr lang="en-IN" sz="2800" dirty="0" smtClean="0">
                <a:latin typeface="Times New Roman" pitchFamily="18" charset="0"/>
                <a:cs typeface="Times New Roman" pitchFamily="18" charset="0"/>
              </a:rPr>
              <a:t>Meet customer to capture needs &amp; goals</a:t>
            </a:r>
          </a:p>
          <a:p>
            <a:pPr>
              <a:buFont typeface="Wingdings" pitchFamily="2" charset="2"/>
              <a:buChar char="q"/>
            </a:pPr>
            <a:endParaRPr lang="en-IN" sz="2800" dirty="0" smtClean="0">
              <a:latin typeface="Times New Roman" pitchFamily="18" charset="0"/>
              <a:cs typeface="Times New Roman" pitchFamily="18" charset="0"/>
            </a:endParaRPr>
          </a:p>
          <a:p>
            <a:pPr>
              <a:buFont typeface="Wingdings" pitchFamily="2" charset="2"/>
              <a:buChar char="q"/>
            </a:pPr>
            <a:r>
              <a:rPr lang="en-IN" sz="2800" dirty="0" smtClean="0">
                <a:latin typeface="Times New Roman" pitchFamily="18" charset="0"/>
                <a:cs typeface="Times New Roman" pitchFamily="18" charset="0"/>
              </a:rPr>
              <a:t>Identify key requirements &amp; feasibility (tech + cost)</a:t>
            </a:r>
          </a:p>
          <a:p>
            <a:pPr>
              <a:buFont typeface="Wingdings" pitchFamily="2" charset="2"/>
              <a:buChar char="q"/>
            </a:pPr>
            <a:endParaRPr lang="en-IN" sz="2800" dirty="0" smtClean="0">
              <a:latin typeface="Times New Roman" pitchFamily="18" charset="0"/>
              <a:cs typeface="Times New Roman" pitchFamily="18" charset="0"/>
            </a:endParaRPr>
          </a:p>
          <a:p>
            <a:pPr>
              <a:buFont typeface="Wingdings" pitchFamily="2" charset="2"/>
              <a:buChar char="q"/>
            </a:pPr>
            <a:r>
              <a:rPr lang="en-IN" sz="2800" dirty="0" smtClean="0">
                <a:latin typeface="Times New Roman" pitchFamily="18" charset="0"/>
                <a:cs typeface="Times New Roman" pitchFamily="18" charset="0"/>
              </a:rPr>
              <a:t>Estimate time &amp; effort</a:t>
            </a:r>
          </a:p>
          <a:p>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2. Design Requirements</a:t>
            </a:r>
            <a:r>
              <a:rPr lang="en-IN" b="1" dirty="0" smtClean="0">
                <a:solidFill>
                  <a:srgbClr val="C00000"/>
                </a:solidFill>
              </a:rPr>
              <a:t/>
            </a:r>
            <a:br>
              <a:rPr lang="en-IN" b="1" dirty="0" smtClean="0">
                <a:solidFill>
                  <a:srgbClr val="C00000"/>
                </a:solidFill>
              </a:rPr>
            </a:br>
            <a:endParaRPr lang="en-IN" dirty="0">
              <a:solidFill>
                <a:srgbClr val="C00000"/>
              </a:solidFill>
            </a:endParaRPr>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IN" dirty="0" smtClean="0">
                <a:latin typeface="Times New Roman" pitchFamily="18" charset="0"/>
                <a:cs typeface="Times New Roman" pitchFamily="18" charset="0"/>
              </a:rPr>
              <a:t>Define system architecture</a:t>
            </a:r>
          </a:p>
          <a:p>
            <a:pPr>
              <a:buFont typeface="Wingdings" pitchFamily="2" charset="2"/>
              <a:buChar char="q"/>
            </a:pPr>
            <a:endParaRPr lang="en-IN" dirty="0" smtClean="0">
              <a:latin typeface="Times New Roman" pitchFamily="18" charset="0"/>
              <a:cs typeface="Times New Roman" pitchFamily="18" charset="0"/>
            </a:endParaRPr>
          </a:p>
          <a:p>
            <a:pPr>
              <a:buFont typeface="Wingdings" pitchFamily="2" charset="2"/>
              <a:buChar char="q"/>
            </a:pPr>
            <a:r>
              <a:rPr lang="en-IN" sz="2800" dirty="0" smtClean="0">
                <a:latin typeface="Times New Roman" pitchFamily="18" charset="0"/>
                <a:cs typeface="Times New Roman" pitchFamily="18" charset="0"/>
              </a:rPr>
              <a:t>Create wireframes &amp; UI design </a:t>
            </a:r>
            <a:r>
              <a:rPr lang="en-IN" sz="1900" b="1" dirty="0" smtClean="0">
                <a:latin typeface="Times New Roman" pitchFamily="18" charset="0"/>
                <a:cs typeface="Times New Roman" pitchFamily="18" charset="0"/>
              </a:rPr>
              <a:t>(simple blueprints that show how the software will look and how users will interact with it)</a:t>
            </a:r>
            <a:endParaRPr lang="en-IN" b="1" dirty="0" smtClean="0">
              <a:latin typeface="Times New Roman" pitchFamily="18" charset="0"/>
              <a:cs typeface="Times New Roman" pitchFamily="18" charset="0"/>
            </a:endParaRPr>
          </a:p>
          <a:p>
            <a:pPr>
              <a:buFont typeface="Wingdings" pitchFamily="2" charset="2"/>
              <a:buChar char="q"/>
            </a:pPr>
            <a:endParaRPr lang="en-IN"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Use UML(Unified Modelling Language) diagrams for structure</a:t>
            </a:r>
          </a:p>
          <a:p>
            <a:pPr>
              <a:buFont typeface="Wingdings" pitchFamily="2" charset="2"/>
              <a:buChar char="q"/>
            </a:pPr>
            <a:endParaRPr lang="en-IN"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Build prototypes for feedback (Rough Model)</a:t>
            </a:r>
          </a:p>
          <a:p>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3. Construction / Iteration</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lgn="just">
              <a:buFont typeface="Wingdings" pitchFamily="2" charset="2"/>
              <a:buChar char="q"/>
            </a:pPr>
            <a:r>
              <a:rPr lang="en-IN" sz="2800" dirty="0" smtClean="0">
                <a:latin typeface="Times New Roman" pitchFamily="18" charset="0"/>
                <a:cs typeface="Times New Roman" pitchFamily="18" charset="0"/>
              </a:rPr>
              <a:t>Develop features in short cycles (1–4 weeks)</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Code &amp; integrate new functionalities</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Deliver usable product at end of each iteration(Version) </a:t>
            </a:r>
          </a:p>
          <a:p>
            <a:pPr algn="just">
              <a:buFont typeface="Wingdings" pitchFamily="2" charset="2"/>
              <a:buChar char="q"/>
            </a:pPr>
            <a:endParaRPr lang="en-IN" sz="2800" dirty="0" smtClean="0">
              <a:latin typeface="Times New Roman" pitchFamily="18" charset="0"/>
              <a:cs typeface="Times New Roman" pitchFamily="18" charset="0"/>
            </a:endParaRPr>
          </a:p>
          <a:p>
            <a:pPr algn="just">
              <a:buFont typeface="Wingdings" pitchFamily="2" charset="2"/>
              <a:buChar char="q"/>
            </a:pPr>
            <a:r>
              <a:rPr lang="en-IN" sz="2800" dirty="0" smtClean="0">
                <a:latin typeface="Times New Roman" pitchFamily="18" charset="0"/>
                <a:cs typeface="Times New Roman" pitchFamily="18" charset="0"/>
              </a:rPr>
              <a:t>Continuous improvement with each cycle(adding new features and refining old)</a:t>
            </a:r>
          </a:p>
          <a:p>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4. Testing / Quality Assurance</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lgn="just">
              <a:buFont typeface="Wingdings" pitchFamily="2" charset="2"/>
              <a:buChar char="ü"/>
            </a:pPr>
            <a:r>
              <a:rPr lang="en-IN" sz="2800" b="1" dirty="0" smtClean="0">
                <a:latin typeface="Times New Roman" pitchFamily="18" charset="0"/>
                <a:cs typeface="Times New Roman" pitchFamily="18" charset="0"/>
              </a:rPr>
              <a:t>Unit Testing</a:t>
            </a:r>
            <a:r>
              <a:rPr lang="en-IN" sz="2800" dirty="0" smtClean="0">
                <a:latin typeface="Times New Roman" pitchFamily="18" charset="0"/>
                <a:cs typeface="Times New Roman" pitchFamily="18" charset="0"/>
              </a:rPr>
              <a:t> – check individual modules</a:t>
            </a:r>
          </a:p>
          <a:p>
            <a:pPr algn="just">
              <a:buFont typeface="Wingdings" pitchFamily="2" charset="2"/>
              <a:buChar char="ü"/>
            </a:pPr>
            <a:endParaRPr lang="en-IN" sz="2800" dirty="0" smtClean="0">
              <a:latin typeface="Times New Roman" pitchFamily="18" charset="0"/>
              <a:cs typeface="Times New Roman" pitchFamily="18" charset="0"/>
            </a:endParaRPr>
          </a:p>
          <a:p>
            <a:pPr algn="just">
              <a:buFont typeface="Wingdings" pitchFamily="2" charset="2"/>
              <a:buChar char="ü"/>
            </a:pPr>
            <a:r>
              <a:rPr lang="en-IN" sz="2800" b="1" dirty="0" smtClean="0">
                <a:latin typeface="Times New Roman" pitchFamily="18" charset="0"/>
                <a:cs typeface="Times New Roman" pitchFamily="18" charset="0"/>
              </a:rPr>
              <a:t>Integration Testing</a:t>
            </a:r>
            <a:r>
              <a:rPr lang="en-IN" sz="2800" dirty="0" smtClean="0">
                <a:latin typeface="Times New Roman" pitchFamily="18" charset="0"/>
                <a:cs typeface="Times New Roman" pitchFamily="18" charset="0"/>
              </a:rPr>
              <a:t> – test combined modules</a:t>
            </a:r>
          </a:p>
          <a:p>
            <a:pPr algn="just">
              <a:buFont typeface="Wingdings" pitchFamily="2" charset="2"/>
              <a:buChar char="ü"/>
            </a:pPr>
            <a:endParaRPr lang="en-IN" sz="2800" dirty="0" smtClean="0">
              <a:latin typeface="Times New Roman" pitchFamily="18" charset="0"/>
              <a:cs typeface="Times New Roman" pitchFamily="18" charset="0"/>
            </a:endParaRPr>
          </a:p>
          <a:p>
            <a:pPr algn="just">
              <a:buFont typeface="Wingdings" pitchFamily="2" charset="2"/>
              <a:buChar char="ü"/>
            </a:pPr>
            <a:r>
              <a:rPr lang="en-IN" sz="2800" b="1" dirty="0" smtClean="0">
                <a:latin typeface="Times New Roman" pitchFamily="18" charset="0"/>
                <a:cs typeface="Times New Roman" pitchFamily="18" charset="0"/>
              </a:rPr>
              <a:t>System Testing</a:t>
            </a:r>
            <a:r>
              <a:rPr lang="en-IN" sz="2800" dirty="0" smtClean="0">
                <a:latin typeface="Times New Roman" pitchFamily="18" charset="0"/>
                <a:cs typeface="Times New Roman" pitchFamily="18" charset="0"/>
              </a:rPr>
              <a:t> – validate complete product</a:t>
            </a:r>
          </a:p>
          <a:p>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rPr>
              <a:t/>
            </a:r>
            <a:br>
              <a:rPr lang="en-IN" b="1" dirty="0" smtClean="0">
                <a:solidFill>
                  <a:srgbClr val="C00000"/>
                </a:solidFill>
              </a:rPr>
            </a:br>
            <a:r>
              <a:rPr lang="en-IN" b="1" dirty="0" smtClean="0">
                <a:solidFill>
                  <a:srgbClr val="C00000"/>
                </a:solidFill>
              </a:rPr>
              <a:t>5. Deployment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92500" lnSpcReduction="10000"/>
          </a:bodyPr>
          <a:lstStyle/>
          <a:p>
            <a:pPr algn="just" fontAlgn="base">
              <a:buFont typeface="Wingdings" pitchFamily="2" charset="2"/>
              <a:buChar char="q"/>
            </a:pPr>
            <a:r>
              <a:rPr lang="en-IN" sz="2400" dirty="0" smtClean="0"/>
              <a:t>Once an iteration is finished and fully tested, the software is ready to be released to the end users. In Agile, deployment isn't a one-time event—it's an ongoing process. Updates and improvements are rolled out regularly, making sure the software keeps evolving and getting better with each release.</a:t>
            </a: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dirty="0" smtClean="0">
                <a:latin typeface="Times New Roman" pitchFamily="18" charset="0"/>
                <a:cs typeface="Times New Roman" pitchFamily="18" charset="0"/>
              </a:rPr>
              <a:t>Deploy the software to a test or live environment so that it can be used by customers or end-users.</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dirty="0" smtClean="0">
                <a:latin typeface="Times New Roman" pitchFamily="18" charset="0"/>
                <a:cs typeface="Times New Roman" pitchFamily="18" charset="0"/>
              </a:rPr>
              <a:t>Make the software accessible to users, verifying they can start using it as expected.</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dirty="0" smtClean="0">
                <a:latin typeface="Times New Roman" pitchFamily="18" charset="0"/>
                <a:cs typeface="Times New Roman" pitchFamily="18" charset="0"/>
              </a:rPr>
              <a:t>Verify the deployment goes smoothly and fix any issues that come up quickly</a:t>
            </a:r>
          </a:p>
          <a:p>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6. Feedback</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buFont typeface="Wingdings" pitchFamily="2" charset="2"/>
              <a:buChar char="q"/>
            </a:pPr>
            <a:r>
              <a:rPr lang="en-IN" dirty="0" smtClean="0">
                <a:latin typeface="Times New Roman" pitchFamily="18" charset="0"/>
                <a:cs typeface="Times New Roman" pitchFamily="18" charset="0"/>
              </a:rPr>
              <a:t>Collect customer &amp; stakeholder feedback</a:t>
            </a:r>
          </a:p>
          <a:p>
            <a:pPr>
              <a:buFont typeface="Wingdings" pitchFamily="2" charset="2"/>
              <a:buChar char="q"/>
            </a:pPr>
            <a:endParaRPr lang="en-IN"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Fix bugs &amp; improve features</a:t>
            </a:r>
          </a:p>
          <a:p>
            <a:pPr>
              <a:buFont typeface="Wingdings" pitchFamily="2" charset="2"/>
              <a:buChar char="q"/>
            </a:pPr>
            <a:endParaRPr lang="en-IN"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Adjust plan for next iteration</a:t>
            </a:r>
          </a:p>
          <a:p>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Agile Testing Methods</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86400"/>
          </a:xfrm>
        </p:spPr>
        <p:txBody>
          <a:bodyPr>
            <a:normAutofit fontScale="92500" lnSpcReduction="20000"/>
          </a:bodyPr>
          <a:lstStyle/>
          <a:p>
            <a:pPr>
              <a:buFont typeface="Wingdings" pitchFamily="2" charset="2"/>
              <a:buChar char="§"/>
            </a:pPr>
            <a:r>
              <a:rPr lang="en-IN" sz="2200" b="1" dirty="0" smtClean="0">
                <a:latin typeface="Times New Roman" pitchFamily="18" charset="0"/>
                <a:cs typeface="Times New Roman" pitchFamily="18" charset="0"/>
              </a:rPr>
              <a:t>TDD Test-Driven Development </a:t>
            </a:r>
            <a:r>
              <a:rPr lang="en-IN" sz="2200" dirty="0" smtClean="0">
                <a:latin typeface="Times New Roman" pitchFamily="18" charset="0"/>
                <a:cs typeface="Times New Roman" pitchFamily="18" charset="0"/>
              </a:rPr>
              <a:t> – write tests before code</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Behaviour Driven Development BDD-</a:t>
            </a:r>
            <a:r>
              <a:rPr lang="en-IN" sz="2200" dirty="0" smtClean="0">
                <a:latin typeface="Times New Roman" pitchFamily="18" charset="0"/>
                <a:cs typeface="Times New Roman" pitchFamily="18" charset="0"/>
              </a:rPr>
              <a:t> – focus on user behaviour</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Exploratory Testing</a:t>
            </a:r>
            <a:r>
              <a:rPr lang="en-IN" sz="2200" dirty="0" smtClean="0">
                <a:latin typeface="Times New Roman" pitchFamily="18" charset="0"/>
                <a:cs typeface="Times New Roman" pitchFamily="18" charset="0"/>
              </a:rPr>
              <a:t> – discover hidden issues</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ATDD Acceptance Test-Driven Development</a:t>
            </a:r>
            <a:r>
              <a:rPr lang="en-IN" sz="2200" dirty="0" smtClean="0">
                <a:latin typeface="Times New Roman" pitchFamily="18" charset="0"/>
                <a:cs typeface="Times New Roman" pitchFamily="18" charset="0"/>
              </a:rPr>
              <a:t> – team + customer define acceptance tests</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XP-Extreme Programming </a:t>
            </a:r>
            <a:r>
              <a:rPr lang="en-IN" sz="2200" dirty="0" smtClean="0">
                <a:latin typeface="Times New Roman" pitchFamily="18" charset="0"/>
                <a:cs typeface="Times New Roman" pitchFamily="18" charset="0"/>
              </a:rPr>
              <a:t> – customer-driven quality focus</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Session-Based Testing</a:t>
            </a:r>
            <a:r>
              <a:rPr lang="en-IN" sz="2200" dirty="0" smtClean="0">
                <a:latin typeface="Times New Roman" pitchFamily="18" charset="0"/>
                <a:cs typeface="Times New Roman" pitchFamily="18" charset="0"/>
              </a:rPr>
              <a:t> – structured exploratory sessions</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DSDM Dynamic Software Development Method</a:t>
            </a:r>
            <a:r>
              <a:rPr lang="en-IN" sz="2200" dirty="0" smtClean="0">
                <a:latin typeface="Times New Roman" pitchFamily="18" charset="0"/>
                <a:cs typeface="Times New Roman" pitchFamily="18" charset="0"/>
              </a:rPr>
              <a:t> – framework for iterative delivery</a:t>
            </a:r>
          </a:p>
          <a:p>
            <a:pPr>
              <a:buFont typeface="Wingdings" pitchFamily="2" charset="2"/>
              <a:buChar char="§"/>
            </a:pPr>
            <a:endParaRPr lang="en-IN" sz="2200" dirty="0" smtClean="0">
              <a:latin typeface="Times New Roman" pitchFamily="18" charset="0"/>
              <a:cs typeface="Times New Roman" pitchFamily="18" charset="0"/>
            </a:endParaRPr>
          </a:p>
          <a:p>
            <a:pPr>
              <a:buFont typeface="Wingdings" pitchFamily="2" charset="2"/>
              <a:buChar char="§"/>
            </a:pPr>
            <a:r>
              <a:rPr lang="en-IN" sz="2200" b="1" dirty="0" smtClean="0">
                <a:latin typeface="Times New Roman" pitchFamily="18" charset="0"/>
                <a:cs typeface="Times New Roman" pitchFamily="18" charset="0"/>
              </a:rPr>
              <a:t>Crystal</a:t>
            </a:r>
            <a:r>
              <a:rPr lang="en-IN" sz="2200" dirty="0" smtClean="0">
                <a:latin typeface="Times New Roman" pitchFamily="18" charset="0"/>
                <a:cs typeface="Times New Roman" pitchFamily="18" charset="0"/>
              </a:rPr>
              <a:t> – people-focused, team-size based</a:t>
            </a:r>
          </a:p>
          <a:p>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r>
              <a:rPr lang="en-IN" sz="4000" b="1" dirty="0" smtClean="0">
                <a:solidFill>
                  <a:srgbClr val="C00000"/>
                </a:solidFill>
                <a:latin typeface="Times New Roman" pitchFamily="18" charset="0"/>
                <a:cs typeface="Times New Roman" pitchFamily="18" charset="0"/>
              </a:rPr>
              <a:t>Principles of Agile (12)</a:t>
            </a:r>
            <a:r>
              <a:rPr lang="en-IN" b="1" dirty="0" smtClean="0"/>
              <a:t/>
            </a:r>
            <a:br>
              <a:rPr lang="en-IN" b="1" dirty="0" smtClean="0"/>
            </a:br>
            <a:endParaRPr lang="en-IN" dirty="0"/>
          </a:p>
        </p:txBody>
      </p:sp>
      <p:sp>
        <p:nvSpPr>
          <p:cNvPr id="3" name="Content Placeholder 2"/>
          <p:cNvSpPr>
            <a:spLocks noGrp="1"/>
          </p:cNvSpPr>
          <p:nvPr>
            <p:ph idx="1"/>
          </p:nvPr>
        </p:nvSpPr>
        <p:spPr>
          <a:xfrm>
            <a:off x="457200" y="1371600"/>
            <a:ext cx="8229600" cy="4648200"/>
          </a:xfrm>
        </p:spPr>
        <p:txBody>
          <a:bodyPr>
            <a:normAutofit/>
          </a:bodyPr>
          <a:lstStyle/>
          <a:p>
            <a:pPr>
              <a:buFont typeface="Wingdings" pitchFamily="2" charset="2"/>
              <a:buChar char="§"/>
            </a:pPr>
            <a:r>
              <a:rPr lang="en-IN" sz="2000" dirty="0" smtClean="0">
                <a:latin typeface="Times New Roman" pitchFamily="18" charset="0"/>
                <a:cs typeface="Times New Roman" pitchFamily="18" charset="0"/>
              </a:rPr>
              <a:t>Early &amp; continuous delivery of value</a:t>
            </a:r>
          </a:p>
          <a:p>
            <a:pPr>
              <a:buFont typeface="Wingdings" pitchFamily="2" charset="2"/>
              <a:buChar char="§"/>
            </a:pPr>
            <a:r>
              <a:rPr lang="en-IN" sz="2000" dirty="0" smtClean="0">
                <a:latin typeface="Times New Roman" pitchFamily="18" charset="0"/>
                <a:cs typeface="Times New Roman" pitchFamily="18" charset="0"/>
              </a:rPr>
              <a:t>Welcome change, even late</a:t>
            </a:r>
          </a:p>
          <a:p>
            <a:pPr>
              <a:buFont typeface="Wingdings" pitchFamily="2" charset="2"/>
              <a:buChar char="§"/>
            </a:pPr>
            <a:r>
              <a:rPr lang="en-IN" sz="2000" dirty="0" smtClean="0">
                <a:latin typeface="Times New Roman" pitchFamily="18" charset="0"/>
                <a:cs typeface="Times New Roman" pitchFamily="18" charset="0"/>
              </a:rPr>
              <a:t>Deliver working software frequently</a:t>
            </a:r>
          </a:p>
          <a:p>
            <a:pPr>
              <a:buFont typeface="Wingdings" pitchFamily="2" charset="2"/>
              <a:buChar char="§"/>
            </a:pPr>
            <a:r>
              <a:rPr lang="en-IN" sz="2000" dirty="0" smtClean="0">
                <a:latin typeface="Times New Roman" pitchFamily="18" charset="0"/>
                <a:cs typeface="Times New Roman" pitchFamily="18" charset="0"/>
              </a:rPr>
              <a:t>Business &amp; developers collaborate daily</a:t>
            </a:r>
          </a:p>
          <a:p>
            <a:pPr>
              <a:buFont typeface="Wingdings" pitchFamily="2" charset="2"/>
              <a:buChar char="§"/>
            </a:pPr>
            <a:r>
              <a:rPr lang="en-IN" sz="2000" dirty="0" smtClean="0">
                <a:latin typeface="Times New Roman" pitchFamily="18" charset="0"/>
                <a:cs typeface="Times New Roman" pitchFamily="18" charset="0"/>
              </a:rPr>
              <a:t>Build around motivated individuals</a:t>
            </a:r>
          </a:p>
          <a:p>
            <a:pPr>
              <a:buFont typeface="Wingdings" pitchFamily="2" charset="2"/>
              <a:buChar char="§"/>
            </a:pPr>
            <a:r>
              <a:rPr lang="en-IN" sz="2000" dirty="0" smtClean="0">
                <a:latin typeface="Times New Roman" pitchFamily="18" charset="0"/>
                <a:cs typeface="Times New Roman" pitchFamily="18" charset="0"/>
              </a:rPr>
              <a:t>Face-to-face communication best</a:t>
            </a:r>
          </a:p>
          <a:p>
            <a:pPr>
              <a:buFont typeface="Wingdings" pitchFamily="2" charset="2"/>
              <a:buChar char="§"/>
            </a:pPr>
            <a:r>
              <a:rPr lang="en-IN" sz="2000" dirty="0" smtClean="0">
                <a:latin typeface="Times New Roman" pitchFamily="18" charset="0"/>
                <a:cs typeface="Times New Roman" pitchFamily="18" charset="0"/>
              </a:rPr>
              <a:t>Working software = progress measure</a:t>
            </a:r>
          </a:p>
          <a:p>
            <a:pPr>
              <a:buFont typeface="Wingdings" pitchFamily="2" charset="2"/>
              <a:buChar char="§"/>
            </a:pPr>
            <a:r>
              <a:rPr lang="en-IN" sz="2000" dirty="0" smtClean="0">
                <a:latin typeface="Times New Roman" pitchFamily="18" charset="0"/>
                <a:cs typeface="Times New Roman" pitchFamily="18" charset="0"/>
              </a:rPr>
              <a:t>Sustainable development pace</a:t>
            </a:r>
          </a:p>
          <a:p>
            <a:pPr>
              <a:buFont typeface="Wingdings" pitchFamily="2" charset="2"/>
              <a:buChar char="§"/>
            </a:pPr>
            <a:r>
              <a:rPr lang="en-IN" sz="2000" dirty="0" smtClean="0">
                <a:latin typeface="Times New Roman" pitchFamily="18" charset="0"/>
                <a:cs typeface="Times New Roman" pitchFamily="18" charset="0"/>
              </a:rPr>
              <a:t>Focus on technical excellence &amp; design</a:t>
            </a:r>
          </a:p>
          <a:p>
            <a:pPr>
              <a:buFont typeface="Wingdings" pitchFamily="2" charset="2"/>
              <a:buChar char="§"/>
            </a:pPr>
            <a:r>
              <a:rPr lang="en-IN" sz="2000" dirty="0" smtClean="0">
                <a:latin typeface="Times New Roman" pitchFamily="18" charset="0"/>
                <a:cs typeface="Times New Roman" pitchFamily="18" charset="0"/>
              </a:rPr>
              <a:t>Simplicity is key</a:t>
            </a:r>
          </a:p>
          <a:p>
            <a:pPr>
              <a:buFont typeface="Wingdings" pitchFamily="2" charset="2"/>
              <a:buChar char="§"/>
            </a:pPr>
            <a:r>
              <a:rPr lang="en-IN" sz="2000" dirty="0" smtClean="0">
                <a:latin typeface="Times New Roman" pitchFamily="18" charset="0"/>
                <a:cs typeface="Times New Roman" pitchFamily="18" charset="0"/>
              </a:rPr>
              <a:t>Self-organizing teams create best results</a:t>
            </a:r>
          </a:p>
          <a:p>
            <a:pPr>
              <a:buFont typeface="Wingdings" pitchFamily="2" charset="2"/>
              <a:buChar char="§"/>
            </a:pPr>
            <a:r>
              <a:rPr lang="en-IN" sz="2000" dirty="0" smtClean="0">
                <a:latin typeface="Times New Roman" pitchFamily="18" charset="0"/>
                <a:cs typeface="Times New Roman" pitchFamily="18" charset="0"/>
              </a:rPr>
              <a:t>Reflect &amp; improve regularly</a:t>
            </a:r>
            <a:endParaRPr lang="en-IN" sz="2000"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Characteristics of Agile</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Ø"/>
            </a:pPr>
            <a:r>
              <a:rPr lang="en-IN" sz="2800" dirty="0" smtClean="0">
                <a:latin typeface="Times New Roman" pitchFamily="18" charset="0"/>
                <a:cs typeface="Times New Roman" pitchFamily="18" charset="0"/>
              </a:rPr>
              <a:t>Adaptable to change</a:t>
            </a:r>
          </a:p>
          <a:p>
            <a:pPr>
              <a:buFont typeface="Wingdings" pitchFamily="2" charset="2"/>
              <a:buChar char="Ø"/>
            </a:pPr>
            <a:endParaRPr lang="en-IN" sz="2800" dirty="0" smtClean="0">
              <a:latin typeface="Times New Roman" pitchFamily="18" charset="0"/>
              <a:cs typeface="Times New Roman" pitchFamily="18" charset="0"/>
            </a:endParaRPr>
          </a:p>
          <a:p>
            <a:pPr>
              <a:buFont typeface="Wingdings" pitchFamily="2" charset="2"/>
              <a:buChar char="Ø"/>
            </a:pPr>
            <a:r>
              <a:rPr lang="en-IN" sz="2800" dirty="0" smtClean="0">
                <a:latin typeface="Times New Roman" pitchFamily="18" charset="0"/>
                <a:cs typeface="Times New Roman" pitchFamily="18" charset="0"/>
              </a:rPr>
              <a:t>Incremental delivery with short cycles</a:t>
            </a:r>
          </a:p>
          <a:p>
            <a:pPr>
              <a:buFont typeface="Wingdings" pitchFamily="2" charset="2"/>
              <a:buChar char="Ø"/>
            </a:pPr>
            <a:endParaRPr lang="en-IN" sz="2800" dirty="0" smtClean="0">
              <a:latin typeface="Times New Roman" pitchFamily="18" charset="0"/>
              <a:cs typeface="Times New Roman" pitchFamily="18" charset="0"/>
            </a:endParaRPr>
          </a:p>
          <a:p>
            <a:pPr>
              <a:buFont typeface="Wingdings" pitchFamily="2" charset="2"/>
              <a:buChar char="Ø"/>
            </a:pPr>
            <a:r>
              <a:rPr lang="en-IN" sz="2800" dirty="0" smtClean="0">
                <a:latin typeface="Times New Roman" pitchFamily="18" charset="0"/>
                <a:cs typeface="Times New Roman" pitchFamily="18" charset="0"/>
              </a:rPr>
              <a:t>Customer feedback drives progress</a:t>
            </a:r>
          </a:p>
          <a:p>
            <a:pPr>
              <a:buFont typeface="Wingdings" pitchFamily="2" charset="2"/>
              <a:buChar char="Ø"/>
            </a:pPr>
            <a:endParaRPr lang="en-IN" sz="2800" dirty="0" smtClean="0">
              <a:latin typeface="Times New Roman" pitchFamily="18" charset="0"/>
              <a:cs typeface="Times New Roman" pitchFamily="18" charset="0"/>
            </a:endParaRPr>
          </a:p>
          <a:p>
            <a:pPr>
              <a:buFont typeface="Wingdings" pitchFamily="2" charset="2"/>
              <a:buChar char="Ø"/>
            </a:pPr>
            <a:r>
              <a:rPr lang="en-IN" sz="2800" dirty="0" smtClean="0">
                <a:latin typeface="Times New Roman" pitchFamily="18" charset="0"/>
                <a:cs typeface="Times New Roman" pitchFamily="18" charset="0"/>
              </a:rPr>
              <a:t>Iterative evaluation of increments</a:t>
            </a:r>
          </a:p>
          <a:p>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When to Use Agile</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
            </a:pPr>
            <a:r>
              <a:rPr lang="en-IN" sz="2800" dirty="0" smtClean="0">
                <a:latin typeface="Times New Roman" pitchFamily="18" charset="0"/>
                <a:cs typeface="Times New Roman" pitchFamily="18" charset="0"/>
              </a:rPr>
              <a:t>Frequent changes expected</a:t>
            </a:r>
          </a:p>
          <a:p>
            <a:pPr>
              <a:buFont typeface="Wingdings" pitchFamily="2" charset="2"/>
              <a:buChar char="§"/>
            </a:pPr>
            <a:endParaRPr lang="en-IN" sz="2800" dirty="0" smtClean="0">
              <a:latin typeface="Times New Roman" pitchFamily="18" charset="0"/>
              <a:cs typeface="Times New Roman" pitchFamily="18" charset="0"/>
            </a:endParaRPr>
          </a:p>
          <a:p>
            <a:pPr>
              <a:buFont typeface="Wingdings" pitchFamily="2" charset="2"/>
              <a:buChar char="§"/>
            </a:pPr>
            <a:r>
              <a:rPr lang="en-IN" sz="2800" dirty="0" smtClean="0">
                <a:latin typeface="Times New Roman" pitchFamily="18" charset="0"/>
                <a:cs typeface="Times New Roman" pitchFamily="18" charset="0"/>
              </a:rPr>
              <a:t>Rapid feature implementation needed</a:t>
            </a:r>
          </a:p>
          <a:p>
            <a:pPr>
              <a:buFont typeface="Wingdings" pitchFamily="2" charset="2"/>
              <a:buChar char="§"/>
            </a:pPr>
            <a:endParaRPr lang="en-IN" sz="2800" dirty="0" smtClean="0">
              <a:latin typeface="Times New Roman" pitchFamily="18" charset="0"/>
              <a:cs typeface="Times New Roman" pitchFamily="18" charset="0"/>
            </a:endParaRPr>
          </a:p>
          <a:p>
            <a:pPr>
              <a:buFont typeface="Wingdings" pitchFamily="2" charset="2"/>
              <a:buChar char="§"/>
            </a:pPr>
            <a:r>
              <a:rPr lang="en-IN" sz="2800" dirty="0" smtClean="0">
                <a:latin typeface="Times New Roman" pitchFamily="18" charset="0"/>
                <a:cs typeface="Times New Roman" pitchFamily="18" charset="0"/>
              </a:rPr>
              <a:t>Minimal upfront planning possible</a:t>
            </a:r>
          </a:p>
          <a:p>
            <a:pPr>
              <a:buFont typeface="Wingdings" pitchFamily="2" charset="2"/>
              <a:buChar char="§"/>
            </a:pPr>
            <a:endParaRPr lang="en-IN" sz="2800" dirty="0" smtClean="0">
              <a:latin typeface="Times New Roman" pitchFamily="18" charset="0"/>
              <a:cs typeface="Times New Roman" pitchFamily="18" charset="0"/>
            </a:endParaRPr>
          </a:p>
          <a:p>
            <a:pPr>
              <a:buFont typeface="Wingdings" pitchFamily="2" charset="2"/>
              <a:buChar char="§"/>
            </a:pPr>
            <a:r>
              <a:rPr lang="en-IN" sz="2800" dirty="0" smtClean="0">
                <a:latin typeface="Times New Roman" pitchFamily="18" charset="0"/>
                <a:cs typeface="Times New Roman" pitchFamily="18" charset="0"/>
              </a:rPr>
              <a:t>Customer needs are evolving</a:t>
            </a:r>
            <a:endParaRPr lang="en-IN" sz="28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Advantages</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buFont typeface="Wingdings" pitchFamily="2" charset="2"/>
              <a:buChar char="Ø"/>
            </a:pPr>
            <a:r>
              <a:rPr lang="en-IN" sz="2400" dirty="0" smtClean="0">
                <a:latin typeface="Times New Roman" pitchFamily="18" charset="0"/>
                <a:cs typeface="Times New Roman" pitchFamily="18" charset="0"/>
              </a:rPr>
              <a:t>Pair programming = fewer errors</a:t>
            </a: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Faster development cycles</a:t>
            </a: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Strong collaboration &amp; communication</a:t>
            </a: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Customer feedback after each iteration</a:t>
            </a: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Customer-centric development</a:t>
            </a:r>
            <a:endParaRPr lang="en-IN" sz="2400" dirty="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Disadvantages</a:t>
            </a:r>
            <a:r>
              <a:rPr lang="en-IN" b="1" dirty="0" smtClean="0"/>
              <a:t/>
            </a:r>
            <a:br>
              <a:rPr lang="en-IN" b="1" dirty="0" smtClean="0"/>
            </a:br>
            <a:endParaRPr lang="en-IN" dirty="0"/>
          </a:p>
        </p:txBody>
      </p:sp>
      <p:sp>
        <p:nvSpPr>
          <p:cNvPr id="3" name="Content Placeholder 2"/>
          <p:cNvSpPr>
            <a:spLocks noGrp="1"/>
          </p:cNvSpPr>
          <p:nvPr>
            <p:ph idx="1"/>
          </p:nvPr>
        </p:nvSpPr>
        <p:spPr>
          <a:xfrm>
            <a:off x="533400" y="1295400"/>
            <a:ext cx="8229600" cy="4525963"/>
          </a:xfrm>
        </p:spPr>
        <p:txBody>
          <a:bodyPr>
            <a:normAutofit lnSpcReduction="10000"/>
          </a:bodyPr>
          <a:lstStyle/>
          <a:p>
            <a:pPr>
              <a:buFont typeface="Wingdings" pitchFamily="2" charset="2"/>
              <a:buChar char="ü"/>
            </a:pPr>
            <a:r>
              <a:rPr lang="en-IN" sz="2400" dirty="0" smtClean="0">
                <a:latin typeface="Times New Roman" pitchFamily="18" charset="0"/>
                <a:cs typeface="Times New Roman" pitchFamily="18" charset="0"/>
              </a:rPr>
              <a:t>Lack of formal documentation → confusion</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Not ideal for complex dependencies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Relies heavily on customer involvement</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Hard to predict timelines &amp; costs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Needs skilled, adaptable team</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Maintenance issues after team changes</a:t>
            </a:r>
          </a:p>
          <a:p>
            <a:endParaRPr lang="en-I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Conclusion</a:t>
            </a:r>
            <a:r>
              <a:rPr lang="en-IN" b="1" dirty="0" smtClean="0">
                <a:latin typeface="Times New Roman" pitchFamily="18" charset="0"/>
                <a:cs typeface="Times New Roman" pitchFamily="18" charset="0"/>
              </a:rPr>
              <a:t/>
            </a:r>
            <a:br>
              <a:rPr lang="en-IN" b="1"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ü"/>
            </a:pPr>
            <a:r>
              <a:rPr lang="en-IN" sz="2800" dirty="0" smtClean="0">
                <a:latin typeface="Times New Roman" pitchFamily="18" charset="0"/>
                <a:cs typeface="Times New Roman" pitchFamily="18" charset="0"/>
              </a:rPr>
              <a:t>Agile = flexibility, teamwork, quick adaptation</a:t>
            </a:r>
          </a:p>
          <a:p>
            <a:pPr>
              <a:buFont typeface="Wingdings" pitchFamily="2" charset="2"/>
              <a:buChar char="ü"/>
            </a:pPr>
            <a:r>
              <a:rPr lang="en-IN" sz="2800" dirty="0" smtClean="0">
                <a:latin typeface="Times New Roman" pitchFamily="18" charset="0"/>
                <a:cs typeface="Times New Roman" pitchFamily="18" charset="0"/>
              </a:rPr>
              <a:t>Best for fast-changing projects with skilled teams</a:t>
            </a:r>
          </a:p>
          <a:p>
            <a:pPr>
              <a:buFont typeface="Wingdings" pitchFamily="2" charset="2"/>
              <a:buChar char="ü"/>
            </a:pPr>
            <a:r>
              <a:rPr lang="en-IN" sz="2800" dirty="0" smtClean="0">
                <a:latin typeface="Times New Roman" pitchFamily="18" charset="0"/>
                <a:cs typeface="Times New Roman" pitchFamily="18" charset="0"/>
              </a:rPr>
              <a:t>Customer-focused, iterative improvement</a:t>
            </a:r>
            <a:endParaRPr lang="en-IN" sz="2800" dirty="0">
              <a:latin typeface="Times New Roman" pitchFamily="18" charset="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SDLC V-Model </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762000" y="990600"/>
            <a:ext cx="7467599" cy="54102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sz="3600" b="1" dirty="0" smtClean="0">
                <a:solidFill>
                  <a:srgbClr val="C00000"/>
                </a:solidFill>
                <a:latin typeface="Times New Roman" pitchFamily="18" charset="0"/>
                <a:cs typeface="Times New Roman" pitchFamily="18" charset="0"/>
              </a:rPr>
              <a:t>V-Model (Verification &amp; Validation Model)</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a:buFont typeface="Wingdings" pitchFamily="2" charset="2"/>
              <a:buChar char="§"/>
            </a:pPr>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V-Model</a:t>
            </a:r>
            <a:r>
              <a:rPr lang="en-IN" sz="2400" dirty="0" smtClean="0">
                <a:latin typeface="Times New Roman" pitchFamily="18" charset="0"/>
                <a:cs typeface="Times New Roman" pitchFamily="18" charset="0"/>
              </a:rPr>
              <a:t> is an </a:t>
            </a:r>
            <a:r>
              <a:rPr lang="en-IN" sz="2400" b="1" dirty="0" smtClean="0">
                <a:latin typeface="Times New Roman" pitchFamily="18" charset="0"/>
                <a:cs typeface="Times New Roman" pitchFamily="18" charset="0"/>
              </a:rPr>
              <a:t>extension of the Waterfall Model</a:t>
            </a:r>
            <a:r>
              <a:rPr lang="en-IN" sz="2400" dirty="0" smtClean="0">
                <a:latin typeface="Times New Roman" pitchFamily="18" charset="0"/>
                <a:cs typeface="Times New Roman" pitchFamily="18" charset="0"/>
              </a:rPr>
              <a:t>, where testing is planned in parallel with development.</a:t>
            </a:r>
          </a:p>
          <a:p>
            <a:pPr algn="just">
              <a:buFont typeface="Wingdings" pitchFamily="2" charset="2"/>
              <a:buChar char="§"/>
            </a:pPr>
            <a:endParaRPr lang="en-IN" sz="2400" dirty="0" smtClean="0">
              <a:latin typeface="Times New Roman" pitchFamily="18" charset="0"/>
              <a:cs typeface="Times New Roman" pitchFamily="18" charset="0"/>
            </a:endParaRPr>
          </a:p>
          <a:p>
            <a:pPr algn="just">
              <a:buFont typeface="Wingdings" pitchFamily="2" charset="2"/>
              <a:buChar char="§"/>
            </a:pPr>
            <a:r>
              <a:rPr lang="en-IN" sz="2400" dirty="0" smtClean="0">
                <a:latin typeface="Times New Roman" pitchFamily="18" charset="0"/>
                <a:cs typeface="Times New Roman" pitchFamily="18" charset="0"/>
              </a:rPr>
              <a:t>Each development phase (on the left side of "V") has a corresponding testing phase (on the right side).</a:t>
            </a:r>
          </a:p>
          <a:p>
            <a:pPr algn="just">
              <a:buFont typeface="Wingdings" pitchFamily="2" charset="2"/>
              <a:buChar char="§"/>
            </a:pPr>
            <a:endParaRPr lang="en-IN" sz="2400" dirty="0" smtClean="0">
              <a:latin typeface="Times New Roman" pitchFamily="18" charset="0"/>
              <a:cs typeface="Times New Roman" pitchFamily="18" charset="0"/>
            </a:endParaRPr>
          </a:p>
          <a:p>
            <a:pPr algn="just">
              <a:buFont typeface="Wingdings" pitchFamily="2" charset="2"/>
              <a:buChar char="§"/>
            </a:pPr>
            <a:r>
              <a:rPr lang="en-IN" sz="2400" dirty="0" smtClean="0">
                <a:latin typeface="Times New Roman" pitchFamily="18" charset="0"/>
                <a:cs typeface="Times New Roman" pitchFamily="18" charset="0"/>
              </a:rPr>
              <a:t>It emphasizes </a:t>
            </a:r>
            <a:r>
              <a:rPr lang="en-IN" sz="2400" b="1" dirty="0" smtClean="0">
                <a:latin typeface="Times New Roman" pitchFamily="18" charset="0"/>
                <a:cs typeface="Times New Roman" pitchFamily="18" charset="0"/>
              </a:rPr>
              <a:t>verification</a:t>
            </a:r>
            <a:r>
              <a:rPr lang="en-IN" sz="2400" dirty="0" smtClean="0">
                <a:latin typeface="Times New Roman" pitchFamily="18" charset="0"/>
                <a:cs typeface="Times New Roman" pitchFamily="18" charset="0"/>
              </a:rPr>
              <a:t> (building the product right) and </a:t>
            </a:r>
            <a:r>
              <a:rPr lang="en-IN" sz="2400" b="1" dirty="0" smtClean="0">
                <a:latin typeface="Times New Roman" pitchFamily="18" charset="0"/>
                <a:cs typeface="Times New Roman" pitchFamily="18" charset="0"/>
              </a:rPr>
              <a:t>validation</a:t>
            </a:r>
            <a:r>
              <a:rPr lang="en-IN" sz="2400" dirty="0" smtClean="0">
                <a:latin typeface="Times New Roman" pitchFamily="18" charset="0"/>
                <a:cs typeface="Times New Roman" pitchFamily="18" charset="0"/>
              </a:rPr>
              <a:t> (building the right product).</a:t>
            </a:r>
          </a:p>
          <a:p>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Phases of V-Model</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pPr>
              <a:buNone/>
            </a:pPr>
            <a:r>
              <a:rPr lang="en-IN" sz="2800" b="1" dirty="0" smtClean="0">
                <a:latin typeface="Times New Roman" pitchFamily="18" charset="0"/>
                <a:cs typeface="Times New Roman" pitchFamily="18" charset="0"/>
              </a:rPr>
              <a:t>1. Verification Phases (Left side of V)</a:t>
            </a:r>
          </a:p>
          <a:p>
            <a:pPr>
              <a:buFont typeface="Wingdings" pitchFamily="2" charset="2"/>
              <a:buChar char="ü"/>
            </a:pPr>
            <a:r>
              <a:rPr lang="en-IN" sz="2200" b="1" dirty="0" smtClean="0">
                <a:latin typeface="Times New Roman" pitchFamily="18" charset="0"/>
                <a:cs typeface="Times New Roman" pitchFamily="18" charset="0"/>
              </a:rPr>
              <a:t>Requirement Analysis</a:t>
            </a:r>
            <a:r>
              <a:rPr lang="en-IN" sz="2200" dirty="0" smtClean="0">
                <a:latin typeface="Times New Roman" pitchFamily="18" charset="0"/>
                <a:cs typeface="Times New Roman" pitchFamily="18" charset="0"/>
              </a:rPr>
              <a:t> → Gather user requirements.</a:t>
            </a:r>
          </a:p>
          <a:p>
            <a:pPr>
              <a:buFont typeface="Wingdings" pitchFamily="2" charset="2"/>
              <a:buChar char="ü"/>
            </a:pPr>
            <a:r>
              <a:rPr lang="en-IN" sz="2200" b="1" dirty="0" smtClean="0">
                <a:latin typeface="Times New Roman" pitchFamily="18" charset="0"/>
                <a:cs typeface="Times New Roman" pitchFamily="18" charset="0"/>
              </a:rPr>
              <a:t>System Design</a:t>
            </a:r>
            <a:r>
              <a:rPr lang="en-IN" sz="2200" dirty="0" smtClean="0">
                <a:latin typeface="Times New Roman" pitchFamily="18" charset="0"/>
                <a:cs typeface="Times New Roman" pitchFamily="18" charset="0"/>
              </a:rPr>
              <a:t> → Define high-level design (architecture).</a:t>
            </a:r>
          </a:p>
          <a:p>
            <a:pPr>
              <a:buFont typeface="Wingdings" pitchFamily="2" charset="2"/>
              <a:buChar char="ü"/>
            </a:pPr>
            <a:r>
              <a:rPr lang="en-IN" sz="2200" b="1" dirty="0" smtClean="0">
                <a:latin typeface="Times New Roman" pitchFamily="18" charset="0"/>
                <a:cs typeface="Times New Roman" pitchFamily="18" charset="0"/>
              </a:rPr>
              <a:t>High-Level Design (HLD)</a:t>
            </a:r>
            <a:r>
              <a:rPr lang="en-IN" sz="2200" dirty="0" smtClean="0">
                <a:latin typeface="Times New Roman" pitchFamily="18" charset="0"/>
                <a:cs typeface="Times New Roman" pitchFamily="18" charset="0"/>
              </a:rPr>
              <a:t> → Break system into modules.</a:t>
            </a:r>
          </a:p>
          <a:p>
            <a:pPr>
              <a:buFont typeface="Wingdings" pitchFamily="2" charset="2"/>
              <a:buChar char="ü"/>
            </a:pPr>
            <a:r>
              <a:rPr lang="en-IN" sz="2200" b="1" dirty="0" smtClean="0">
                <a:latin typeface="Times New Roman" pitchFamily="18" charset="0"/>
                <a:cs typeface="Times New Roman" pitchFamily="18" charset="0"/>
              </a:rPr>
              <a:t>Low-Level Design (LLD)</a:t>
            </a:r>
            <a:r>
              <a:rPr lang="en-IN" sz="2200" dirty="0" smtClean="0">
                <a:latin typeface="Times New Roman" pitchFamily="18" charset="0"/>
                <a:cs typeface="Times New Roman" pitchFamily="18" charset="0"/>
              </a:rPr>
              <a:t> → Detailed design of each module.</a:t>
            </a:r>
          </a:p>
          <a:p>
            <a:pPr>
              <a:buFont typeface="Wingdings" pitchFamily="2" charset="2"/>
              <a:buChar char="ü"/>
            </a:pPr>
            <a:r>
              <a:rPr lang="en-IN" sz="2200" b="1" dirty="0" smtClean="0">
                <a:latin typeface="Times New Roman" pitchFamily="18" charset="0"/>
                <a:cs typeface="Times New Roman" pitchFamily="18" charset="0"/>
              </a:rPr>
              <a:t>Coding</a:t>
            </a:r>
            <a:r>
              <a:rPr lang="en-IN" sz="2200" dirty="0" smtClean="0">
                <a:latin typeface="Times New Roman" pitchFamily="18" charset="0"/>
                <a:cs typeface="Times New Roman" pitchFamily="18" charset="0"/>
              </a:rPr>
              <a:t> → Write actual code.</a:t>
            </a:r>
          </a:p>
          <a:p>
            <a:pPr>
              <a:buNone/>
            </a:pPr>
            <a:endParaRPr lang="en-IN" sz="2800" dirty="0" smtClean="0">
              <a:latin typeface="Times New Roman" pitchFamily="18" charset="0"/>
              <a:cs typeface="Times New Roman" pitchFamily="18" charset="0"/>
            </a:endParaRPr>
          </a:p>
          <a:p>
            <a:pPr>
              <a:buNone/>
            </a:pPr>
            <a:r>
              <a:rPr lang="en-IN" sz="2800" b="1" dirty="0" smtClean="0">
                <a:latin typeface="Times New Roman" pitchFamily="18" charset="0"/>
                <a:cs typeface="Times New Roman" pitchFamily="18" charset="0"/>
              </a:rPr>
              <a:t>2. Validation Phases (Right side of V)</a:t>
            </a:r>
          </a:p>
          <a:p>
            <a:pPr>
              <a:buFont typeface="Wingdings" pitchFamily="2" charset="2"/>
              <a:buChar char="ü"/>
            </a:pPr>
            <a:r>
              <a:rPr lang="en-IN" sz="2800" b="1" dirty="0" smtClean="0">
                <a:latin typeface="Times New Roman" pitchFamily="18" charset="0"/>
                <a:cs typeface="Times New Roman" pitchFamily="18" charset="0"/>
              </a:rPr>
              <a:t>Unit Testing</a:t>
            </a:r>
            <a:r>
              <a:rPr lang="en-IN" sz="2800" dirty="0" smtClean="0">
                <a:latin typeface="Times New Roman" pitchFamily="18" charset="0"/>
                <a:cs typeface="Times New Roman" pitchFamily="18" charset="0"/>
              </a:rPr>
              <a:t> → Test each module/program separately.</a:t>
            </a:r>
          </a:p>
          <a:p>
            <a:pPr>
              <a:buFont typeface="Wingdings" pitchFamily="2" charset="2"/>
              <a:buChar char="ü"/>
            </a:pPr>
            <a:r>
              <a:rPr lang="en-IN" sz="2800" b="1" dirty="0" smtClean="0">
                <a:latin typeface="Times New Roman" pitchFamily="18" charset="0"/>
                <a:cs typeface="Times New Roman" pitchFamily="18" charset="0"/>
              </a:rPr>
              <a:t>Integration Testing</a:t>
            </a:r>
            <a:r>
              <a:rPr lang="en-IN" sz="2800" dirty="0" smtClean="0">
                <a:latin typeface="Times New Roman" pitchFamily="18" charset="0"/>
                <a:cs typeface="Times New Roman" pitchFamily="18" charset="0"/>
              </a:rPr>
              <a:t> → Check modules working together.</a:t>
            </a:r>
          </a:p>
          <a:p>
            <a:pPr>
              <a:buFont typeface="Wingdings" pitchFamily="2" charset="2"/>
              <a:buChar char="ü"/>
            </a:pPr>
            <a:r>
              <a:rPr lang="en-IN" sz="2800" b="1" dirty="0" smtClean="0">
                <a:latin typeface="Times New Roman" pitchFamily="18" charset="0"/>
                <a:cs typeface="Times New Roman" pitchFamily="18" charset="0"/>
              </a:rPr>
              <a:t>System Testing</a:t>
            </a:r>
            <a:r>
              <a:rPr lang="en-IN" sz="2800" dirty="0" smtClean="0">
                <a:latin typeface="Times New Roman" pitchFamily="18" charset="0"/>
                <a:cs typeface="Times New Roman" pitchFamily="18" charset="0"/>
              </a:rPr>
              <a:t> → Test the complete system as per requirements.</a:t>
            </a:r>
          </a:p>
          <a:p>
            <a:pPr>
              <a:buFont typeface="Wingdings" pitchFamily="2" charset="2"/>
              <a:buChar char="ü"/>
            </a:pPr>
            <a:r>
              <a:rPr lang="en-IN" sz="2800" b="1" dirty="0" smtClean="0">
                <a:latin typeface="Times New Roman" pitchFamily="18" charset="0"/>
                <a:cs typeface="Times New Roman" pitchFamily="18" charset="0"/>
              </a:rPr>
              <a:t>Acceptance Testing</a:t>
            </a:r>
            <a:r>
              <a:rPr lang="en-IN" sz="2800" dirty="0" smtClean="0">
                <a:latin typeface="Times New Roman" pitchFamily="18" charset="0"/>
                <a:cs typeface="Times New Roman" pitchFamily="18" charset="0"/>
              </a:rPr>
              <a:t> → Validate system with end users.</a:t>
            </a:r>
          </a:p>
          <a:p>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endParaRPr lang="en-IN" dirty="0"/>
          </a:p>
        </p:txBody>
      </p:sp>
      <p:sp>
        <p:nvSpPr>
          <p:cNvPr id="3" name="Content Placeholder 2"/>
          <p:cNvSpPr>
            <a:spLocks noGrp="1"/>
          </p:cNvSpPr>
          <p:nvPr>
            <p:ph idx="1"/>
          </p:nvPr>
        </p:nvSpPr>
        <p:spPr>
          <a:xfrm>
            <a:off x="457200" y="304800"/>
            <a:ext cx="8229600" cy="6324600"/>
          </a:xfrm>
        </p:spPr>
        <p:txBody>
          <a:bodyPr>
            <a:normAutofit fontScale="92500" lnSpcReduction="10000"/>
          </a:bodyPr>
          <a:lstStyle/>
          <a:p>
            <a:pPr>
              <a:buFont typeface="Wingdings" pitchFamily="2" charset="2"/>
              <a:buChar char="§"/>
            </a:pPr>
            <a:endParaRPr lang="en-IN" sz="3400" dirty="0" smtClean="0">
              <a:latin typeface="Times New Roman" pitchFamily="18" charset="0"/>
              <a:cs typeface="Times New Roman" pitchFamily="18" charset="0"/>
            </a:endParaRPr>
          </a:p>
          <a:p>
            <a:pPr>
              <a:buNone/>
            </a:pPr>
            <a:r>
              <a:rPr lang="en-IN" sz="2400" b="1" dirty="0" smtClean="0">
                <a:solidFill>
                  <a:srgbClr val="C00000"/>
                </a:solidFill>
                <a:latin typeface="Times New Roman" pitchFamily="18" charset="0"/>
                <a:cs typeface="Times New Roman" pitchFamily="18" charset="0"/>
              </a:rPr>
              <a:t>Features</a:t>
            </a:r>
            <a:endParaRPr lang="en-IN" sz="2400" dirty="0" smtClean="0">
              <a:latin typeface="Times New Roman" pitchFamily="18" charset="0"/>
              <a:cs typeface="Times New Roman" pitchFamily="18" charset="0"/>
            </a:endParaRPr>
          </a:p>
          <a:p>
            <a:pPr algn="just">
              <a:buFont typeface="Wingdings" pitchFamily="2" charset="2"/>
              <a:buChar char="§"/>
            </a:pPr>
            <a:r>
              <a:rPr lang="en-IN" sz="2400" dirty="0" smtClean="0">
                <a:latin typeface="Times New Roman" pitchFamily="18" charset="0"/>
                <a:cs typeface="Times New Roman" pitchFamily="18" charset="0"/>
              </a:rPr>
              <a:t>Testing starts early, reducing chances of defects.</a:t>
            </a:r>
          </a:p>
          <a:p>
            <a:pPr algn="just">
              <a:buFont typeface="Wingdings" pitchFamily="2" charset="2"/>
              <a:buChar char="§"/>
            </a:pPr>
            <a:r>
              <a:rPr lang="en-IN" sz="2400" dirty="0" smtClean="0">
                <a:latin typeface="Times New Roman" pitchFamily="18" charset="0"/>
                <a:cs typeface="Times New Roman" pitchFamily="18" charset="0"/>
              </a:rPr>
              <a:t>Each stage must be completed before moving to the next.</a:t>
            </a:r>
          </a:p>
          <a:p>
            <a:pPr algn="just">
              <a:buFont typeface="Wingdings" pitchFamily="2" charset="2"/>
              <a:buChar char="§"/>
            </a:pPr>
            <a:r>
              <a:rPr lang="en-IN" sz="2400" dirty="0" smtClean="0">
                <a:latin typeface="Times New Roman" pitchFamily="18" charset="0"/>
                <a:cs typeface="Times New Roman" pitchFamily="18" charset="0"/>
              </a:rPr>
              <a:t>Very structured and sequential.</a:t>
            </a:r>
          </a:p>
          <a:p>
            <a:pPr algn="just">
              <a:buFont typeface="Wingdings" pitchFamily="2" charset="2"/>
              <a:buChar char="§"/>
            </a:pPr>
            <a:endParaRPr lang="en-IN" sz="2400" dirty="0" smtClean="0">
              <a:latin typeface="Times New Roman" pitchFamily="18" charset="0"/>
              <a:cs typeface="Times New Roman" pitchFamily="18" charset="0"/>
            </a:endParaRPr>
          </a:p>
          <a:p>
            <a:pPr algn="just">
              <a:buNone/>
            </a:pPr>
            <a:r>
              <a:rPr lang="en-IN" sz="2400" b="1" dirty="0" smtClean="0">
                <a:solidFill>
                  <a:srgbClr val="C00000"/>
                </a:solidFill>
                <a:latin typeface="Times New Roman" pitchFamily="18" charset="0"/>
                <a:cs typeface="Times New Roman" pitchFamily="18" charset="0"/>
              </a:rPr>
              <a:t>Advantages</a:t>
            </a:r>
          </a:p>
          <a:p>
            <a:pPr algn="just">
              <a:buFont typeface="Wingdings" pitchFamily="2" charset="2"/>
              <a:buChar char="§"/>
            </a:pPr>
            <a:r>
              <a:rPr lang="en-IN" sz="2400" dirty="0" smtClean="0">
                <a:latin typeface="Times New Roman" pitchFamily="18" charset="0"/>
                <a:cs typeface="Times New Roman" pitchFamily="18" charset="0"/>
              </a:rPr>
              <a:t>Early detection of defects (since testing runs in parallel).</a:t>
            </a:r>
          </a:p>
          <a:p>
            <a:pPr algn="just">
              <a:buFont typeface="Wingdings" pitchFamily="2" charset="2"/>
              <a:buChar char="§"/>
            </a:pPr>
            <a:r>
              <a:rPr lang="en-IN" sz="2400" dirty="0" smtClean="0">
                <a:latin typeface="Times New Roman" pitchFamily="18" charset="0"/>
                <a:cs typeface="Times New Roman" pitchFamily="18" charset="0"/>
              </a:rPr>
              <a:t>Clear deliverables at each phase.</a:t>
            </a:r>
          </a:p>
          <a:p>
            <a:pPr algn="just">
              <a:buFont typeface="Wingdings" pitchFamily="2" charset="2"/>
              <a:buChar char="§"/>
            </a:pPr>
            <a:r>
              <a:rPr lang="en-IN" sz="2400" dirty="0" smtClean="0">
                <a:latin typeface="Times New Roman" pitchFamily="18" charset="0"/>
                <a:cs typeface="Times New Roman" pitchFamily="18" charset="0"/>
              </a:rPr>
              <a:t>Suitable for small to medium projects with well-defined requirements.</a:t>
            </a:r>
          </a:p>
          <a:p>
            <a:pPr algn="just">
              <a:buFont typeface="Wingdings" pitchFamily="2" charset="2"/>
              <a:buChar char="§"/>
            </a:pPr>
            <a:endParaRPr lang="en-IN" sz="2400" dirty="0" smtClean="0">
              <a:latin typeface="Times New Roman" pitchFamily="18" charset="0"/>
              <a:cs typeface="Times New Roman" pitchFamily="18" charset="0"/>
            </a:endParaRPr>
          </a:p>
          <a:p>
            <a:pPr algn="just">
              <a:buNone/>
            </a:pPr>
            <a:r>
              <a:rPr lang="en-IN" sz="2400" b="1" dirty="0" smtClean="0">
                <a:solidFill>
                  <a:srgbClr val="C00000"/>
                </a:solidFill>
                <a:latin typeface="Times New Roman" pitchFamily="18" charset="0"/>
                <a:cs typeface="Times New Roman" pitchFamily="18" charset="0"/>
              </a:rPr>
              <a:t>Disadvantages</a:t>
            </a:r>
          </a:p>
          <a:p>
            <a:pPr algn="just">
              <a:buFont typeface="Wingdings" pitchFamily="2" charset="2"/>
              <a:buChar char="§"/>
            </a:pPr>
            <a:r>
              <a:rPr lang="en-IN" sz="2400" dirty="0" smtClean="0">
                <a:latin typeface="Times New Roman" pitchFamily="18" charset="0"/>
                <a:cs typeface="Times New Roman" pitchFamily="18" charset="0"/>
              </a:rPr>
              <a:t>Rigid, not flexible for changes once the process starts.</a:t>
            </a:r>
          </a:p>
          <a:p>
            <a:pPr algn="just">
              <a:buFont typeface="Wingdings" pitchFamily="2" charset="2"/>
              <a:buChar char="§"/>
            </a:pPr>
            <a:r>
              <a:rPr lang="en-IN" sz="2400" dirty="0" smtClean="0">
                <a:latin typeface="Times New Roman" pitchFamily="18" charset="0"/>
                <a:cs typeface="Times New Roman" pitchFamily="18" charset="0"/>
              </a:rPr>
              <a:t>High cost if changes are needed later.</a:t>
            </a:r>
          </a:p>
          <a:p>
            <a:pPr algn="just">
              <a:buFont typeface="Wingdings" pitchFamily="2" charset="2"/>
              <a:buChar char="§"/>
            </a:pPr>
            <a:r>
              <a:rPr lang="en-IN" sz="2400" dirty="0" smtClean="0">
                <a:latin typeface="Times New Roman" pitchFamily="18" charset="0"/>
                <a:cs typeface="Times New Roman" pitchFamily="18" charset="0"/>
              </a:rPr>
              <a:t>Not ideal for projects with evolving requirements.</a:t>
            </a:r>
          </a:p>
          <a:p>
            <a:endParaRPr lang="en-I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sz="2700" b="1" dirty="0" smtClean="0">
                <a:solidFill>
                  <a:srgbClr val="C00000"/>
                </a:solidFill>
                <a:latin typeface="Times New Roman" pitchFamily="18" charset="0"/>
                <a:cs typeface="Times New Roman" pitchFamily="18" charset="0"/>
              </a:rPr>
              <a:t>Example of V-Model</a:t>
            </a:r>
            <a:br>
              <a:rPr lang="en-IN" sz="2700" b="1" dirty="0" smtClean="0">
                <a:solidFill>
                  <a:srgbClr val="C00000"/>
                </a:solidFill>
                <a:latin typeface="Times New Roman" pitchFamily="18" charset="0"/>
                <a:cs typeface="Times New Roman" pitchFamily="18" charset="0"/>
              </a:rPr>
            </a:br>
            <a:r>
              <a:rPr lang="en-IN" sz="2700" dirty="0" smtClean="0">
                <a:solidFill>
                  <a:srgbClr val="C00000"/>
                </a:solidFill>
                <a:latin typeface="Times New Roman" pitchFamily="18" charset="0"/>
                <a:cs typeface="Times New Roman" pitchFamily="18" charset="0"/>
              </a:rPr>
              <a:t>Let’s take the example of developing a </a:t>
            </a:r>
            <a:r>
              <a:rPr lang="en-IN" sz="2700" b="1" dirty="0" smtClean="0">
                <a:solidFill>
                  <a:srgbClr val="C00000"/>
                </a:solidFill>
                <a:latin typeface="Times New Roman" pitchFamily="18" charset="0"/>
                <a:cs typeface="Times New Roman" pitchFamily="18" charset="0"/>
              </a:rPr>
              <a:t>Bank ATM System</a:t>
            </a:r>
            <a:r>
              <a:rPr lang="en-IN" sz="2700" dirty="0" smtClean="0">
                <a:solidFill>
                  <a:srgbClr val="C00000"/>
                </a:solidFill>
                <a:latin typeface="Times New Roman" pitchFamily="18" charset="0"/>
                <a:cs typeface="Times New Roman" pitchFamily="18" charset="0"/>
              </a:rPr>
              <a:t>.</a:t>
            </a:r>
            <a:r>
              <a:rPr lang="en-IN" dirty="0" smtClean="0"/>
              <a:t/>
            </a:r>
            <a:br>
              <a:rPr lang="en-IN" dirty="0" smtClean="0"/>
            </a:br>
            <a:endParaRPr lang="en-IN" dirty="0"/>
          </a:p>
        </p:txBody>
      </p:sp>
      <p:sp>
        <p:nvSpPr>
          <p:cNvPr id="3" name="Content Placeholder 2"/>
          <p:cNvSpPr>
            <a:spLocks noGrp="1"/>
          </p:cNvSpPr>
          <p:nvPr>
            <p:ph idx="1"/>
          </p:nvPr>
        </p:nvSpPr>
        <p:spPr>
          <a:xfrm>
            <a:off x="457200" y="1219200"/>
            <a:ext cx="8229600" cy="5334000"/>
          </a:xfrm>
        </p:spPr>
        <p:txBody>
          <a:bodyPr>
            <a:normAutofit fontScale="70000" lnSpcReduction="20000"/>
          </a:bodyPr>
          <a:lstStyle/>
          <a:p>
            <a:pPr>
              <a:buNone/>
            </a:pPr>
            <a:r>
              <a:rPr lang="en-IN" b="1" dirty="0" smtClean="0">
                <a:latin typeface="Times New Roman" pitchFamily="18" charset="0"/>
                <a:cs typeface="Times New Roman" pitchFamily="18" charset="0"/>
              </a:rPr>
              <a:t>Verification Side (Development)</a:t>
            </a:r>
          </a:p>
          <a:p>
            <a:pPr>
              <a:buNone/>
            </a:pPr>
            <a:r>
              <a:rPr lang="en-IN" b="1" dirty="0" smtClean="0">
                <a:latin typeface="Times New Roman" pitchFamily="18" charset="0"/>
                <a:cs typeface="Times New Roman" pitchFamily="18" charset="0"/>
              </a:rPr>
              <a:t>Requirement Analysis</a:t>
            </a:r>
            <a:endParaRPr lang="en-IN" dirty="0" smtClean="0">
              <a:latin typeface="Times New Roman" pitchFamily="18" charset="0"/>
              <a:cs typeface="Times New Roman" pitchFamily="18" charset="0"/>
            </a:endParaRPr>
          </a:p>
          <a:p>
            <a:pPr lvl="1">
              <a:buNone/>
            </a:pPr>
            <a:r>
              <a:rPr lang="en-IN" dirty="0" smtClean="0">
                <a:latin typeface="Times New Roman" pitchFamily="18" charset="0"/>
                <a:cs typeface="Times New Roman" pitchFamily="18" charset="0"/>
              </a:rPr>
              <a:t>ATM must allow cash withdrawal, balance check, and pin change.</a:t>
            </a:r>
          </a:p>
          <a:p>
            <a:pPr lvl="1">
              <a:buNone/>
            </a:pPr>
            <a:r>
              <a:rPr lang="en-IN" dirty="0" smtClean="0">
                <a:latin typeface="Times New Roman" pitchFamily="18" charset="0"/>
                <a:cs typeface="Times New Roman" pitchFamily="18" charset="0"/>
              </a:rPr>
              <a:t>Only authorized users should be able to access their account.</a:t>
            </a:r>
          </a:p>
          <a:p>
            <a:pPr>
              <a:buNone/>
            </a:pPr>
            <a:r>
              <a:rPr lang="en-IN" b="1" dirty="0" smtClean="0">
                <a:latin typeface="Times New Roman" pitchFamily="18" charset="0"/>
                <a:cs typeface="Times New Roman" pitchFamily="18" charset="0"/>
              </a:rPr>
              <a:t>System Design</a:t>
            </a:r>
            <a:endParaRPr lang="en-IN" dirty="0" smtClean="0">
              <a:latin typeface="Times New Roman" pitchFamily="18" charset="0"/>
              <a:cs typeface="Times New Roman" pitchFamily="18" charset="0"/>
            </a:endParaRPr>
          </a:p>
          <a:p>
            <a:pPr lvl="1">
              <a:buNone/>
            </a:pPr>
            <a:r>
              <a:rPr lang="en-IN" dirty="0" smtClean="0">
                <a:latin typeface="Times New Roman" pitchFamily="18" charset="0"/>
                <a:cs typeface="Times New Roman" pitchFamily="18" charset="0"/>
              </a:rPr>
              <a:t>System needs card reader, user interface, cash dispenser, printer.</a:t>
            </a:r>
          </a:p>
          <a:p>
            <a:pPr lvl="1">
              <a:buNone/>
            </a:pPr>
            <a:r>
              <a:rPr lang="en-IN" dirty="0" smtClean="0">
                <a:latin typeface="Times New Roman" pitchFamily="18" charset="0"/>
                <a:cs typeface="Times New Roman" pitchFamily="18" charset="0"/>
              </a:rPr>
              <a:t>Software must interact with bank’s central server.</a:t>
            </a:r>
          </a:p>
          <a:p>
            <a:pPr>
              <a:buNone/>
            </a:pPr>
            <a:r>
              <a:rPr lang="en-IN" b="1" dirty="0" smtClean="0">
                <a:latin typeface="Times New Roman" pitchFamily="18" charset="0"/>
                <a:cs typeface="Times New Roman" pitchFamily="18" charset="0"/>
              </a:rPr>
              <a:t>High-Level Design (HLD)</a:t>
            </a:r>
            <a:endParaRPr lang="en-IN" dirty="0" smtClean="0">
              <a:latin typeface="Times New Roman" pitchFamily="18" charset="0"/>
              <a:cs typeface="Times New Roman" pitchFamily="18" charset="0"/>
            </a:endParaRPr>
          </a:p>
          <a:p>
            <a:pPr lvl="1">
              <a:buNone/>
            </a:pPr>
            <a:r>
              <a:rPr lang="en-IN" dirty="0" smtClean="0">
                <a:latin typeface="Times New Roman" pitchFamily="18" charset="0"/>
                <a:cs typeface="Times New Roman" pitchFamily="18" charset="0"/>
              </a:rPr>
              <a:t>Divide into modules: Authentication, Transaction Processing, Account Management, Reporting.</a:t>
            </a:r>
          </a:p>
          <a:p>
            <a:pPr>
              <a:buNone/>
            </a:pPr>
            <a:r>
              <a:rPr lang="en-IN" b="1" dirty="0" smtClean="0">
                <a:latin typeface="Times New Roman" pitchFamily="18" charset="0"/>
                <a:cs typeface="Times New Roman" pitchFamily="18" charset="0"/>
              </a:rPr>
              <a:t>Low-Level Design (LLD)</a:t>
            </a:r>
            <a:endParaRPr lang="en-IN" dirty="0" smtClean="0">
              <a:latin typeface="Times New Roman" pitchFamily="18" charset="0"/>
              <a:cs typeface="Times New Roman" pitchFamily="18" charset="0"/>
            </a:endParaRPr>
          </a:p>
          <a:p>
            <a:pPr lvl="1">
              <a:buNone/>
            </a:pPr>
            <a:r>
              <a:rPr lang="en-IN" dirty="0" smtClean="0">
                <a:latin typeface="Times New Roman" pitchFamily="18" charset="0"/>
                <a:cs typeface="Times New Roman" pitchFamily="18" charset="0"/>
              </a:rPr>
              <a:t>Authentication → Verify PIN logic.</a:t>
            </a:r>
          </a:p>
          <a:p>
            <a:pPr lvl="1">
              <a:buNone/>
            </a:pPr>
            <a:r>
              <a:rPr lang="en-IN" dirty="0" smtClean="0">
                <a:latin typeface="Times New Roman" pitchFamily="18" charset="0"/>
                <a:cs typeface="Times New Roman" pitchFamily="18" charset="0"/>
              </a:rPr>
              <a:t>Transaction Processing → Debit amount logic, update balance.</a:t>
            </a:r>
          </a:p>
          <a:p>
            <a:pPr lvl="1">
              <a:buNone/>
            </a:pPr>
            <a:r>
              <a:rPr lang="en-IN" dirty="0" smtClean="0">
                <a:latin typeface="Times New Roman" pitchFamily="18" charset="0"/>
                <a:cs typeface="Times New Roman" pitchFamily="18" charset="0"/>
              </a:rPr>
              <a:t>Printer → Generate receipt format.</a:t>
            </a:r>
          </a:p>
          <a:p>
            <a:pPr>
              <a:buNone/>
            </a:pPr>
            <a:r>
              <a:rPr lang="en-IN" b="1" dirty="0" smtClean="0">
                <a:latin typeface="Times New Roman" pitchFamily="18" charset="0"/>
                <a:cs typeface="Times New Roman" pitchFamily="18" charset="0"/>
              </a:rPr>
              <a:t>Coding</a:t>
            </a:r>
            <a:endParaRPr lang="en-IN" dirty="0" smtClean="0">
              <a:latin typeface="Times New Roman" pitchFamily="18" charset="0"/>
              <a:cs typeface="Times New Roman" pitchFamily="18" charset="0"/>
            </a:endParaRPr>
          </a:p>
          <a:p>
            <a:pPr lvl="1">
              <a:buNone/>
            </a:pPr>
            <a:r>
              <a:rPr lang="en-IN" dirty="0" smtClean="0">
                <a:latin typeface="Times New Roman" pitchFamily="18" charset="0"/>
                <a:cs typeface="Times New Roman" pitchFamily="18" charset="0"/>
              </a:rPr>
              <a:t>Developers write C++/Java/Python programs for each module.</a:t>
            </a:r>
          </a:p>
          <a:p>
            <a:endParaRPr lang="en-I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82000" cy="6324600"/>
          </a:xfrm>
        </p:spPr>
        <p:txBody>
          <a:bodyPr>
            <a:normAutofit fontScale="62500" lnSpcReduction="20000"/>
          </a:bodyPr>
          <a:lstStyle/>
          <a:p>
            <a:pPr>
              <a:buNone/>
            </a:pPr>
            <a:r>
              <a:rPr lang="en-IN" sz="5100" b="1" dirty="0" smtClean="0">
                <a:solidFill>
                  <a:srgbClr val="C00000"/>
                </a:solidFill>
                <a:latin typeface="Times New Roman" pitchFamily="18" charset="0"/>
                <a:cs typeface="Times New Roman" pitchFamily="18" charset="0"/>
              </a:rPr>
              <a:t>Validation Side (Testing)</a:t>
            </a:r>
          </a:p>
          <a:p>
            <a:pPr>
              <a:buNone/>
            </a:pPr>
            <a:endParaRPr lang="en-IN" sz="4400" b="1" dirty="0" smtClean="0">
              <a:latin typeface="Times New Roman" pitchFamily="18" charset="0"/>
              <a:cs typeface="Times New Roman" pitchFamily="18" charset="0"/>
            </a:endParaRPr>
          </a:p>
          <a:p>
            <a:pPr>
              <a:buNone/>
            </a:pPr>
            <a:r>
              <a:rPr lang="en-IN" sz="4400" b="1" dirty="0" smtClean="0">
                <a:latin typeface="Times New Roman" pitchFamily="18" charset="0"/>
                <a:cs typeface="Times New Roman" pitchFamily="18" charset="0"/>
              </a:rPr>
              <a:t>Unit Testing</a:t>
            </a:r>
            <a:endParaRPr lang="en-IN" sz="4400" dirty="0" smtClean="0">
              <a:latin typeface="Times New Roman" pitchFamily="18" charset="0"/>
              <a:cs typeface="Times New Roman" pitchFamily="18" charset="0"/>
            </a:endParaRPr>
          </a:p>
          <a:p>
            <a:pPr lvl="1">
              <a:buFont typeface="Wingdings" pitchFamily="2" charset="2"/>
              <a:buChar char="ü"/>
            </a:pPr>
            <a:r>
              <a:rPr lang="en-IN" sz="3600" dirty="0" smtClean="0">
                <a:latin typeface="Times New Roman" pitchFamily="18" charset="0"/>
                <a:cs typeface="Times New Roman" pitchFamily="18" charset="0"/>
              </a:rPr>
              <a:t>Test only </a:t>
            </a:r>
            <a:r>
              <a:rPr lang="en-IN" sz="3600" b="1" dirty="0" smtClean="0">
                <a:latin typeface="Times New Roman" pitchFamily="18" charset="0"/>
                <a:cs typeface="Times New Roman" pitchFamily="18" charset="0"/>
              </a:rPr>
              <a:t>Authentication module</a:t>
            </a:r>
            <a:r>
              <a:rPr lang="en-IN" sz="3600" dirty="0" smtClean="0">
                <a:latin typeface="Times New Roman" pitchFamily="18" charset="0"/>
                <a:cs typeface="Times New Roman" pitchFamily="18" charset="0"/>
              </a:rPr>
              <a:t> (correct PIN, wrong PIN).</a:t>
            </a:r>
          </a:p>
          <a:p>
            <a:pPr lvl="1">
              <a:buFont typeface="Wingdings" pitchFamily="2" charset="2"/>
              <a:buChar char="ü"/>
            </a:pPr>
            <a:r>
              <a:rPr lang="en-IN" sz="3600" dirty="0" smtClean="0">
                <a:latin typeface="Times New Roman" pitchFamily="18" charset="0"/>
                <a:cs typeface="Times New Roman" pitchFamily="18" charset="0"/>
              </a:rPr>
              <a:t>Test </a:t>
            </a:r>
            <a:r>
              <a:rPr lang="en-IN" sz="3600" b="1" dirty="0" smtClean="0">
                <a:latin typeface="Times New Roman" pitchFamily="18" charset="0"/>
                <a:cs typeface="Times New Roman" pitchFamily="18" charset="0"/>
              </a:rPr>
              <a:t>Transaction module</a:t>
            </a:r>
            <a:r>
              <a:rPr lang="en-IN" sz="3600" dirty="0" smtClean="0">
                <a:latin typeface="Times New Roman" pitchFamily="18" charset="0"/>
                <a:cs typeface="Times New Roman" pitchFamily="18" charset="0"/>
              </a:rPr>
              <a:t> (withdrawal, insufficient balance).</a:t>
            </a:r>
          </a:p>
          <a:p>
            <a:pPr>
              <a:buNone/>
            </a:pPr>
            <a:r>
              <a:rPr lang="en-IN" sz="4400" b="1" dirty="0" smtClean="0">
                <a:latin typeface="Times New Roman" pitchFamily="18" charset="0"/>
                <a:cs typeface="Times New Roman" pitchFamily="18" charset="0"/>
              </a:rPr>
              <a:t>Integration Testing</a:t>
            </a:r>
            <a:endParaRPr lang="en-IN" sz="4400" dirty="0" smtClean="0">
              <a:latin typeface="Times New Roman" pitchFamily="18" charset="0"/>
              <a:cs typeface="Times New Roman" pitchFamily="18" charset="0"/>
            </a:endParaRPr>
          </a:p>
          <a:p>
            <a:pPr lvl="1">
              <a:buFont typeface="Wingdings" pitchFamily="2" charset="2"/>
              <a:buChar char="ü"/>
            </a:pPr>
            <a:r>
              <a:rPr lang="en-IN" sz="3600" dirty="0" smtClean="0">
                <a:latin typeface="Times New Roman" pitchFamily="18" charset="0"/>
                <a:cs typeface="Times New Roman" pitchFamily="18" charset="0"/>
              </a:rPr>
              <a:t>Combine Authentication + Transaction modules.</a:t>
            </a:r>
          </a:p>
          <a:p>
            <a:pPr lvl="1">
              <a:buFont typeface="Wingdings" pitchFamily="2" charset="2"/>
              <a:buChar char="ü"/>
            </a:pPr>
            <a:r>
              <a:rPr lang="en-IN" sz="3600" dirty="0" smtClean="0">
                <a:latin typeface="Times New Roman" pitchFamily="18" charset="0"/>
                <a:cs typeface="Times New Roman" pitchFamily="18" charset="0"/>
              </a:rPr>
              <a:t>Test flow: Insert card → Enter PIN → Withdraw money → Update balance.</a:t>
            </a:r>
          </a:p>
          <a:p>
            <a:pPr>
              <a:buNone/>
            </a:pPr>
            <a:r>
              <a:rPr lang="en-IN" sz="4400" b="1" dirty="0" smtClean="0">
                <a:latin typeface="Times New Roman" pitchFamily="18" charset="0"/>
                <a:cs typeface="Times New Roman" pitchFamily="18" charset="0"/>
              </a:rPr>
              <a:t>System Testing</a:t>
            </a:r>
            <a:endParaRPr lang="en-IN" sz="4400" dirty="0" smtClean="0">
              <a:latin typeface="Times New Roman" pitchFamily="18" charset="0"/>
              <a:cs typeface="Times New Roman" pitchFamily="18" charset="0"/>
            </a:endParaRPr>
          </a:p>
          <a:p>
            <a:pPr lvl="1">
              <a:buFont typeface="Wingdings" pitchFamily="2" charset="2"/>
              <a:buChar char="ü"/>
            </a:pPr>
            <a:r>
              <a:rPr lang="en-IN" sz="3600" dirty="0" smtClean="0">
                <a:latin typeface="Times New Roman" pitchFamily="18" charset="0"/>
                <a:cs typeface="Times New Roman" pitchFamily="18" charset="0"/>
              </a:rPr>
              <a:t>Test entire ATM system with all features (withdraw, balance enquiry, pin change, receipt printing).</a:t>
            </a:r>
          </a:p>
          <a:p>
            <a:pPr>
              <a:buNone/>
            </a:pPr>
            <a:r>
              <a:rPr lang="en-IN" sz="4400" b="1" dirty="0" smtClean="0">
                <a:latin typeface="Times New Roman" pitchFamily="18" charset="0"/>
                <a:cs typeface="Times New Roman" pitchFamily="18" charset="0"/>
              </a:rPr>
              <a:t>Acceptance Testing</a:t>
            </a:r>
            <a:endParaRPr lang="en-IN" sz="4400" dirty="0" smtClean="0">
              <a:latin typeface="Times New Roman" pitchFamily="18" charset="0"/>
              <a:cs typeface="Times New Roman" pitchFamily="18" charset="0"/>
            </a:endParaRPr>
          </a:p>
          <a:p>
            <a:pPr lvl="1">
              <a:buFont typeface="Wingdings" pitchFamily="2" charset="2"/>
              <a:buChar char="ü"/>
            </a:pPr>
            <a:r>
              <a:rPr lang="en-IN" sz="3600" dirty="0" smtClean="0">
                <a:latin typeface="Times New Roman" pitchFamily="18" charset="0"/>
                <a:cs typeface="Times New Roman" pitchFamily="18" charset="0"/>
              </a:rPr>
              <a:t>Bank staff and a few real users test the ATM to check if it works as expected in real scenarios.</a:t>
            </a:r>
          </a:p>
          <a:p>
            <a:endParaRPr lang="en-I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Summary</a:t>
            </a:r>
            <a:r>
              <a:rPr lang="en-IN" b="1" dirty="0" smtClean="0"/>
              <a:t/>
            </a:r>
            <a:br>
              <a:rPr lang="en-IN" b="1" dirty="0" smtClean="0"/>
            </a:br>
            <a:endParaRPr lang="en-IN" dirty="0"/>
          </a:p>
        </p:txBody>
      </p:sp>
      <p:sp>
        <p:nvSpPr>
          <p:cNvPr id="3" name="Content Placeholder 2"/>
          <p:cNvSpPr>
            <a:spLocks noGrp="1"/>
          </p:cNvSpPr>
          <p:nvPr>
            <p:ph idx="1"/>
          </p:nvPr>
        </p:nvSpPr>
        <p:spPr>
          <a:xfrm>
            <a:off x="457200" y="914400"/>
            <a:ext cx="8229600" cy="5211763"/>
          </a:xfrm>
        </p:spPr>
        <p:txBody>
          <a:bodyPr>
            <a:normAutofit/>
          </a:bodyPr>
          <a:lstStyle/>
          <a:p>
            <a:pPr algn="just"/>
            <a:r>
              <a:rPr lang="en-IN" sz="2000" dirty="0" smtClean="0">
                <a:latin typeface="Times New Roman" pitchFamily="18" charset="0"/>
                <a:cs typeface="Times New Roman" pitchFamily="18" charset="0"/>
              </a:rPr>
              <a:t>The </a:t>
            </a:r>
            <a:r>
              <a:rPr lang="en-IN" sz="2000" b="1" dirty="0" smtClean="0">
                <a:latin typeface="Times New Roman" pitchFamily="18" charset="0"/>
                <a:cs typeface="Times New Roman" pitchFamily="18" charset="0"/>
              </a:rPr>
              <a:t>V-Model</a:t>
            </a:r>
            <a:r>
              <a:rPr lang="en-IN" sz="2000" dirty="0" smtClean="0">
                <a:latin typeface="Times New Roman" pitchFamily="18" charset="0"/>
                <a:cs typeface="Times New Roman" pitchFamily="18" charset="0"/>
              </a:rPr>
              <a:t> ensures that for every </a:t>
            </a:r>
            <a:r>
              <a:rPr lang="en-IN" sz="2000" b="1" dirty="0" smtClean="0">
                <a:latin typeface="Times New Roman" pitchFamily="18" charset="0"/>
                <a:cs typeface="Times New Roman" pitchFamily="18" charset="0"/>
              </a:rPr>
              <a:t>development activity</a:t>
            </a:r>
            <a:r>
              <a:rPr lang="en-IN" sz="2000" dirty="0" smtClean="0">
                <a:latin typeface="Times New Roman" pitchFamily="18" charset="0"/>
                <a:cs typeface="Times New Roman" pitchFamily="18" charset="0"/>
              </a:rPr>
              <a:t> (requirements, design, coding), there is a </a:t>
            </a:r>
            <a:r>
              <a:rPr lang="en-IN" sz="2000" b="1" dirty="0" smtClean="0">
                <a:latin typeface="Times New Roman" pitchFamily="18" charset="0"/>
                <a:cs typeface="Times New Roman" pitchFamily="18" charset="0"/>
              </a:rPr>
              <a:t>matching test activity</a:t>
            </a:r>
            <a:r>
              <a:rPr lang="en-IN" sz="2000" dirty="0" smtClean="0">
                <a:latin typeface="Times New Roman" pitchFamily="18" charset="0"/>
                <a:cs typeface="Times New Roman" pitchFamily="18" charset="0"/>
              </a:rPr>
              <a:t> (acceptance test, system test, integration test, unit test).</a:t>
            </a:r>
          </a:p>
          <a:p>
            <a:pPr algn="just"/>
            <a:endParaRPr lang="en-IN" sz="2000" dirty="0" smtClean="0">
              <a:latin typeface="Times New Roman" pitchFamily="18" charset="0"/>
              <a:cs typeface="Times New Roman" pitchFamily="18" charset="0"/>
            </a:endParaRPr>
          </a:p>
          <a:p>
            <a:pPr algn="just">
              <a:buNone/>
            </a:pPr>
            <a:r>
              <a:rPr lang="en-IN" sz="2000" dirty="0" smtClean="0">
                <a:latin typeface="Times New Roman" pitchFamily="18" charset="0"/>
                <a:cs typeface="Times New Roman" pitchFamily="18" charset="0"/>
              </a:rPr>
              <a:t>In our </a:t>
            </a:r>
            <a:r>
              <a:rPr lang="en-IN" sz="2000" b="1" dirty="0" smtClean="0">
                <a:latin typeface="Times New Roman" pitchFamily="18" charset="0"/>
                <a:cs typeface="Times New Roman" pitchFamily="18" charset="0"/>
              </a:rPr>
              <a:t>ATM System Example</a:t>
            </a:r>
            <a:r>
              <a:rPr lang="en-IN" sz="2000" dirty="0" smtClean="0">
                <a:latin typeface="Times New Roman" pitchFamily="18" charset="0"/>
                <a:cs typeface="Times New Roman" pitchFamily="18" charset="0"/>
              </a:rPr>
              <a:t>,</a:t>
            </a:r>
          </a:p>
          <a:p>
            <a:pPr algn="just">
              <a:buNone/>
            </a:pPr>
            <a:endParaRPr lang="en-IN" sz="2000" dirty="0" smtClean="0">
              <a:latin typeface="Times New Roman" pitchFamily="18" charset="0"/>
              <a:cs typeface="Times New Roman" pitchFamily="18" charset="0"/>
            </a:endParaRPr>
          </a:p>
          <a:p>
            <a:pPr algn="just">
              <a:buFont typeface="Wingdings" pitchFamily="2" charset="2"/>
              <a:buChar char="ü"/>
            </a:pPr>
            <a:r>
              <a:rPr lang="en-IN" sz="2000" dirty="0" smtClean="0">
                <a:latin typeface="Times New Roman" pitchFamily="18" charset="0"/>
                <a:cs typeface="Times New Roman" pitchFamily="18" charset="0"/>
              </a:rPr>
              <a:t>Requirements were validated in </a:t>
            </a:r>
            <a:r>
              <a:rPr lang="en-IN" sz="2000" b="1" dirty="0" smtClean="0">
                <a:latin typeface="Times New Roman" pitchFamily="18" charset="0"/>
                <a:cs typeface="Times New Roman" pitchFamily="18" charset="0"/>
              </a:rPr>
              <a:t>acceptance testing</a:t>
            </a:r>
            <a:r>
              <a:rPr lang="en-IN" sz="2000" dirty="0" smtClean="0">
                <a:latin typeface="Times New Roman" pitchFamily="18" charset="0"/>
                <a:cs typeface="Times New Roman" pitchFamily="18" charset="0"/>
              </a:rPr>
              <a:t>,</a:t>
            </a:r>
          </a:p>
          <a:p>
            <a:pPr algn="just">
              <a:buFont typeface="Wingdings" pitchFamily="2" charset="2"/>
              <a:buChar char="ü"/>
            </a:pPr>
            <a:r>
              <a:rPr lang="en-IN" sz="2000" dirty="0" smtClean="0">
                <a:latin typeface="Times New Roman" pitchFamily="18" charset="0"/>
                <a:cs typeface="Times New Roman" pitchFamily="18" charset="0"/>
              </a:rPr>
              <a:t>System design was validated in </a:t>
            </a:r>
            <a:r>
              <a:rPr lang="en-IN" sz="2000" b="1" dirty="0" smtClean="0">
                <a:latin typeface="Times New Roman" pitchFamily="18" charset="0"/>
                <a:cs typeface="Times New Roman" pitchFamily="18" charset="0"/>
              </a:rPr>
              <a:t>system testing</a:t>
            </a:r>
            <a:r>
              <a:rPr lang="en-IN" sz="2000" dirty="0" smtClean="0">
                <a:latin typeface="Times New Roman" pitchFamily="18" charset="0"/>
                <a:cs typeface="Times New Roman" pitchFamily="18" charset="0"/>
              </a:rPr>
              <a:t>,</a:t>
            </a:r>
          </a:p>
          <a:p>
            <a:pPr algn="just">
              <a:buFont typeface="Wingdings" pitchFamily="2" charset="2"/>
              <a:buChar char="ü"/>
            </a:pPr>
            <a:r>
              <a:rPr lang="en-IN" sz="2000" dirty="0" smtClean="0">
                <a:latin typeface="Times New Roman" pitchFamily="18" charset="0"/>
                <a:cs typeface="Times New Roman" pitchFamily="18" charset="0"/>
              </a:rPr>
              <a:t>HLD was validated in </a:t>
            </a:r>
            <a:r>
              <a:rPr lang="en-IN" sz="2000" b="1" dirty="0" smtClean="0">
                <a:latin typeface="Times New Roman" pitchFamily="18" charset="0"/>
                <a:cs typeface="Times New Roman" pitchFamily="18" charset="0"/>
              </a:rPr>
              <a:t>integration testing</a:t>
            </a:r>
            <a:r>
              <a:rPr lang="en-IN" sz="2000" dirty="0" smtClean="0">
                <a:latin typeface="Times New Roman" pitchFamily="18" charset="0"/>
                <a:cs typeface="Times New Roman" pitchFamily="18" charset="0"/>
              </a:rPr>
              <a:t>,</a:t>
            </a:r>
          </a:p>
          <a:p>
            <a:pPr algn="just">
              <a:buFont typeface="Wingdings" pitchFamily="2" charset="2"/>
              <a:buChar char="ü"/>
            </a:pPr>
            <a:r>
              <a:rPr lang="en-IN" sz="2000" dirty="0" smtClean="0">
                <a:latin typeface="Times New Roman" pitchFamily="18" charset="0"/>
                <a:cs typeface="Times New Roman" pitchFamily="18" charset="0"/>
              </a:rPr>
              <a:t>LLD was validated in </a:t>
            </a:r>
            <a:r>
              <a:rPr lang="en-IN" sz="2000" b="1" dirty="0" smtClean="0">
                <a:latin typeface="Times New Roman" pitchFamily="18" charset="0"/>
                <a:cs typeface="Times New Roman" pitchFamily="18" charset="0"/>
              </a:rPr>
              <a:t>unit testing</a:t>
            </a:r>
            <a:r>
              <a:rPr lang="en-IN" sz="2000" dirty="0" smtClean="0">
                <a:latin typeface="Times New Roman" pitchFamily="18" charset="0"/>
                <a:cs typeface="Times New Roman" pitchFamily="18" charset="0"/>
              </a:rPr>
              <a:t>.</a:t>
            </a:r>
          </a:p>
          <a:p>
            <a:endParaRPr lang="en-I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Spiral Model</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q"/>
            </a:pPr>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Spiral Model</a:t>
            </a:r>
            <a:r>
              <a:rPr lang="en-IN" sz="2400" dirty="0" smtClean="0">
                <a:latin typeface="Times New Roman" pitchFamily="18" charset="0"/>
                <a:cs typeface="Times New Roman" pitchFamily="18" charset="0"/>
              </a:rPr>
              <a:t> is a </a:t>
            </a:r>
            <a:r>
              <a:rPr lang="en-IN" sz="2400" b="1" dirty="0" smtClean="0">
                <a:latin typeface="Times New Roman" pitchFamily="18" charset="0"/>
                <a:cs typeface="Times New Roman" pitchFamily="18" charset="0"/>
              </a:rPr>
              <a:t>risk-driven</a:t>
            </a:r>
            <a:r>
              <a:rPr lang="en-IN" sz="2400" dirty="0" smtClean="0">
                <a:latin typeface="Times New Roman" pitchFamily="18" charset="0"/>
                <a:cs typeface="Times New Roman" pitchFamily="18" charset="0"/>
              </a:rPr>
              <a:t> software development model proposed by </a:t>
            </a:r>
            <a:r>
              <a:rPr lang="en-IN" sz="2400" b="1" dirty="0" smtClean="0">
                <a:latin typeface="Times New Roman" pitchFamily="18" charset="0"/>
                <a:cs typeface="Times New Roman" pitchFamily="18" charset="0"/>
              </a:rPr>
              <a:t>Barry Boehm</a:t>
            </a:r>
            <a:r>
              <a:rPr lang="en-IN" sz="2400" dirty="0" smtClean="0">
                <a:latin typeface="Times New Roman" pitchFamily="18" charset="0"/>
                <a:cs typeface="Times New Roman" pitchFamily="18" charset="0"/>
              </a:rPr>
              <a:t> in 1986.</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Spiral Model</a:t>
            </a:r>
            <a:r>
              <a:rPr lang="en-IN" sz="2400" dirty="0" smtClean="0">
                <a:latin typeface="Times New Roman" pitchFamily="18" charset="0"/>
                <a:cs typeface="Times New Roman" pitchFamily="18" charset="0"/>
              </a:rPr>
              <a:t> combines </a:t>
            </a:r>
            <a:r>
              <a:rPr lang="en-IN" sz="2400" b="1" dirty="0" smtClean="0">
                <a:latin typeface="Times New Roman" pitchFamily="18" charset="0"/>
                <a:cs typeface="Times New Roman" pitchFamily="18" charset="0"/>
              </a:rPr>
              <a:t>iterative development</a:t>
            </a:r>
            <a:r>
              <a:rPr lang="en-IN" sz="2400" dirty="0" smtClean="0">
                <a:latin typeface="Times New Roman" pitchFamily="18" charset="0"/>
                <a:cs typeface="Times New Roman" pitchFamily="18" charset="0"/>
              </a:rPr>
              <a:t> with </a:t>
            </a:r>
            <a:r>
              <a:rPr lang="en-IN" sz="2400" b="1" dirty="0" smtClean="0">
                <a:latin typeface="Times New Roman" pitchFamily="18" charset="0"/>
                <a:cs typeface="Times New Roman" pitchFamily="18" charset="0"/>
              </a:rPr>
              <a:t>risk management</a:t>
            </a:r>
            <a:r>
              <a:rPr lang="en-IN" sz="2400" dirty="0" smtClean="0">
                <a:latin typeface="Times New Roman" pitchFamily="18" charset="0"/>
                <a:cs typeface="Times New Roman" pitchFamily="18" charset="0"/>
              </a:rPr>
              <a:t>.</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The process moves in a spiral (loop), with each loop called a </a:t>
            </a:r>
            <a:r>
              <a:rPr lang="en-IN" sz="2400" b="1" dirty="0" smtClean="0">
                <a:latin typeface="Times New Roman" pitchFamily="18" charset="0"/>
                <a:cs typeface="Times New Roman" pitchFamily="18" charset="0"/>
              </a:rPr>
              <a:t>phase</a:t>
            </a:r>
            <a:r>
              <a:rPr lang="en-IN" sz="2400" dirty="0" smtClean="0">
                <a:latin typeface="Times New Roman" pitchFamily="18" charset="0"/>
                <a:cs typeface="Times New Roman" pitchFamily="18" charset="0"/>
              </a:rPr>
              <a:t>.</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Each phase focuses on </a:t>
            </a:r>
            <a:r>
              <a:rPr lang="en-IN" sz="2400" b="1" dirty="0" smtClean="0">
                <a:latin typeface="Times New Roman" pitchFamily="18" charset="0"/>
                <a:cs typeface="Times New Roman" pitchFamily="18" charset="0"/>
              </a:rPr>
              <a:t>planning, risk analysis, development, and evaluation.</a:t>
            </a:r>
          </a:p>
          <a:p>
            <a:endParaRPr lang="en-I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latin typeface="Times New Roman" pitchFamily="18" charset="0"/>
                <a:cs typeface="Times New Roman" pitchFamily="18" charset="0"/>
              </a:rPr>
              <a:t>SDLC Spiral Model</a:t>
            </a:r>
            <a:endParaRPr lang="en-IN" b="1" dirty="0">
              <a:solidFill>
                <a:srgbClr val="C00000"/>
              </a:solidFill>
              <a:latin typeface="Times New Roman" pitchFamily="18" charset="0"/>
              <a:cs typeface="Times New Roman" pitchFamily="18" charset="0"/>
            </a:endParaRPr>
          </a:p>
        </p:txBody>
      </p:sp>
      <p:pic>
        <p:nvPicPr>
          <p:cNvPr id="80898" name="Picture 2"/>
          <p:cNvPicPr>
            <a:picLocks noGrp="1" noChangeAspect="1" noChangeArrowheads="1"/>
          </p:cNvPicPr>
          <p:nvPr>
            <p:ph idx="1"/>
          </p:nvPr>
        </p:nvPicPr>
        <p:blipFill>
          <a:blip r:embed="rId2"/>
          <a:stretch>
            <a:fillRect/>
          </a:stretch>
        </p:blipFill>
        <p:spPr bwMode="auto">
          <a:xfrm>
            <a:off x="2140993" y="1600200"/>
            <a:ext cx="4862014" cy="4525963"/>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Phases of Each Spiral Loop</a:t>
            </a:r>
            <a:br>
              <a:rPr lang="en-IN" b="1" dirty="0" smtClean="0">
                <a:solidFill>
                  <a:srgbClr val="C00000"/>
                </a:solidFill>
                <a:latin typeface="Times New Roman" pitchFamily="18" charset="0"/>
                <a:cs typeface="Times New Roman" pitchFamily="18" charset="0"/>
              </a:rPr>
            </a:b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normAutofit/>
          </a:bodyPr>
          <a:lstStyle/>
          <a:p>
            <a:pPr>
              <a:buNone/>
            </a:pPr>
            <a:r>
              <a:rPr lang="en-IN" sz="2400" dirty="0" smtClean="0">
                <a:latin typeface="Times New Roman" pitchFamily="18" charset="0"/>
                <a:cs typeface="Times New Roman" pitchFamily="18" charset="0"/>
              </a:rPr>
              <a:t>Each </a:t>
            </a:r>
            <a:r>
              <a:rPr lang="en-IN" sz="2400" b="1" dirty="0" smtClean="0">
                <a:latin typeface="Times New Roman" pitchFamily="18" charset="0"/>
                <a:cs typeface="Times New Roman" pitchFamily="18" charset="0"/>
              </a:rPr>
              <a:t>spiral (iteration)</a:t>
            </a:r>
            <a:r>
              <a:rPr lang="en-IN" sz="2400" dirty="0" smtClean="0">
                <a:latin typeface="Times New Roman" pitchFamily="18" charset="0"/>
                <a:cs typeface="Times New Roman" pitchFamily="18" charset="0"/>
              </a:rPr>
              <a:t> has </a:t>
            </a:r>
            <a:r>
              <a:rPr lang="en-IN" sz="2400" b="1" dirty="0" smtClean="0">
                <a:latin typeface="Times New Roman" pitchFamily="18" charset="0"/>
                <a:cs typeface="Times New Roman" pitchFamily="18" charset="0"/>
              </a:rPr>
              <a:t>4 phases</a:t>
            </a:r>
            <a:r>
              <a:rPr lang="en-IN" sz="2400" dirty="0" smtClean="0">
                <a:latin typeface="Times New Roman" pitchFamily="18" charset="0"/>
                <a:cs typeface="Times New Roman" pitchFamily="18" charset="0"/>
              </a:rPr>
              <a:t>:</a:t>
            </a:r>
          </a:p>
          <a:p>
            <a:pPr>
              <a:buNone/>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1. Planning Phase</a:t>
            </a:r>
          </a:p>
          <a:p>
            <a:pPr algn="just">
              <a:buFont typeface="Wingdings" pitchFamily="2" charset="2"/>
              <a:buChar char="ü"/>
            </a:pPr>
            <a:r>
              <a:rPr lang="en-IN" sz="2400" dirty="0" smtClean="0">
                <a:latin typeface="Times New Roman" pitchFamily="18" charset="0"/>
                <a:cs typeface="Times New Roman" pitchFamily="18" charset="0"/>
              </a:rPr>
              <a:t>Identify objectives, requirements, and constraints.</a:t>
            </a:r>
          </a:p>
          <a:p>
            <a:pPr algn="just">
              <a:buFont typeface="Wingdings" pitchFamily="2" charset="2"/>
              <a:buChar char="ü"/>
            </a:pPr>
            <a:r>
              <a:rPr lang="en-IN" sz="2400" dirty="0" smtClean="0">
                <a:latin typeface="Times New Roman" pitchFamily="18" charset="0"/>
                <a:cs typeface="Times New Roman" pitchFamily="18" charset="0"/>
              </a:rPr>
              <a:t>Decide project goals for this iteration.</a:t>
            </a:r>
          </a:p>
          <a:p>
            <a:pPr algn="just">
              <a:buFont typeface="Wingdings" pitchFamily="2" charset="2"/>
              <a:buChar char="ü"/>
            </a:pPr>
            <a:endParaRPr lang="en-US" sz="2400" dirty="0" smtClean="0">
              <a:latin typeface="Times New Roman" pitchFamily="18" charset="0"/>
              <a:cs typeface="Times New Roman" pitchFamily="18" charset="0"/>
            </a:endParaRPr>
          </a:p>
          <a:p>
            <a:pPr algn="just">
              <a:buFont typeface="Wingdings" pitchFamily="2" charset="2"/>
              <a:buChar char="ü"/>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2. Risk Analysis Phase</a:t>
            </a:r>
          </a:p>
          <a:p>
            <a:pPr algn="just">
              <a:buFont typeface="Wingdings" pitchFamily="2" charset="2"/>
              <a:buChar char="ü"/>
            </a:pPr>
            <a:r>
              <a:rPr lang="en-IN" sz="2400" dirty="0" smtClean="0">
                <a:latin typeface="Times New Roman" pitchFamily="18" charset="0"/>
                <a:cs typeface="Times New Roman" pitchFamily="18" charset="0"/>
              </a:rPr>
              <a:t>Identify potential risks (technical, financial, schedule).</a:t>
            </a:r>
          </a:p>
          <a:p>
            <a:pPr algn="just">
              <a:buFont typeface="Wingdings" pitchFamily="2" charset="2"/>
              <a:buChar char="ü"/>
            </a:pPr>
            <a:r>
              <a:rPr lang="en-IN" sz="2400" dirty="0" smtClean="0">
                <a:latin typeface="Times New Roman" pitchFamily="18" charset="0"/>
                <a:cs typeface="Times New Roman" pitchFamily="18" charset="0"/>
              </a:rPr>
              <a:t>Perform prototyping or simulations to reduce risks.</a:t>
            </a:r>
          </a:p>
          <a:p>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IN" sz="2400" b="1" dirty="0" smtClean="0">
                <a:latin typeface="Times New Roman" pitchFamily="18" charset="0"/>
                <a:cs typeface="Times New Roman" pitchFamily="18" charset="0"/>
              </a:rPr>
              <a:t>3. Development &amp; Engineering Phase</a:t>
            </a:r>
          </a:p>
          <a:p>
            <a:pPr>
              <a:buFont typeface="Wingdings" pitchFamily="2" charset="2"/>
              <a:buChar char="ü"/>
            </a:pPr>
            <a:r>
              <a:rPr lang="en-IN" sz="2400" dirty="0" smtClean="0">
                <a:latin typeface="Times New Roman" pitchFamily="18" charset="0"/>
                <a:cs typeface="Times New Roman" pitchFamily="18" charset="0"/>
              </a:rPr>
              <a:t>Build actual software (design, coding, testing) for selected features.</a:t>
            </a:r>
          </a:p>
          <a:p>
            <a:pPr>
              <a:buFont typeface="Wingdings" pitchFamily="2" charset="2"/>
              <a:buChar char="ü"/>
            </a:pPr>
            <a:r>
              <a:rPr lang="en-IN" sz="2400" dirty="0" smtClean="0">
                <a:latin typeface="Times New Roman" pitchFamily="18" charset="0"/>
                <a:cs typeface="Times New Roman" pitchFamily="18" charset="0"/>
              </a:rPr>
              <a:t>May involve incremental prototypes.</a:t>
            </a:r>
          </a:p>
          <a:p>
            <a:endParaRPr lang="en-US" sz="2400" dirty="0" smtClean="0">
              <a:latin typeface="Times New Roman" pitchFamily="18" charset="0"/>
              <a:cs typeface="Times New Roman" pitchFamily="18" charset="0"/>
            </a:endParaRPr>
          </a:p>
          <a:p>
            <a:endParaRPr lang="en-IN"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4. Evaluation &amp; Review Phase</a:t>
            </a:r>
          </a:p>
          <a:p>
            <a:pPr>
              <a:buFont typeface="Wingdings" pitchFamily="2" charset="2"/>
              <a:buChar char="ü"/>
            </a:pPr>
            <a:r>
              <a:rPr lang="en-IN" sz="2400" dirty="0" smtClean="0">
                <a:latin typeface="Times New Roman" pitchFamily="18" charset="0"/>
                <a:cs typeface="Times New Roman" pitchFamily="18" charset="0"/>
              </a:rPr>
              <a:t>Customer/stakeholder reviews the output.</a:t>
            </a:r>
          </a:p>
          <a:p>
            <a:pPr>
              <a:buFont typeface="Wingdings" pitchFamily="2" charset="2"/>
              <a:buChar char="ü"/>
            </a:pPr>
            <a:r>
              <a:rPr lang="en-IN" sz="2400" dirty="0" smtClean="0">
                <a:latin typeface="Times New Roman" pitchFamily="18" charset="0"/>
                <a:cs typeface="Times New Roman" pitchFamily="18" charset="0"/>
              </a:rPr>
              <a:t>Feedback is taken.</a:t>
            </a:r>
          </a:p>
          <a:p>
            <a:pPr>
              <a:buFont typeface="Wingdings" pitchFamily="2" charset="2"/>
              <a:buChar char="ü"/>
            </a:pPr>
            <a:r>
              <a:rPr lang="en-IN" sz="2400" dirty="0" smtClean="0">
                <a:latin typeface="Times New Roman" pitchFamily="18" charset="0"/>
                <a:cs typeface="Times New Roman" pitchFamily="18" charset="0"/>
              </a:rPr>
              <a:t>Decide whether to continue with the next spiral or stop.</a:t>
            </a:r>
          </a:p>
          <a:p>
            <a:endParaRPr lang="en-I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77500" lnSpcReduction="20000"/>
          </a:bodyPr>
          <a:lstStyle/>
          <a:p>
            <a:pPr>
              <a:buNone/>
            </a:pPr>
            <a:r>
              <a:rPr lang="en-IN" b="1" dirty="0" smtClean="0">
                <a:solidFill>
                  <a:srgbClr val="C00000"/>
                </a:solidFill>
                <a:latin typeface="Times New Roman" pitchFamily="18" charset="0"/>
                <a:cs typeface="Times New Roman" pitchFamily="18" charset="0"/>
              </a:rPr>
              <a:t>Features</a:t>
            </a:r>
          </a:p>
          <a:p>
            <a:pPr>
              <a:buNone/>
            </a:pPr>
            <a:r>
              <a:rPr lang="en-IN" b="1" dirty="0" smtClean="0">
                <a:latin typeface="Times New Roman" pitchFamily="18" charset="0"/>
                <a:cs typeface="Times New Roman" pitchFamily="18" charset="0"/>
              </a:rPr>
              <a:t>Iterative</a:t>
            </a:r>
            <a:r>
              <a:rPr lang="en-IN" dirty="0" smtClean="0">
                <a:latin typeface="Times New Roman" pitchFamily="18" charset="0"/>
                <a:cs typeface="Times New Roman" pitchFamily="18" charset="0"/>
              </a:rPr>
              <a:t> → System is built in small parts.</a:t>
            </a:r>
          </a:p>
          <a:p>
            <a:pPr>
              <a:buNone/>
            </a:pPr>
            <a:r>
              <a:rPr lang="en-IN" b="1" dirty="0" smtClean="0">
                <a:latin typeface="Times New Roman" pitchFamily="18" charset="0"/>
                <a:cs typeface="Times New Roman" pitchFamily="18" charset="0"/>
              </a:rPr>
              <a:t>Risk-oriented</a:t>
            </a:r>
            <a:r>
              <a:rPr lang="en-IN" dirty="0" smtClean="0">
                <a:latin typeface="Times New Roman" pitchFamily="18" charset="0"/>
                <a:cs typeface="Times New Roman" pitchFamily="18" charset="0"/>
              </a:rPr>
              <a:t> → Each cycle reduces risks.</a:t>
            </a:r>
          </a:p>
          <a:p>
            <a:pPr>
              <a:buNone/>
            </a:pPr>
            <a:r>
              <a:rPr lang="en-IN" b="1" dirty="0" smtClean="0">
                <a:latin typeface="Times New Roman" pitchFamily="18" charset="0"/>
                <a:cs typeface="Times New Roman" pitchFamily="18" charset="0"/>
              </a:rPr>
              <a:t>Customer involvement</a:t>
            </a:r>
            <a:r>
              <a:rPr lang="en-IN" dirty="0" smtClean="0">
                <a:latin typeface="Times New Roman" pitchFamily="18" charset="0"/>
                <a:cs typeface="Times New Roman" pitchFamily="18" charset="0"/>
              </a:rPr>
              <a:t> → Frequent feedback after every cycle.</a:t>
            </a:r>
          </a:p>
          <a:p>
            <a:pPr>
              <a:buNone/>
            </a:pPr>
            <a:r>
              <a:rPr lang="en-IN" b="1" dirty="0" smtClean="0">
                <a:latin typeface="Times New Roman" pitchFamily="18" charset="0"/>
                <a:cs typeface="Times New Roman" pitchFamily="18" charset="0"/>
              </a:rPr>
              <a:t>Flexibility</a:t>
            </a:r>
            <a:r>
              <a:rPr lang="en-IN" dirty="0" smtClean="0">
                <a:latin typeface="Times New Roman" pitchFamily="18" charset="0"/>
                <a:cs typeface="Times New Roman" pitchFamily="18" charset="0"/>
              </a:rPr>
              <a:t> → Requirements can evolve.</a:t>
            </a:r>
          </a:p>
          <a:p>
            <a:pPr>
              <a:buNone/>
            </a:pPr>
            <a:endParaRPr lang="en-IN" b="1" dirty="0" smtClean="0">
              <a:latin typeface="Times New Roman" pitchFamily="18" charset="0"/>
              <a:cs typeface="Times New Roman" pitchFamily="18" charset="0"/>
            </a:endParaRPr>
          </a:p>
          <a:p>
            <a:pPr>
              <a:buNone/>
            </a:pPr>
            <a:r>
              <a:rPr lang="en-IN" b="1" dirty="0" smtClean="0">
                <a:solidFill>
                  <a:srgbClr val="C00000"/>
                </a:solidFill>
                <a:latin typeface="Times New Roman" pitchFamily="18" charset="0"/>
                <a:cs typeface="Times New Roman" pitchFamily="18" charset="0"/>
              </a:rPr>
              <a:t>Advantages</a:t>
            </a:r>
          </a:p>
          <a:p>
            <a:r>
              <a:rPr lang="en-IN" dirty="0" smtClean="0">
                <a:latin typeface="Times New Roman" pitchFamily="18" charset="0"/>
                <a:cs typeface="Times New Roman" pitchFamily="18" charset="0"/>
              </a:rPr>
              <a:t>Best for </a:t>
            </a:r>
            <a:r>
              <a:rPr lang="en-IN" b="1" dirty="0" smtClean="0">
                <a:latin typeface="Times New Roman" pitchFamily="18" charset="0"/>
                <a:cs typeface="Times New Roman" pitchFamily="18" charset="0"/>
              </a:rPr>
              <a:t>large, high-risk projects</a:t>
            </a:r>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Risks are addressed early.</a:t>
            </a:r>
          </a:p>
          <a:p>
            <a:r>
              <a:rPr lang="en-IN" dirty="0" smtClean="0">
                <a:latin typeface="Times New Roman" pitchFamily="18" charset="0"/>
                <a:cs typeface="Times New Roman" pitchFamily="18" charset="0"/>
              </a:rPr>
              <a:t>Flexible to changing requirements.</a:t>
            </a:r>
          </a:p>
          <a:p>
            <a:pPr>
              <a:buNone/>
            </a:pPr>
            <a:r>
              <a:rPr lang="en-IN" b="1" dirty="0" smtClean="0">
                <a:solidFill>
                  <a:srgbClr val="C00000"/>
                </a:solidFill>
                <a:latin typeface="Times New Roman" pitchFamily="18" charset="0"/>
                <a:cs typeface="Times New Roman" pitchFamily="18" charset="0"/>
              </a:rPr>
              <a:t>Disadvantages</a:t>
            </a:r>
          </a:p>
          <a:p>
            <a:r>
              <a:rPr lang="en-IN" dirty="0" smtClean="0">
                <a:latin typeface="Times New Roman" pitchFamily="18" charset="0"/>
                <a:cs typeface="Times New Roman" pitchFamily="18" charset="0"/>
              </a:rPr>
              <a:t>Expensive due to risk analysis.</a:t>
            </a:r>
          </a:p>
          <a:p>
            <a:r>
              <a:rPr lang="en-IN" dirty="0" smtClean="0">
                <a:latin typeface="Times New Roman" pitchFamily="18" charset="0"/>
                <a:cs typeface="Times New Roman" pitchFamily="18" charset="0"/>
              </a:rPr>
              <a:t>Requires highly skilled project managers.</a:t>
            </a:r>
          </a:p>
          <a:p>
            <a:r>
              <a:rPr lang="en-IN" dirty="0" smtClean="0">
                <a:latin typeface="Times New Roman" pitchFamily="18" charset="0"/>
                <a:cs typeface="Times New Roman" pitchFamily="18" charset="0"/>
              </a:rPr>
              <a:t>Not suitable for small projects.</a:t>
            </a:r>
          </a:p>
          <a:p>
            <a:pPr>
              <a:buNone/>
            </a:pPr>
            <a:endParaRPr lang="en-IN"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l"/>
            <a:r>
              <a:rPr lang="en-IN" sz="2700" b="1" dirty="0" smtClean="0">
                <a:latin typeface="Times New Roman" pitchFamily="18" charset="0"/>
                <a:cs typeface="Times New Roman" pitchFamily="18" charset="0"/>
              </a:rPr>
              <a:t>Example of Spiral Model</a:t>
            </a:r>
            <a:br>
              <a:rPr lang="en-IN" sz="2700" b="1" dirty="0" smtClean="0">
                <a:latin typeface="Times New Roman" pitchFamily="18" charset="0"/>
                <a:cs typeface="Times New Roman" pitchFamily="18" charset="0"/>
              </a:rPr>
            </a:br>
            <a:r>
              <a:rPr lang="en-IN" sz="2700" dirty="0" smtClean="0">
                <a:latin typeface="Times New Roman" pitchFamily="18" charset="0"/>
                <a:cs typeface="Times New Roman" pitchFamily="18" charset="0"/>
              </a:rPr>
              <a:t>Let’s take the example of developing an </a:t>
            </a:r>
            <a:r>
              <a:rPr lang="en-IN" sz="2700" b="1" dirty="0" smtClean="0">
                <a:latin typeface="Times New Roman" pitchFamily="18" charset="0"/>
                <a:cs typeface="Times New Roman" pitchFamily="18" charset="0"/>
              </a:rPr>
              <a:t>Online Shopping Application (E-commerce Website)</a:t>
            </a:r>
            <a:r>
              <a:rPr lang="en-IN" sz="2700" dirty="0" smtClean="0">
                <a:latin typeface="Times New Roman" pitchFamily="18" charset="0"/>
                <a:cs typeface="Times New Roman" pitchFamily="18" charset="0"/>
              </a:rPr>
              <a:t>.</a:t>
            </a:r>
            <a:r>
              <a:rPr lang="en-IN" dirty="0" smtClean="0"/>
              <a:t/>
            </a:r>
            <a:br>
              <a:rPr lang="en-IN" dirty="0" smtClean="0"/>
            </a:br>
            <a:endParaRPr lang="en-IN" dirty="0"/>
          </a:p>
        </p:txBody>
      </p:sp>
      <p:sp>
        <p:nvSpPr>
          <p:cNvPr id="3" name="Content Placeholder 2"/>
          <p:cNvSpPr>
            <a:spLocks noGrp="1"/>
          </p:cNvSpPr>
          <p:nvPr>
            <p:ph idx="1"/>
          </p:nvPr>
        </p:nvSpPr>
        <p:spPr/>
        <p:txBody>
          <a:bodyPr>
            <a:normAutofit fontScale="92500"/>
          </a:bodyPr>
          <a:lstStyle/>
          <a:p>
            <a:pPr>
              <a:buNone/>
            </a:pPr>
            <a:r>
              <a:rPr lang="en-IN" sz="2600" b="1" dirty="0" smtClean="0">
                <a:solidFill>
                  <a:srgbClr val="C00000"/>
                </a:solidFill>
                <a:latin typeface="Times New Roman" pitchFamily="18" charset="0"/>
                <a:cs typeface="Times New Roman" pitchFamily="18" charset="0"/>
              </a:rPr>
              <a:t>1st Spiral (Planning &amp; Prototype)</a:t>
            </a:r>
          </a:p>
          <a:p>
            <a:pPr>
              <a:buNone/>
            </a:pPr>
            <a:endParaRPr lang="en-IN" sz="2600" b="1" dirty="0" smtClean="0">
              <a:latin typeface="Times New Roman" pitchFamily="18" charset="0"/>
              <a:cs typeface="Times New Roman" pitchFamily="18" charset="0"/>
            </a:endParaRPr>
          </a:p>
          <a:p>
            <a:pPr>
              <a:buNone/>
            </a:pPr>
            <a:r>
              <a:rPr lang="en-IN" sz="2600" b="1" dirty="0" smtClean="0">
                <a:latin typeface="Times New Roman" pitchFamily="18" charset="0"/>
                <a:cs typeface="Times New Roman" pitchFamily="18" charset="0"/>
              </a:rPr>
              <a:t>Planning:</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Identify basic requirements → User login, browsing products.</a:t>
            </a:r>
          </a:p>
          <a:p>
            <a:pPr>
              <a:buNone/>
            </a:pPr>
            <a:r>
              <a:rPr lang="en-IN" sz="2600" b="1" dirty="0" smtClean="0">
                <a:latin typeface="Times New Roman" pitchFamily="18" charset="0"/>
                <a:cs typeface="Times New Roman" pitchFamily="18" charset="0"/>
              </a:rPr>
              <a:t>Risk Analysis:</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Risk: Users may find UI confusing.</a:t>
            </a:r>
          </a:p>
          <a:p>
            <a:pPr lvl="1">
              <a:buNone/>
            </a:pPr>
            <a:r>
              <a:rPr lang="en-IN" sz="2200" dirty="0" smtClean="0">
                <a:latin typeface="Times New Roman" pitchFamily="18" charset="0"/>
                <a:cs typeface="Times New Roman" pitchFamily="18" charset="0"/>
              </a:rPr>
              <a:t>Solution: Create </a:t>
            </a:r>
            <a:r>
              <a:rPr lang="en-IN" sz="2200" b="1" dirty="0" smtClean="0">
                <a:latin typeface="Times New Roman" pitchFamily="18" charset="0"/>
                <a:cs typeface="Times New Roman" pitchFamily="18" charset="0"/>
              </a:rPr>
              <a:t>UI prototype</a:t>
            </a:r>
            <a:r>
              <a:rPr lang="en-IN" sz="2200" dirty="0" smtClean="0">
                <a:latin typeface="Times New Roman" pitchFamily="18" charset="0"/>
                <a:cs typeface="Times New Roman" pitchFamily="18" charset="0"/>
              </a:rPr>
              <a:t> (simple design).</a:t>
            </a:r>
          </a:p>
          <a:p>
            <a:pPr>
              <a:buNone/>
            </a:pPr>
            <a:r>
              <a:rPr lang="en-IN" sz="2600" b="1" dirty="0" smtClean="0">
                <a:latin typeface="Times New Roman" pitchFamily="18" charset="0"/>
                <a:cs typeface="Times New Roman" pitchFamily="18" charset="0"/>
              </a:rPr>
              <a:t>Development:</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Build a mock login page and product </a:t>
            </a:r>
            <a:r>
              <a:rPr lang="en-IN" sz="2200" dirty="0" err="1" smtClean="0">
                <a:latin typeface="Times New Roman" pitchFamily="18" charset="0"/>
                <a:cs typeface="Times New Roman" pitchFamily="18" charset="0"/>
              </a:rPr>
              <a:t>catalog</a:t>
            </a:r>
            <a:r>
              <a:rPr lang="en-IN" sz="2200" dirty="0" smtClean="0">
                <a:latin typeface="Times New Roman" pitchFamily="18" charset="0"/>
                <a:cs typeface="Times New Roman" pitchFamily="18" charset="0"/>
              </a:rPr>
              <a:t>.</a:t>
            </a:r>
          </a:p>
          <a:p>
            <a:pPr>
              <a:buNone/>
            </a:pPr>
            <a:r>
              <a:rPr lang="en-IN" sz="2600" b="1" dirty="0" smtClean="0">
                <a:latin typeface="Times New Roman" pitchFamily="18" charset="0"/>
                <a:cs typeface="Times New Roman" pitchFamily="18" charset="0"/>
              </a:rPr>
              <a:t>Evaluation:</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Customer checks prototype, gives feedback (e.g., “Add search option”).</a:t>
            </a:r>
          </a:p>
          <a:p>
            <a:endParaRPr lang="en-I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525963"/>
          </a:xfrm>
        </p:spPr>
        <p:txBody>
          <a:bodyPr>
            <a:normAutofit lnSpcReduction="10000"/>
          </a:bodyPr>
          <a:lstStyle/>
          <a:p>
            <a:pPr>
              <a:buNone/>
            </a:pPr>
            <a:r>
              <a:rPr lang="en-IN" sz="2600" b="1" dirty="0" smtClean="0">
                <a:solidFill>
                  <a:srgbClr val="C00000"/>
                </a:solidFill>
                <a:latin typeface="Times New Roman" pitchFamily="18" charset="0"/>
                <a:cs typeface="Times New Roman" pitchFamily="18" charset="0"/>
              </a:rPr>
              <a:t>2nd Spiral (Core Features)</a:t>
            </a:r>
          </a:p>
          <a:p>
            <a:pPr>
              <a:buNone/>
            </a:pPr>
            <a:endParaRPr lang="en-IN" sz="2600" b="1" dirty="0" smtClean="0">
              <a:solidFill>
                <a:srgbClr val="C00000"/>
              </a:solidFill>
              <a:latin typeface="Times New Roman" pitchFamily="18" charset="0"/>
              <a:cs typeface="Times New Roman" pitchFamily="18" charset="0"/>
            </a:endParaRPr>
          </a:p>
          <a:p>
            <a:pPr>
              <a:buNone/>
            </a:pPr>
            <a:r>
              <a:rPr lang="en-IN" sz="2600" b="1" dirty="0" smtClean="0">
                <a:latin typeface="Times New Roman" pitchFamily="18" charset="0"/>
                <a:cs typeface="Times New Roman" pitchFamily="18" charset="0"/>
              </a:rPr>
              <a:t>Planning:</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Add shopping cart, product search.</a:t>
            </a:r>
          </a:p>
          <a:p>
            <a:pPr>
              <a:buNone/>
            </a:pPr>
            <a:r>
              <a:rPr lang="en-IN" sz="2600" b="1" dirty="0" smtClean="0">
                <a:latin typeface="Times New Roman" pitchFamily="18" charset="0"/>
                <a:cs typeface="Times New Roman" pitchFamily="18" charset="0"/>
              </a:rPr>
              <a:t>Risk Analysis:</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Risk: Handling large product database efficiently.</a:t>
            </a:r>
          </a:p>
          <a:p>
            <a:pPr lvl="1">
              <a:buNone/>
            </a:pPr>
            <a:r>
              <a:rPr lang="en-IN" sz="2200" dirty="0" smtClean="0">
                <a:latin typeface="Times New Roman" pitchFamily="18" charset="0"/>
                <a:cs typeface="Times New Roman" pitchFamily="18" charset="0"/>
              </a:rPr>
              <a:t>Solution: Try </a:t>
            </a:r>
            <a:r>
              <a:rPr lang="en-IN" sz="2200" b="1" dirty="0" smtClean="0">
                <a:latin typeface="Times New Roman" pitchFamily="18" charset="0"/>
                <a:cs typeface="Times New Roman" pitchFamily="18" charset="0"/>
              </a:rPr>
              <a:t>database indexing</a:t>
            </a:r>
            <a:r>
              <a:rPr lang="en-IN" sz="2200" dirty="0" smtClean="0">
                <a:latin typeface="Times New Roman" pitchFamily="18" charset="0"/>
                <a:cs typeface="Times New Roman" pitchFamily="18" charset="0"/>
              </a:rPr>
              <a:t> methods.</a:t>
            </a:r>
          </a:p>
          <a:p>
            <a:pPr>
              <a:buNone/>
            </a:pPr>
            <a:r>
              <a:rPr lang="en-IN" sz="2600" b="1" dirty="0" smtClean="0">
                <a:latin typeface="Times New Roman" pitchFamily="18" charset="0"/>
                <a:cs typeface="Times New Roman" pitchFamily="18" charset="0"/>
              </a:rPr>
              <a:t>Development:</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Implement cart and search features.</a:t>
            </a:r>
          </a:p>
          <a:p>
            <a:pPr>
              <a:buNone/>
            </a:pPr>
            <a:r>
              <a:rPr lang="en-IN" sz="2600" b="1" dirty="0" smtClean="0">
                <a:latin typeface="Times New Roman" pitchFamily="18" charset="0"/>
                <a:cs typeface="Times New Roman" pitchFamily="18" charset="0"/>
              </a:rPr>
              <a:t>Evaluation:</a:t>
            </a:r>
            <a:endParaRPr lang="en-IN" sz="2600" dirty="0" smtClean="0">
              <a:latin typeface="Times New Roman" pitchFamily="18" charset="0"/>
              <a:cs typeface="Times New Roman" pitchFamily="18" charset="0"/>
            </a:endParaRPr>
          </a:p>
          <a:p>
            <a:pPr lvl="1">
              <a:buNone/>
            </a:pPr>
            <a:r>
              <a:rPr lang="en-IN" sz="2200" dirty="0" smtClean="0">
                <a:latin typeface="Times New Roman" pitchFamily="18" charset="0"/>
                <a:cs typeface="Times New Roman" pitchFamily="18" charset="0"/>
              </a:rPr>
              <a:t>Client tests → Suggests faster checkout process.</a:t>
            </a:r>
          </a:p>
          <a:p>
            <a:endParaRPr lang="en-I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IN" b="1" dirty="0" smtClean="0">
                <a:solidFill>
                  <a:srgbClr val="C00000"/>
                </a:solidFill>
                <a:latin typeface="Times New Roman" pitchFamily="18" charset="0"/>
                <a:cs typeface="Times New Roman" pitchFamily="18" charset="0"/>
              </a:rPr>
              <a:t>3rd Spiral (Payment &amp; Security)</a:t>
            </a:r>
          </a:p>
          <a:p>
            <a:pPr>
              <a:buNone/>
            </a:pPr>
            <a:endParaRPr lang="en-IN" b="1"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Planning:</a:t>
            </a:r>
            <a:endParaRPr lang="en-IN" sz="2400" dirty="0" smtClean="0">
              <a:latin typeface="Times New Roman" pitchFamily="18" charset="0"/>
              <a:cs typeface="Times New Roman" pitchFamily="18" charset="0"/>
            </a:endParaRPr>
          </a:p>
          <a:p>
            <a:pPr lvl="1">
              <a:buNone/>
            </a:pPr>
            <a:r>
              <a:rPr lang="en-IN" sz="2000" dirty="0" smtClean="0">
                <a:latin typeface="Times New Roman" pitchFamily="18" charset="0"/>
                <a:cs typeface="Times New Roman" pitchFamily="18" charset="0"/>
              </a:rPr>
              <a:t>Add online payment and checkout process.</a:t>
            </a:r>
          </a:p>
          <a:p>
            <a:pPr>
              <a:buNone/>
            </a:pPr>
            <a:r>
              <a:rPr lang="en-IN" sz="2400" b="1" dirty="0" smtClean="0">
                <a:latin typeface="Times New Roman" pitchFamily="18" charset="0"/>
                <a:cs typeface="Times New Roman" pitchFamily="18" charset="0"/>
              </a:rPr>
              <a:t>Risk Analysis:</a:t>
            </a:r>
            <a:endParaRPr lang="en-IN" sz="2400" dirty="0" smtClean="0">
              <a:latin typeface="Times New Roman" pitchFamily="18" charset="0"/>
              <a:cs typeface="Times New Roman" pitchFamily="18" charset="0"/>
            </a:endParaRPr>
          </a:p>
          <a:p>
            <a:pPr lvl="1">
              <a:buNone/>
            </a:pPr>
            <a:r>
              <a:rPr lang="en-IN" sz="2000" dirty="0" smtClean="0">
                <a:latin typeface="Times New Roman" pitchFamily="18" charset="0"/>
                <a:cs typeface="Times New Roman" pitchFamily="18" charset="0"/>
              </a:rPr>
              <a:t>Risk: Security issues in online payment.</a:t>
            </a:r>
          </a:p>
          <a:p>
            <a:pPr lvl="1">
              <a:buNone/>
            </a:pPr>
            <a:r>
              <a:rPr lang="en-IN" sz="2000" dirty="0" smtClean="0">
                <a:latin typeface="Times New Roman" pitchFamily="18" charset="0"/>
                <a:cs typeface="Times New Roman" pitchFamily="18" charset="0"/>
              </a:rPr>
              <a:t>Solution: Test </a:t>
            </a:r>
            <a:r>
              <a:rPr lang="en-IN" sz="2000" b="1" dirty="0" smtClean="0">
                <a:latin typeface="Times New Roman" pitchFamily="18" charset="0"/>
                <a:cs typeface="Times New Roman" pitchFamily="18" charset="0"/>
              </a:rPr>
              <a:t>encryption (SSL)</a:t>
            </a:r>
            <a:r>
              <a:rPr lang="en-IN" sz="2000" dirty="0" smtClean="0">
                <a:latin typeface="Times New Roman" pitchFamily="18" charset="0"/>
                <a:cs typeface="Times New Roman" pitchFamily="18" charset="0"/>
              </a:rPr>
              <a:t> and secure payment gateways.</a:t>
            </a:r>
          </a:p>
          <a:p>
            <a:pPr>
              <a:buNone/>
            </a:pPr>
            <a:r>
              <a:rPr lang="en-IN" sz="2400" b="1" dirty="0" smtClean="0">
                <a:latin typeface="Times New Roman" pitchFamily="18" charset="0"/>
                <a:cs typeface="Times New Roman" pitchFamily="18" charset="0"/>
              </a:rPr>
              <a:t>Development:</a:t>
            </a:r>
            <a:endParaRPr lang="en-IN" sz="2400" dirty="0" smtClean="0">
              <a:latin typeface="Times New Roman" pitchFamily="18" charset="0"/>
              <a:cs typeface="Times New Roman" pitchFamily="18" charset="0"/>
            </a:endParaRPr>
          </a:p>
          <a:p>
            <a:pPr lvl="1">
              <a:buNone/>
            </a:pPr>
            <a:r>
              <a:rPr lang="en-IN" sz="2000" dirty="0" smtClean="0">
                <a:latin typeface="Times New Roman" pitchFamily="18" charset="0"/>
                <a:cs typeface="Times New Roman" pitchFamily="18" charset="0"/>
              </a:rPr>
              <a:t>Code payment module and checkout flow.</a:t>
            </a:r>
          </a:p>
          <a:p>
            <a:pPr>
              <a:buNone/>
            </a:pPr>
            <a:r>
              <a:rPr lang="en-IN" sz="2400" b="1" dirty="0" smtClean="0">
                <a:latin typeface="Times New Roman" pitchFamily="18" charset="0"/>
                <a:cs typeface="Times New Roman" pitchFamily="18" charset="0"/>
              </a:rPr>
              <a:t>Evaluation:</a:t>
            </a:r>
            <a:endParaRPr lang="en-IN" sz="2400" dirty="0" smtClean="0">
              <a:latin typeface="Times New Roman" pitchFamily="18" charset="0"/>
              <a:cs typeface="Times New Roman" pitchFamily="18" charset="0"/>
            </a:endParaRPr>
          </a:p>
          <a:p>
            <a:pPr lvl="1">
              <a:buNone/>
            </a:pPr>
            <a:r>
              <a:rPr lang="en-IN" sz="2000" dirty="0" smtClean="0">
                <a:latin typeface="Times New Roman" pitchFamily="18" charset="0"/>
                <a:cs typeface="Times New Roman" pitchFamily="18" charset="0"/>
              </a:rPr>
              <a:t>Client checks with dummy transactions.</a:t>
            </a:r>
          </a:p>
          <a:p>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4th Spiral (Final Deployment)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buNone/>
            </a:pPr>
            <a:r>
              <a:rPr lang="en-IN" sz="2800" b="1" dirty="0" smtClean="0"/>
              <a:t>Planning:</a:t>
            </a:r>
            <a:endParaRPr lang="en-IN" sz="2800" dirty="0" smtClean="0"/>
          </a:p>
          <a:p>
            <a:pPr lvl="1">
              <a:buNone/>
            </a:pPr>
            <a:r>
              <a:rPr lang="en-IN" sz="2400" dirty="0" smtClean="0"/>
              <a:t>Add order tracking, reviews, notifications.</a:t>
            </a:r>
          </a:p>
          <a:p>
            <a:pPr>
              <a:buNone/>
            </a:pPr>
            <a:r>
              <a:rPr lang="en-IN" sz="2800" b="1" dirty="0" smtClean="0"/>
              <a:t>Risk Analysis:</a:t>
            </a:r>
            <a:endParaRPr lang="en-IN" sz="2800" dirty="0" smtClean="0"/>
          </a:p>
          <a:p>
            <a:pPr lvl="1">
              <a:buNone/>
            </a:pPr>
            <a:r>
              <a:rPr lang="en-IN" sz="2400" dirty="0" smtClean="0"/>
              <a:t>Risk: High server load during sales.</a:t>
            </a:r>
          </a:p>
          <a:p>
            <a:pPr lvl="1">
              <a:buNone/>
            </a:pPr>
            <a:r>
              <a:rPr lang="en-IN" sz="2400" dirty="0" smtClean="0"/>
              <a:t>Solution: Use </a:t>
            </a:r>
            <a:r>
              <a:rPr lang="en-IN" sz="2400" b="1" dirty="0" smtClean="0"/>
              <a:t>cloud servers and load balancing</a:t>
            </a:r>
            <a:r>
              <a:rPr lang="en-IN" sz="2400" dirty="0" smtClean="0"/>
              <a:t>.</a:t>
            </a:r>
          </a:p>
          <a:p>
            <a:pPr>
              <a:buNone/>
            </a:pPr>
            <a:r>
              <a:rPr lang="en-IN" sz="2800" b="1" dirty="0" smtClean="0"/>
              <a:t>Development:</a:t>
            </a:r>
            <a:endParaRPr lang="en-IN" sz="2800" dirty="0" smtClean="0"/>
          </a:p>
          <a:p>
            <a:pPr lvl="1">
              <a:buNone/>
            </a:pPr>
            <a:r>
              <a:rPr lang="en-IN" sz="2400" dirty="0" smtClean="0"/>
              <a:t>Implement final modules.</a:t>
            </a:r>
          </a:p>
          <a:p>
            <a:pPr>
              <a:buNone/>
            </a:pPr>
            <a:r>
              <a:rPr lang="en-IN" sz="2800" b="1" dirty="0" smtClean="0"/>
              <a:t>Evaluation:</a:t>
            </a:r>
            <a:endParaRPr lang="en-IN" sz="2800" dirty="0" smtClean="0"/>
          </a:p>
          <a:p>
            <a:pPr lvl="1">
              <a:buNone/>
            </a:pPr>
            <a:r>
              <a:rPr lang="en-IN" sz="2400" dirty="0" smtClean="0"/>
              <a:t>Customer approves → System is deployed.</a:t>
            </a:r>
          </a:p>
          <a:p>
            <a:endParaRPr lang="en-I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Summary</a:t>
            </a:r>
            <a:r>
              <a:rPr lang="en-IN" b="1" dirty="0" smtClean="0">
                <a:latin typeface="Times New Roman" pitchFamily="18" charset="0"/>
                <a:cs typeface="Times New Roman" pitchFamily="18" charset="0"/>
              </a:rPr>
              <a:t/>
            </a:r>
            <a:br>
              <a:rPr lang="en-IN" b="1" dirty="0" smtClean="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457200" y="1143000"/>
            <a:ext cx="8229600" cy="4983163"/>
          </a:xfrm>
        </p:spPr>
        <p:txBody>
          <a:bodyPr>
            <a:normAutofit/>
          </a:bodyPr>
          <a:lstStyle/>
          <a:p>
            <a:pPr>
              <a:buNone/>
            </a:pPr>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Spiral Model</a:t>
            </a:r>
            <a:r>
              <a:rPr lang="en-IN" sz="2400" dirty="0" smtClean="0">
                <a:latin typeface="Times New Roman" pitchFamily="18" charset="0"/>
                <a:cs typeface="Times New Roman" pitchFamily="18" charset="0"/>
              </a:rPr>
              <a:t> develops software in </a:t>
            </a:r>
            <a:r>
              <a:rPr lang="en-IN" sz="2400" b="1" dirty="0" smtClean="0">
                <a:latin typeface="Times New Roman" pitchFamily="18" charset="0"/>
                <a:cs typeface="Times New Roman" pitchFamily="18" charset="0"/>
              </a:rPr>
              <a:t>cycles (spirals)</a:t>
            </a:r>
            <a:r>
              <a:rPr lang="en-IN" sz="2400" dirty="0" smtClean="0">
                <a:latin typeface="Times New Roman" pitchFamily="18" charset="0"/>
                <a:cs typeface="Times New Roman" pitchFamily="18" charset="0"/>
              </a:rPr>
              <a:t> where each cycle consists of </a:t>
            </a:r>
            <a:r>
              <a:rPr lang="en-IN" sz="2400" b="1" dirty="0" smtClean="0">
                <a:latin typeface="Times New Roman" pitchFamily="18" charset="0"/>
                <a:cs typeface="Times New Roman" pitchFamily="18" charset="0"/>
              </a:rPr>
              <a:t>planning, risk analysis, development, and evaluation</a:t>
            </a:r>
            <a:r>
              <a:rPr lang="en-IN" sz="2400" dirty="0" smtClean="0">
                <a:latin typeface="Times New Roman" pitchFamily="18" charset="0"/>
                <a:cs typeface="Times New Roman" pitchFamily="18" charset="0"/>
              </a:rPr>
              <a:t>.</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In our </a:t>
            </a:r>
            <a:r>
              <a:rPr lang="en-IN" sz="2400" b="1" dirty="0" smtClean="0">
                <a:latin typeface="Times New Roman" pitchFamily="18" charset="0"/>
                <a:cs typeface="Times New Roman" pitchFamily="18" charset="0"/>
              </a:rPr>
              <a:t>E-commerce Website Example</a:t>
            </a:r>
            <a:r>
              <a:rPr lang="en-IN" sz="2400" dirty="0" smtClean="0">
                <a:latin typeface="Times New Roman" pitchFamily="18" charset="0"/>
                <a:cs typeface="Times New Roman" pitchFamily="18" charset="0"/>
              </a:rPr>
              <a:t>:</a:t>
            </a:r>
          </a:p>
          <a:p>
            <a:pPr>
              <a:buNone/>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First spiral gave a </a:t>
            </a:r>
            <a:r>
              <a:rPr lang="en-IN" sz="2400" b="1" dirty="0" smtClean="0">
                <a:latin typeface="Times New Roman" pitchFamily="18" charset="0"/>
                <a:cs typeface="Times New Roman" pitchFamily="18" charset="0"/>
              </a:rPr>
              <a:t>UI prototype</a:t>
            </a:r>
            <a:r>
              <a:rPr lang="en-IN" sz="2400" dirty="0" smtClean="0">
                <a:latin typeface="Times New Roman" pitchFamily="18" charset="0"/>
                <a:cs typeface="Times New Roman" pitchFamily="18" charset="0"/>
              </a:rPr>
              <a:t>,</a:t>
            </a:r>
          </a:p>
          <a:p>
            <a:pPr>
              <a:buFont typeface="Wingdings" pitchFamily="2" charset="2"/>
              <a:buChar char="Ø"/>
            </a:pPr>
            <a:r>
              <a:rPr lang="en-IN" sz="2400" dirty="0" smtClean="0">
                <a:latin typeface="Times New Roman" pitchFamily="18" charset="0"/>
                <a:cs typeface="Times New Roman" pitchFamily="18" charset="0"/>
              </a:rPr>
              <a:t>Second spiral added </a:t>
            </a:r>
            <a:r>
              <a:rPr lang="en-IN" sz="2400" b="1" dirty="0" smtClean="0">
                <a:latin typeface="Times New Roman" pitchFamily="18" charset="0"/>
                <a:cs typeface="Times New Roman" pitchFamily="18" charset="0"/>
              </a:rPr>
              <a:t>cart &amp; search</a:t>
            </a:r>
            <a:r>
              <a:rPr lang="en-IN" sz="2400" dirty="0" smtClean="0">
                <a:latin typeface="Times New Roman" pitchFamily="18" charset="0"/>
                <a:cs typeface="Times New Roman" pitchFamily="18" charset="0"/>
              </a:rPr>
              <a:t>,</a:t>
            </a:r>
          </a:p>
          <a:p>
            <a:pPr>
              <a:buFont typeface="Wingdings" pitchFamily="2" charset="2"/>
              <a:buChar char="Ø"/>
            </a:pPr>
            <a:r>
              <a:rPr lang="en-IN" sz="2400" dirty="0" smtClean="0">
                <a:latin typeface="Times New Roman" pitchFamily="18" charset="0"/>
                <a:cs typeface="Times New Roman" pitchFamily="18" charset="0"/>
              </a:rPr>
              <a:t>Third spiral ensured </a:t>
            </a:r>
            <a:r>
              <a:rPr lang="en-IN" sz="2400" b="1" dirty="0" smtClean="0">
                <a:latin typeface="Times New Roman" pitchFamily="18" charset="0"/>
                <a:cs typeface="Times New Roman" pitchFamily="18" charset="0"/>
              </a:rPr>
              <a:t>secure payment</a:t>
            </a:r>
            <a:r>
              <a:rPr lang="en-IN" sz="2400" dirty="0" smtClean="0">
                <a:latin typeface="Times New Roman" pitchFamily="18" charset="0"/>
                <a:cs typeface="Times New Roman" pitchFamily="18" charset="0"/>
              </a:rPr>
              <a:t>,</a:t>
            </a:r>
          </a:p>
          <a:p>
            <a:pPr>
              <a:buFont typeface="Wingdings" pitchFamily="2" charset="2"/>
              <a:buChar char="Ø"/>
            </a:pPr>
            <a:r>
              <a:rPr lang="en-IN" sz="2400" dirty="0" smtClean="0">
                <a:latin typeface="Times New Roman" pitchFamily="18" charset="0"/>
                <a:cs typeface="Times New Roman" pitchFamily="18" charset="0"/>
              </a:rPr>
              <a:t>Fourth spiral deployed the </a:t>
            </a:r>
            <a:r>
              <a:rPr lang="en-IN" sz="2400" b="1" dirty="0" smtClean="0">
                <a:latin typeface="Times New Roman" pitchFamily="18" charset="0"/>
                <a:cs typeface="Times New Roman" pitchFamily="18" charset="0"/>
              </a:rPr>
              <a:t>final system</a:t>
            </a:r>
            <a:r>
              <a:rPr lang="en-IN" sz="2400" dirty="0" smtClean="0">
                <a:latin typeface="Times New Roman" pitchFamily="18" charset="0"/>
                <a:cs typeface="Times New Roman" pitchFamily="18" charset="0"/>
              </a:rPr>
              <a:t>.</a:t>
            </a:r>
          </a:p>
          <a:p>
            <a:endParaRPr lang="en-I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latin typeface="Times New Roman" pitchFamily="18" charset="0"/>
                <a:cs typeface="Times New Roman" pitchFamily="18" charset="0"/>
              </a:rPr>
              <a:t>SDLC Incremental Model</a:t>
            </a:r>
            <a:endParaRPr lang="en-IN" b="1" dirty="0">
              <a:solidFill>
                <a:srgbClr val="C00000"/>
              </a:solidFill>
              <a:latin typeface="Times New Roman" pitchFamily="18" charset="0"/>
              <a:cs typeface="Times New Roman" pitchFamily="18" charset="0"/>
            </a:endParaRPr>
          </a:p>
        </p:txBody>
      </p:sp>
      <p:pic>
        <p:nvPicPr>
          <p:cNvPr id="4" name="Picture 2"/>
          <p:cNvPicPr>
            <a:picLocks noGrp="1" noChangeAspect="1" noChangeArrowheads="1"/>
          </p:cNvPicPr>
          <p:nvPr>
            <p:ph idx="1"/>
          </p:nvPr>
        </p:nvPicPr>
        <p:blipFill>
          <a:blip r:embed="rId2"/>
          <a:srcRect/>
          <a:stretch>
            <a:fillRect/>
          </a:stretch>
        </p:blipFill>
        <p:spPr bwMode="auto">
          <a:xfrm>
            <a:off x="457200" y="1219200"/>
            <a:ext cx="8229600" cy="5257800"/>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SDLC Incremental Model</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a:buFont typeface="Wingdings" pitchFamily="2" charset="2"/>
              <a:buChar char="q"/>
            </a:pPr>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Incremental Model</a:t>
            </a:r>
            <a:r>
              <a:rPr lang="en-IN" sz="2400" dirty="0" smtClean="0">
                <a:latin typeface="Times New Roman" pitchFamily="18" charset="0"/>
                <a:cs typeface="Times New Roman" pitchFamily="18" charset="0"/>
              </a:rPr>
              <a:t> is a software development approach where the system is built </a:t>
            </a:r>
            <a:r>
              <a:rPr lang="en-IN" sz="2400" b="1" dirty="0" smtClean="0">
                <a:latin typeface="Times New Roman" pitchFamily="18" charset="0"/>
                <a:cs typeface="Times New Roman" pitchFamily="18" charset="0"/>
              </a:rPr>
              <a:t>in parts (increments)</a:t>
            </a:r>
            <a:r>
              <a:rPr lang="en-IN" sz="2400" dirty="0" smtClean="0">
                <a:latin typeface="Times New Roman" pitchFamily="18" charset="0"/>
                <a:cs typeface="Times New Roman" pitchFamily="18" charset="0"/>
              </a:rPr>
              <a:t>.</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Each increment adds new functionality to the system.</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The product grows </a:t>
            </a:r>
            <a:r>
              <a:rPr lang="en-IN" sz="2400" b="1" dirty="0" smtClean="0">
                <a:latin typeface="Times New Roman" pitchFamily="18" charset="0"/>
                <a:cs typeface="Times New Roman" pitchFamily="18" charset="0"/>
              </a:rPr>
              <a:t>step by step</a:t>
            </a:r>
            <a:r>
              <a:rPr lang="en-IN" sz="2400" dirty="0" smtClean="0">
                <a:latin typeface="Times New Roman" pitchFamily="18" charset="0"/>
                <a:cs typeface="Times New Roman" pitchFamily="18" charset="0"/>
              </a:rPr>
              <a:t>, until the final system is complete.</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Every increment passes through the phases of SDLC → </a:t>
            </a:r>
            <a:r>
              <a:rPr lang="en-IN" sz="2400" b="1" dirty="0" smtClean="0">
                <a:latin typeface="Times New Roman" pitchFamily="18" charset="0"/>
                <a:cs typeface="Times New Roman" pitchFamily="18" charset="0"/>
              </a:rPr>
              <a:t>Requirement, Design, Coding, Testing, Implementation</a:t>
            </a:r>
            <a:r>
              <a:rPr lang="en-IN" sz="2400" dirty="0" smtClean="0">
                <a:latin typeface="Times New Roman" pitchFamily="18" charset="0"/>
                <a:cs typeface="Times New Roman" pitchFamily="18" charset="0"/>
              </a:rPr>
              <a:t>.</a:t>
            </a:r>
          </a:p>
          <a:p>
            <a:endParaRPr lang="en-I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Phases of Incremental Model</a:t>
            </a:r>
            <a:r>
              <a:rPr lang="en-IN" b="1" dirty="0" smtClean="0">
                <a:solidFill>
                  <a:srgbClr val="C00000"/>
                </a:solidFill>
              </a:rPr>
              <a:t/>
            </a:r>
            <a:br>
              <a:rPr lang="en-IN" b="1" dirty="0" smtClean="0">
                <a:solidFill>
                  <a:srgbClr val="C00000"/>
                </a:solidFill>
              </a:rPr>
            </a:br>
            <a:endParaRPr lang="en-IN" dirty="0">
              <a:solidFill>
                <a:srgbClr val="C00000"/>
              </a:solidFill>
            </a:endParaRPr>
          </a:p>
        </p:txBody>
      </p:sp>
      <p:sp>
        <p:nvSpPr>
          <p:cNvPr id="5" name="Content Placeholder 4"/>
          <p:cNvSpPr>
            <a:spLocks noGrp="1"/>
          </p:cNvSpPr>
          <p:nvPr>
            <p:ph idx="1"/>
          </p:nvPr>
        </p:nvSpPr>
        <p:spPr>
          <a:xfrm>
            <a:off x="609600" y="1600200"/>
            <a:ext cx="8229600" cy="4525963"/>
          </a:xfrm>
        </p:spPr>
        <p:txBody>
          <a:bodyPr>
            <a:normAutofit fontScale="77500" lnSpcReduction="20000"/>
          </a:bodyPr>
          <a:lstStyle/>
          <a:p>
            <a:pPr algn="just">
              <a:buFont typeface="Wingdings" pitchFamily="2" charset="2"/>
              <a:buChar char="q"/>
            </a:pPr>
            <a:r>
              <a:rPr lang="en-IN" sz="2800" b="1" dirty="0" smtClean="0">
                <a:latin typeface="Times New Roman" pitchFamily="18" charset="0"/>
                <a:cs typeface="Times New Roman" pitchFamily="18" charset="0"/>
              </a:rPr>
              <a:t>Requirement Analysis</a:t>
            </a:r>
            <a:endParaRPr lang="en-IN" sz="2800" dirty="0" smtClean="0">
              <a:latin typeface="Times New Roman" pitchFamily="18" charset="0"/>
              <a:cs typeface="Times New Roman" pitchFamily="18" charset="0"/>
            </a:endParaRPr>
          </a:p>
          <a:p>
            <a:pPr lvl="1" algn="just">
              <a:buNone/>
            </a:pPr>
            <a:r>
              <a:rPr lang="en-IN" sz="2400" dirty="0" smtClean="0">
                <a:latin typeface="Times New Roman" pitchFamily="18" charset="0"/>
                <a:cs typeface="Times New Roman" pitchFamily="18" charset="0"/>
              </a:rPr>
              <a:t>Break the requirements into smaller parts (modules).</a:t>
            </a:r>
          </a:p>
          <a:p>
            <a:pPr lvl="1" algn="just">
              <a:buNone/>
            </a:pPr>
            <a:endParaRPr lang="en-IN" sz="2400" dirty="0" smtClean="0">
              <a:latin typeface="Times New Roman" pitchFamily="18" charset="0"/>
              <a:cs typeface="Times New Roman" pitchFamily="18" charset="0"/>
            </a:endParaRPr>
          </a:p>
          <a:p>
            <a:pPr algn="just">
              <a:buFont typeface="Wingdings" pitchFamily="2" charset="2"/>
              <a:buChar char="q"/>
            </a:pPr>
            <a:r>
              <a:rPr lang="en-IN" sz="2800" b="1" dirty="0" smtClean="0">
                <a:latin typeface="Times New Roman" pitchFamily="18" charset="0"/>
                <a:cs typeface="Times New Roman" pitchFamily="18" charset="0"/>
              </a:rPr>
              <a:t>Design &amp; Development</a:t>
            </a:r>
            <a:endParaRPr lang="en-IN" sz="2800" dirty="0" smtClean="0">
              <a:latin typeface="Times New Roman" pitchFamily="18" charset="0"/>
              <a:cs typeface="Times New Roman" pitchFamily="18" charset="0"/>
            </a:endParaRPr>
          </a:p>
          <a:p>
            <a:pPr lvl="1" algn="just">
              <a:buNone/>
            </a:pPr>
            <a:r>
              <a:rPr lang="en-IN" sz="2400" dirty="0" smtClean="0">
                <a:latin typeface="Times New Roman" pitchFamily="18" charset="0"/>
                <a:cs typeface="Times New Roman" pitchFamily="18" charset="0"/>
              </a:rPr>
              <a:t>Build the first increment (basic system).</a:t>
            </a:r>
          </a:p>
          <a:p>
            <a:pPr lvl="1" algn="just">
              <a:buNone/>
            </a:pPr>
            <a:endParaRPr lang="en-IN" sz="2400" dirty="0" smtClean="0">
              <a:latin typeface="Times New Roman" pitchFamily="18" charset="0"/>
              <a:cs typeface="Times New Roman" pitchFamily="18" charset="0"/>
            </a:endParaRPr>
          </a:p>
          <a:p>
            <a:pPr algn="just">
              <a:buFont typeface="Wingdings" pitchFamily="2" charset="2"/>
              <a:buChar char="q"/>
            </a:pPr>
            <a:r>
              <a:rPr lang="en-IN" sz="2800" b="1" dirty="0" smtClean="0">
                <a:latin typeface="Times New Roman" pitchFamily="18" charset="0"/>
                <a:cs typeface="Times New Roman" pitchFamily="18" charset="0"/>
              </a:rPr>
              <a:t>Implementation</a:t>
            </a:r>
            <a:endParaRPr lang="en-IN" sz="2800" dirty="0" smtClean="0">
              <a:latin typeface="Times New Roman" pitchFamily="18" charset="0"/>
              <a:cs typeface="Times New Roman" pitchFamily="18" charset="0"/>
            </a:endParaRPr>
          </a:p>
          <a:p>
            <a:pPr lvl="1" algn="just">
              <a:buNone/>
            </a:pPr>
            <a:r>
              <a:rPr lang="en-IN" sz="2400" dirty="0" smtClean="0">
                <a:latin typeface="Times New Roman" pitchFamily="18" charset="0"/>
                <a:cs typeface="Times New Roman" pitchFamily="18" charset="0"/>
              </a:rPr>
              <a:t>Deliver the increment to the customer.</a:t>
            </a:r>
          </a:p>
          <a:p>
            <a:pPr lvl="1" algn="just">
              <a:buNone/>
            </a:pPr>
            <a:endParaRPr lang="en-IN" sz="2400" dirty="0" smtClean="0">
              <a:latin typeface="Times New Roman" pitchFamily="18" charset="0"/>
              <a:cs typeface="Times New Roman" pitchFamily="18" charset="0"/>
            </a:endParaRPr>
          </a:p>
          <a:p>
            <a:pPr algn="just">
              <a:buFont typeface="Wingdings" pitchFamily="2" charset="2"/>
              <a:buChar char="q"/>
            </a:pPr>
            <a:r>
              <a:rPr lang="en-IN" sz="2800" b="1" dirty="0" smtClean="0">
                <a:latin typeface="Times New Roman" pitchFamily="18" charset="0"/>
                <a:cs typeface="Times New Roman" pitchFamily="18" charset="0"/>
              </a:rPr>
              <a:t>Testing &amp; Feedback</a:t>
            </a:r>
            <a:endParaRPr lang="en-IN" sz="2800" dirty="0" smtClean="0">
              <a:latin typeface="Times New Roman" pitchFamily="18" charset="0"/>
              <a:cs typeface="Times New Roman" pitchFamily="18" charset="0"/>
            </a:endParaRPr>
          </a:p>
          <a:p>
            <a:pPr lvl="1" algn="just">
              <a:buNone/>
            </a:pPr>
            <a:r>
              <a:rPr lang="en-IN" sz="2400" dirty="0" smtClean="0">
                <a:latin typeface="Times New Roman" pitchFamily="18" charset="0"/>
                <a:cs typeface="Times New Roman" pitchFamily="18" charset="0"/>
              </a:rPr>
              <a:t>Test the increment, get user feedback.</a:t>
            </a:r>
          </a:p>
          <a:p>
            <a:pPr lvl="1" algn="just">
              <a:buNone/>
            </a:pPr>
            <a:endParaRPr lang="en-IN" sz="2400" dirty="0" smtClean="0">
              <a:latin typeface="Times New Roman" pitchFamily="18" charset="0"/>
              <a:cs typeface="Times New Roman" pitchFamily="18" charset="0"/>
            </a:endParaRPr>
          </a:p>
          <a:p>
            <a:pPr algn="just">
              <a:buFont typeface="Wingdings" pitchFamily="2" charset="2"/>
              <a:buChar char="q"/>
            </a:pPr>
            <a:r>
              <a:rPr lang="en-IN" sz="2800" b="1" dirty="0" smtClean="0">
                <a:latin typeface="Times New Roman" pitchFamily="18" charset="0"/>
                <a:cs typeface="Times New Roman" pitchFamily="18" charset="0"/>
              </a:rPr>
              <a:t>Next Increment</a:t>
            </a:r>
            <a:endParaRPr lang="en-IN" sz="2800" dirty="0" smtClean="0">
              <a:latin typeface="Times New Roman" pitchFamily="18" charset="0"/>
              <a:cs typeface="Times New Roman" pitchFamily="18" charset="0"/>
            </a:endParaRPr>
          </a:p>
          <a:p>
            <a:pPr lvl="1" algn="just">
              <a:buNone/>
            </a:pPr>
            <a:r>
              <a:rPr lang="en-IN" sz="2400" dirty="0" smtClean="0">
                <a:latin typeface="Times New Roman" pitchFamily="18" charset="0"/>
                <a:cs typeface="Times New Roman" pitchFamily="18" charset="0"/>
              </a:rPr>
              <a:t>Add more features in the next cycle, until the system is complete.</a:t>
            </a:r>
          </a:p>
          <a:p>
            <a:endParaRPr lang="en-I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pPr algn="just">
              <a:buNone/>
            </a:pPr>
            <a:r>
              <a:rPr lang="en-IN" b="1" dirty="0" smtClean="0">
                <a:solidFill>
                  <a:srgbClr val="C00000"/>
                </a:solidFill>
                <a:latin typeface="Times New Roman" pitchFamily="18" charset="0"/>
                <a:cs typeface="Times New Roman" pitchFamily="18" charset="0"/>
              </a:rPr>
              <a:t>Features</a:t>
            </a:r>
          </a:p>
          <a:p>
            <a:pPr algn="just">
              <a:buFont typeface="Wingdings" pitchFamily="2" charset="2"/>
              <a:buChar char="Ø"/>
            </a:pPr>
            <a:r>
              <a:rPr lang="en-IN" dirty="0" smtClean="0">
                <a:latin typeface="Times New Roman" pitchFamily="18" charset="0"/>
                <a:cs typeface="Times New Roman" pitchFamily="18" charset="0"/>
              </a:rPr>
              <a:t>System is built </a:t>
            </a:r>
            <a:r>
              <a:rPr lang="en-IN" b="1" dirty="0" smtClean="0">
                <a:latin typeface="Times New Roman" pitchFamily="18" charset="0"/>
                <a:cs typeface="Times New Roman" pitchFamily="18" charset="0"/>
              </a:rPr>
              <a:t>step by step</a:t>
            </a:r>
            <a:r>
              <a:rPr lang="en-IN" dirty="0" smtClean="0">
                <a:latin typeface="Times New Roman" pitchFamily="18" charset="0"/>
                <a:cs typeface="Times New Roman" pitchFamily="18" charset="0"/>
              </a:rPr>
              <a:t>.</a:t>
            </a:r>
          </a:p>
          <a:p>
            <a:pPr algn="just">
              <a:buFont typeface="Wingdings" pitchFamily="2" charset="2"/>
              <a:buChar char="Ø"/>
            </a:pPr>
            <a:r>
              <a:rPr lang="en-IN" dirty="0" smtClean="0">
                <a:latin typeface="Times New Roman" pitchFamily="18" charset="0"/>
                <a:cs typeface="Times New Roman" pitchFamily="18" charset="0"/>
              </a:rPr>
              <a:t>Customers get </a:t>
            </a:r>
            <a:r>
              <a:rPr lang="en-IN" b="1" dirty="0" smtClean="0">
                <a:latin typeface="Times New Roman" pitchFamily="18" charset="0"/>
                <a:cs typeface="Times New Roman" pitchFamily="18" charset="0"/>
              </a:rPr>
              <a:t>partial product early</a:t>
            </a:r>
            <a:r>
              <a:rPr lang="en-IN" dirty="0" smtClean="0">
                <a:latin typeface="Times New Roman" pitchFamily="18" charset="0"/>
                <a:cs typeface="Times New Roman" pitchFamily="18" charset="0"/>
              </a:rPr>
              <a:t> and can suggest changes.</a:t>
            </a:r>
          </a:p>
          <a:p>
            <a:pPr algn="just">
              <a:buFont typeface="Wingdings" pitchFamily="2" charset="2"/>
              <a:buChar char="Ø"/>
            </a:pPr>
            <a:r>
              <a:rPr lang="en-IN" dirty="0" smtClean="0">
                <a:latin typeface="Times New Roman" pitchFamily="18" charset="0"/>
                <a:cs typeface="Times New Roman" pitchFamily="18" charset="0"/>
              </a:rPr>
              <a:t>Planning and development run in parallel.</a:t>
            </a:r>
          </a:p>
          <a:p>
            <a:pPr algn="just">
              <a:buFont typeface="Wingdings" pitchFamily="2" charset="2"/>
              <a:buChar char="Ø"/>
            </a:pPr>
            <a:endParaRPr lang="en-IN" dirty="0" smtClean="0">
              <a:latin typeface="Times New Roman" pitchFamily="18" charset="0"/>
              <a:cs typeface="Times New Roman" pitchFamily="18" charset="0"/>
            </a:endParaRPr>
          </a:p>
          <a:p>
            <a:pPr algn="just">
              <a:buNone/>
            </a:pPr>
            <a:r>
              <a:rPr lang="en-IN" b="1" dirty="0" smtClean="0">
                <a:solidFill>
                  <a:srgbClr val="C00000"/>
                </a:solidFill>
                <a:latin typeface="Times New Roman" pitchFamily="18" charset="0"/>
                <a:cs typeface="Times New Roman" pitchFamily="18" charset="0"/>
              </a:rPr>
              <a:t>Advantages</a:t>
            </a:r>
          </a:p>
          <a:p>
            <a:pPr algn="just">
              <a:buNone/>
            </a:pPr>
            <a:endParaRPr lang="en-IN" b="1" dirty="0" smtClean="0">
              <a:solidFill>
                <a:srgbClr val="C00000"/>
              </a:solidFill>
              <a:latin typeface="Times New Roman" pitchFamily="18" charset="0"/>
              <a:cs typeface="Times New Roman" pitchFamily="18" charset="0"/>
            </a:endParaRPr>
          </a:p>
          <a:p>
            <a:pPr algn="just">
              <a:buFont typeface="Wingdings" pitchFamily="2" charset="2"/>
              <a:buChar char="Ø"/>
            </a:pPr>
            <a:r>
              <a:rPr lang="en-IN" dirty="0" smtClean="0">
                <a:latin typeface="Times New Roman" pitchFamily="18" charset="0"/>
                <a:cs typeface="Times New Roman" pitchFamily="18" charset="0"/>
              </a:rPr>
              <a:t>Early delivery of useful software.</a:t>
            </a:r>
          </a:p>
          <a:p>
            <a:pPr algn="just">
              <a:buFont typeface="Wingdings" pitchFamily="2" charset="2"/>
              <a:buChar char="Ø"/>
            </a:pPr>
            <a:r>
              <a:rPr lang="en-IN" dirty="0" smtClean="0">
                <a:latin typeface="Times New Roman" pitchFamily="18" charset="0"/>
                <a:cs typeface="Times New Roman" pitchFamily="18" charset="0"/>
              </a:rPr>
              <a:t>Easier to test and debug smaller modules.</a:t>
            </a:r>
          </a:p>
          <a:p>
            <a:pPr algn="just">
              <a:buFont typeface="Wingdings" pitchFamily="2" charset="2"/>
              <a:buChar char="Ø"/>
            </a:pPr>
            <a:r>
              <a:rPr lang="en-IN" dirty="0" smtClean="0">
                <a:latin typeface="Times New Roman" pitchFamily="18" charset="0"/>
                <a:cs typeface="Times New Roman" pitchFamily="18" charset="0"/>
              </a:rPr>
              <a:t>Flexible to changes based on feedback.</a:t>
            </a:r>
          </a:p>
          <a:p>
            <a:pPr algn="just">
              <a:buFont typeface="Wingdings" pitchFamily="2" charset="2"/>
              <a:buChar char="Ø"/>
            </a:pPr>
            <a:endParaRPr lang="en-IN" dirty="0" smtClean="0">
              <a:latin typeface="Times New Roman" pitchFamily="18" charset="0"/>
              <a:cs typeface="Times New Roman" pitchFamily="18" charset="0"/>
            </a:endParaRPr>
          </a:p>
          <a:p>
            <a:pPr algn="just">
              <a:buNone/>
            </a:pPr>
            <a:r>
              <a:rPr lang="en-IN" b="1" dirty="0" smtClean="0">
                <a:solidFill>
                  <a:srgbClr val="C00000"/>
                </a:solidFill>
                <a:latin typeface="Times New Roman" pitchFamily="18" charset="0"/>
                <a:cs typeface="Times New Roman" pitchFamily="18" charset="0"/>
              </a:rPr>
              <a:t>Disadvantages</a:t>
            </a:r>
          </a:p>
          <a:p>
            <a:pPr algn="just">
              <a:buFont typeface="Wingdings" pitchFamily="2" charset="2"/>
              <a:buChar char="Ø"/>
            </a:pPr>
            <a:r>
              <a:rPr lang="en-IN" dirty="0" smtClean="0">
                <a:latin typeface="Times New Roman" pitchFamily="18" charset="0"/>
                <a:cs typeface="Times New Roman" pitchFamily="18" charset="0"/>
              </a:rPr>
              <a:t>Needs good planning for splitting requirements.</a:t>
            </a:r>
          </a:p>
          <a:p>
            <a:pPr algn="just">
              <a:buFont typeface="Wingdings" pitchFamily="2" charset="2"/>
              <a:buChar char="Ø"/>
            </a:pPr>
            <a:r>
              <a:rPr lang="en-IN" dirty="0" smtClean="0">
                <a:latin typeface="Times New Roman" pitchFamily="18" charset="0"/>
                <a:cs typeface="Times New Roman" pitchFamily="18" charset="0"/>
              </a:rPr>
              <a:t>Integration of many increments can be complex.</a:t>
            </a:r>
          </a:p>
          <a:p>
            <a:pPr algn="just">
              <a:buFont typeface="Wingdings" pitchFamily="2" charset="2"/>
              <a:buChar char="Ø"/>
            </a:pPr>
            <a:r>
              <a:rPr lang="en-IN" dirty="0" smtClean="0">
                <a:latin typeface="Times New Roman" pitchFamily="18" charset="0"/>
                <a:cs typeface="Times New Roman" pitchFamily="18" charset="0"/>
              </a:rPr>
              <a:t>Not suitable for small projects with very limited scope.</a:t>
            </a:r>
          </a:p>
          <a:p>
            <a:endParaRPr lang="en-I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l"/>
            <a:r>
              <a:rPr lang="en-IN" sz="3100" b="1" dirty="0" smtClean="0">
                <a:latin typeface="Times New Roman" pitchFamily="18" charset="0"/>
                <a:cs typeface="Times New Roman" pitchFamily="18" charset="0"/>
              </a:rPr>
              <a:t>Example of Incremental Model</a:t>
            </a:r>
            <a:br>
              <a:rPr lang="en-IN" sz="3100" b="1" dirty="0" smtClean="0">
                <a:latin typeface="Times New Roman" pitchFamily="18" charset="0"/>
                <a:cs typeface="Times New Roman" pitchFamily="18" charset="0"/>
              </a:rPr>
            </a:br>
            <a:r>
              <a:rPr lang="en-IN" sz="3100" dirty="0" smtClean="0">
                <a:latin typeface="Times New Roman" pitchFamily="18" charset="0"/>
                <a:cs typeface="Times New Roman" pitchFamily="18" charset="0"/>
              </a:rPr>
              <a:t>Let’s take the example of building an </a:t>
            </a:r>
            <a:r>
              <a:rPr lang="en-IN" sz="3100" b="1" dirty="0" smtClean="0">
                <a:latin typeface="Times New Roman" pitchFamily="18" charset="0"/>
                <a:cs typeface="Times New Roman" pitchFamily="18" charset="0"/>
              </a:rPr>
              <a:t>Online Food Delivery App</a:t>
            </a:r>
            <a:r>
              <a:rPr lang="en-IN" sz="3100" dirty="0" smtClean="0">
                <a:latin typeface="Times New Roman" pitchFamily="18" charset="0"/>
                <a:cs typeface="Times New Roman" pitchFamily="18" charset="0"/>
              </a:rPr>
              <a:t> (like </a:t>
            </a:r>
            <a:r>
              <a:rPr lang="en-IN" sz="3100" dirty="0" err="1" smtClean="0">
                <a:latin typeface="Times New Roman" pitchFamily="18" charset="0"/>
                <a:cs typeface="Times New Roman" pitchFamily="18" charset="0"/>
              </a:rPr>
              <a:t>Zomato</a:t>
            </a:r>
            <a:r>
              <a:rPr lang="en-IN" sz="3100" dirty="0" smtClean="0">
                <a:latin typeface="Times New Roman" pitchFamily="18" charset="0"/>
                <a:cs typeface="Times New Roman" pitchFamily="18" charset="0"/>
              </a:rPr>
              <a:t>/</a:t>
            </a:r>
            <a:r>
              <a:rPr lang="en-IN" sz="3100" dirty="0" err="1" smtClean="0">
                <a:latin typeface="Times New Roman" pitchFamily="18" charset="0"/>
                <a:cs typeface="Times New Roman" pitchFamily="18" charset="0"/>
              </a:rPr>
              <a:t>Swiggy</a:t>
            </a:r>
            <a:r>
              <a:rPr lang="en-IN" sz="3100" dirty="0" smtClean="0">
                <a:latin typeface="Times New Roman" pitchFamily="18" charset="0"/>
                <a:cs typeface="Times New Roman" pitchFamily="18" charset="0"/>
              </a:rPr>
              <a:t>).</a:t>
            </a:r>
            <a:r>
              <a:rPr lang="en-IN" dirty="0" smtClean="0"/>
              <a:t/>
            </a:r>
            <a:br>
              <a:rPr lang="en-IN" dirty="0" smtClean="0"/>
            </a:br>
            <a:endParaRPr lang="en-IN" dirty="0"/>
          </a:p>
        </p:txBody>
      </p:sp>
      <p:sp>
        <p:nvSpPr>
          <p:cNvPr id="3" name="Content Placeholder 2"/>
          <p:cNvSpPr>
            <a:spLocks noGrp="1"/>
          </p:cNvSpPr>
          <p:nvPr>
            <p:ph idx="1"/>
          </p:nvPr>
        </p:nvSpPr>
        <p:spPr/>
        <p:txBody>
          <a:bodyPr>
            <a:normAutofit/>
          </a:bodyPr>
          <a:lstStyle/>
          <a:p>
            <a:pPr>
              <a:buNone/>
            </a:pPr>
            <a:endParaRPr lang="en-IN" sz="2400" b="1"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Increment 1: Basic Features</a:t>
            </a:r>
          </a:p>
          <a:p>
            <a:pPr>
              <a:buNone/>
            </a:pPr>
            <a:endParaRPr lang="en-IN" sz="2400" b="1" dirty="0" smtClean="0">
              <a:latin typeface="Times New Roman" pitchFamily="18" charset="0"/>
              <a:cs typeface="Times New Roman" pitchFamily="18" charset="0"/>
            </a:endParaRPr>
          </a:p>
          <a:p>
            <a:pPr>
              <a:buFont typeface="Wingdings" pitchFamily="2" charset="2"/>
              <a:buChar char="ü"/>
            </a:pPr>
            <a:r>
              <a:rPr lang="en-IN" sz="2400" b="1" dirty="0" smtClean="0">
                <a:latin typeface="Times New Roman" pitchFamily="18" charset="0"/>
                <a:cs typeface="Times New Roman" pitchFamily="18" charset="0"/>
              </a:rPr>
              <a:t>Requirements:</a:t>
            </a:r>
            <a:r>
              <a:rPr lang="en-IN" sz="2400" dirty="0" smtClean="0">
                <a:latin typeface="Times New Roman" pitchFamily="18" charset="0"/>
                <a:cs typeface="Times New Roman" pitchFamily="18" charset="0"/>
              </a:rPr>
              <a:t> User login, browse restaurants.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b="1" dirty="0" smtClean="0">
                <a:latin typeface="Times New Roman" pitchFamily="18" charset="0"/>
                <a:cs typeface="Times New Roman" pitchFamily="18" charset="0"/>
              </a:rPr>
              <a:t>Development:</a:t>
            </a:r>
            <a:r>
              <a:rPr lang="en-IN" sz="2400" dirty="0" smtClean="0">
                <a:latin typeface="Times New Roman" pitchFamily="18" charset="0"/>
                <a:cs typeface="Times New Roman" pitchFamily="18" charset="0"/>
              </a:rPr>
              <a:t> Create login system + restaurant listing.</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b="1" dirty="0" smtClean="0">
                <a:latin typeface="Times New Roman" pitchFamily="18" charset="0"/>
                <a:cs typeface="Times New Roman" pitchFamily="18" charset="0"/>
              </a:rPr>
              <a:t>Testing:</a:t>
            </a:r>
            <a:r>
              <a:rPr lang="en-IN" sz="2400" dirty="0" smtClean="0">
                <a:latin typeface="Times New Roman" pitchFamily="18" charset="0"/>
                <a:cs typeface="Times New Roman" pitchFamily="18" charset="0"/>
              </a:rPr>
              <a:t> User tests if they can log in and see restaurants.</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b="1" dirty="0" smtClean="0">
                <a:latin typeface="Times New Roman" pitchFamily="18" charset="0"/>
                <a:cs typeface="Times New Roman" pitchFamily="18" charset="0"/>
              </a:rPr>
              <a:t>Delivery:</a:t>
            </a:r>
            <a:r>
              <a:rPr lang="en-IN" sz="2400" dirty="0" smtClean="0">
                <a:latin typeface="Times New Roman" pitchFamily="18" charset="0"/>
                <a:cs typeface="Times New Roman" pitchFamily="18" charset="0"/>
              </a:rPr>
              <a:t> Basic working app is given to customer.</a:t>
            </a:r>
          </a:p>
          <a:p>
            <a:endParaRPr lang="en-I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sz="3600" b="1" dirty="0" smtClean="0">
                <a:solidFill>
                  <a:srgbClr val="C00000"/>
                </a:solidFill>
                <a:latin typeface="Times New Roman" pitchFamily="18" charset="0"/>
                <a:cs typeface="Times New Roman" pitchFamily="18" charset="0"/>
              </a:rPr>
              <a:t>Increment 2: Ordering System</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buFont typeface="Wingdings" pitchFamily="2" charset="2"/>
              <a:buChar char="q"/>
            </a:pPr>
            <a:r>
              <a:rPr lang="en-IN" sz="2400" b="1" dirty="0" smtClean="0">
                <a:latin typeface="Times New Roman" pitchFamily="18" charset="0"/>
                <a:cs typeface="Times New Roman" pitchFamily="18" charset="0"/>
              </a:rPr>
              <a:t>Requirements:</a:t>
            </a:r>
            <a:r>
              <a:rPr lang="en-IN" sz="2400" dirty="0" smtClean="0">
                <a:latin typeface="Times New Roman" pitchFamily="18" charset="0"/>
                <a:cs typeface="Times New Roman" pitchFamily="18" charset="0"/>
              </a:rPr>
              <a:t> Add “Place Order” feature.</a:t>
            </a:r>
          </a:p>
          <a:p>
            <a:pPr>
              <a:buFont typeface="Wingdings" pitchFamily="2" charset="2"/>
              <a:buChar char="q"/>
            </a:pPr>
            <a:endParaRPr lang="en-IN" sz="2400" dirty="0" smtClean="0">
              <a:latin typeface="Times New Roman" pitchFamily="18" charset="0"/>
              <a:cs typeface="Times New Roman" pitchFamily="18" charset="0"/>
            </a:endParaRPr>
          </a:p>
          <a:p>
            <a:pPr>
              <a:buFont typeface="Wingdings" pitchFamily="2" charset="2"/>
              <a:buChar char="q"/>
            </a:pPr>
            <a:r>
              <a:rPr lang="en-IN" sz="2400" b="1" dirty="0" smtClean="0">
                <a:latin typeface="Times New Roman" pitchFamily="18" charset="0"/>
                <a:cs typeface="Times New Roman" pitchFamily="18" charset="0"/>
              </a:rPr>
              <a:t>Development:</a:t>
            </a:r>
            <a:r>
              <a:rPr lang="en-IN" sz="2400" dirty="0" smtClean="0">
                <a:latin typeface="Times New Roman" pitchFamily="18" charset="0"/>
                <a:cs typeface="Times New Roman" pitchFamily="18" charset="0"/>
              </a:rPr>
              <a:t> Implement cart + order placement.</a:t>
            </a:r>
          </a:p>
          <a:p>
            <a:pPr>
              <a:buFont typeface="Wingdings" pitchFamily="2" charset="2"/>
              <a:buChar char="q"/>
            </a:pPr>
            <a:endParaRPr lang="en-IN" sz="2400" dirty="0" smtClean="0">
              <a:latin typeface="Times New Roman" pitchFamily="18" charset="0"/>
              <a:cs typeface="Times New Roman" pitchFamily="18" charset="0"/>
            </a:endParaRPr>
          </a:p>
          <a:p>
            <a:pPr>
              <a:buFont typeface="Wingdings" pitchFamily="2" charset="2"/>
              <a:buChar char="q"/>
            </a:pPr>
            <a:r>
              <a:rPr lang="en-IN" sz="2400" b="1" dirty="0" smtClean="0">
                <a:latin typeface="Times New Roman" pitchFamily="18" charset="0"/>
                <a:cs typeface="Times New Roman" pitchFamily="18" charset="0"/>
              </a:rPr>
              <a:t>Testing:</a:t>
            </a:r>
            <a:r>
              <a:rPr lang="en-IN" sz="2400" dirty="0" smtClean="0">
                <a:latin typeface="Times New Roman" pitchFamily="18" charset="0"/>
                <a:cs typeface="Times New Roman" pitchFamily="18" charset="0"/>
              </a:rPr>
              <a:t> Test if orders go to the restaurant correctly.</a:t>
            </a:r>
          </a:p>
          <a:p>
            <a:pPr>
              <a:buFont typeface="Wingdings" pitchFamily="2" charset="2"/>
              <a:buChar char="q"/>
            </a:pPr>
            <a:endParaRPr lang="en-IN" sz="2400" dirty="0" smtClean="0">
              <a:latin typeface="Times New Roman" pitchFamily="18" charset="0"/>
              <a:cs typeface="Times New Roman" pitchFamily="18" charset="0"/>
            </a:endParaRPr>
          </a:p>
          <a:p>
            <a:pPr>
              <a:buFont typeface="Wingdings" pitchFamily="2" charset="2"/>
              <a:buChar char="q"/>
            </a:pPr>
            <a:r>
              <a:rPr lang="en-IN" sz="2400" b="1" dirty="0" smtClean="0">
                <a:latin typeface="Times New Roman" pitchFamily="18" charset="0"/>
                <a:cs typeface="Times New Roman" pitchFamily="18" charset="0"/>
              </a:rPr>
              <a:t>Delivery:</a:t>
            </a:r>
            <a:r>
              <a:rPr lang="en-IN" sz="2400" dirty="0" smtClean="0">
                <a:latin typeface="Times New Roman" pitchFamily="18" charset="0"/>
                <a:cs typeface="Times New Roman" pitchFamily="18" charset="0"/>
              </a:rPr>
              <a:t> Now customers can log in + browse + order.</a:t>
            </a:r>
          </a:p>
          <a:p>
            <a:endParaRPr lang="en-I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000" b="1" dirty="0" smtClean="0">
                <a:solidFill>
                  <a:srgbClr val="C00000"/>
                </a:solidFill>
                <a:latin typeface="Times New Roman" pitchFamily="18" charset="0"/>
                <a:cs typeface="Times New Roman" pitchFamily="18" charset="0"/>
              </a:rPr>
              <a:t>Increment 3: Payment Integration</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830763"/>
          </a:xfrm>
        </p:spPr>
        <p:txBody>
          <a:bodyPr/>
          <a:lstStyle/>
          <a:p>
            <a:pPr>
              <a:buFont typeface="Wingdings" pitchFamily="2" charset="2"/>
              <a:buChar char="q"/>
            </a:pPr>
            <a:r>
              <a:rPr lang="en-IN" sz="2800" b="1" dirty="0" smtClean="0">
                <a:latin typeface="Times New Roman" pitchFamily="18" charset="0"/>
                <a:cs typeface="Times New Roman" pitchFamily="18" charset="0"/>
              </a:rPr>
              <a:t>Requirements:</a:t>
            </a:r>
            <a:r>
              <a:rPr lang="en-IN" sz="2800" dirty="0" smtClean="0">
                <a:latin typeface="Times New Roman" pitchFamily="18" charset="0"/>
                <a:cs typeface="Times New Roman" pitchFamily="18" charset="0"/>
              </a:rPr>
              <a:t> Add online payment system.</a:t>
            </a:r>
          </a:p>
          <a:p>
            <a:pPr>
              <a:buFont typeface="Wingdings" pitchFamily="2" charset="2"/>
              <a:buChar char="q"/>
            </a:pPr>
            <a:endParaRPr lang="en-IN" sz="2800" dirty="0" smtClean="0">
              <a:latin typeface="Times New Roman" pitchFamily="18" charset="0"/>
              <a:cs typeface="Times New Roman" pitchFamily="18" charset="0"/>
            </a:endParaRPr>
          </a:p>
          <a:p>
            <a:pPr>
              <a:buFont typeface="Wingdings" pitchFamily="2" charset="2"/>
              <a:buChar char="q"/>
            </a:pPr>
            <a:r>
              <a:rPr lang="en-IN" sz="2800" b="1" dirty="0" smtClean="0">
                <a:latin typeface="Times New Roman" pitchFamily="18" charset="0"/>
                <a:cs typeface="Times New Roman" pitchFamily="18" charset="0"/>
              </a:rPr>
              <a:t>Development:</a:t>
            </a:r>
            <a:r>
              <a:rPr lang="en-IN" sz="2800" dirty="0" smtClean="0">
                <a:latin typeface="Times New Roman" pitchFamily="18" charset="0"/>
                <a:cs typeface="Times New Roman" pitchFamily="18" charset="0"/>
              </a:rPr>
              <a:t> Integrate UPI, debit/credit card, wallet.</a:t>
            </a:r>
          </a:p>
          <a:p>
            <a:pPr>
              <a:buFont typeface="Wingdings" pitchFamily="2" charset="2"/>
              <a:buChar char="q"/>
            </a:pPr>
            <a:endParaRPr lang="en-IN" sz="2800" dirty="0" smtClean="0">
              <a:latin typeface="Times New Roman" pitchFamily="18" charset="0"/>
              <a:cs typeface="Times New Roman" pitchFamily="18" charset="0"/>
            </a:endParaRPr>
          </a:p>
          <a:p>
            <a:pPr>
              <a:buFont typeface="Wingdings" pitchFamily="2" charset="2"/>
              <a:buChar char="q"/>
            </a:pPr>
            <a:r>
              <a:rPr lang="en-IN" sz="2800" b="1" dirty="0" smtClean="0">
                <a:latin typeface="Times New Roman" pitchFamily="18" charset="0"/>
                <a:cs typeface="Times New Roman" pitchFamily="18" charset="0"/>
              </a:rPr>
              <a:t>Testing:</a:t>
            </a:r>
            <a:r>
              <a:rPr lang="en-IN" sz="2800" dirty="0" smtClean="0">
                <a:latin typeface="Times New Roman" pitchFamily="18" charset="0"/>
                <a:cs typeface="Times New Roman" pitchFamily="18" charset="0"/>
              </a:rPr>
              <a:t> Verify secure and successful payments.</a:t>
            </a:r>
          </a:p>
          <a:p>
            <a:pPr>
              <a:buFont typeface="Wingdings" pitchFamily="2" charset="2"/>
              <a:buChar char="q"/>
            </a:pPr>
            <a:endParaRPr lang="en-IN" sz="2800" dirty="0" smtClean="0">
              <a:latin typeface="Times New Roman" pitchFamily="18" charset="0"/>
              <a:cs typeface="Times New Roman" pitchFamily="18" charset="0"/>
            </a:endParaRPr>
          </a:p>
          <a:p>
            <a:pPr>
              <a:buFont typeface="Wingdings" pitchFamily="2" charset="2"/>
              <a:buChar char="q"/>
            </a:pPr>
            <a:r>
              <a:rPr lang="en-IN" sz="2800" b="1" dirty="0" smtClean="0">
                <a:latin typeface="Times New Roman" pitchFamily="18" charset="0"/>
                <a:cs typeface="Times New Roman" pitchFamily="18" charset="0"/>
              </a:rPr>
              <a:t>Delivery:</a:t>
            </a:r>
            <a:r>
              <a:rPr lang="en-IN" sz="2800" dirty="0" smtClean="0">
                <a:latin typeface="Times New Roman" pitchFamily="18" charset="0"/>
                <a:cs typeface="Times New Roman" pitchFamily="18" charset="0"/>
              </a:rPr>
              <a:t> Now app supports </a:t>
            </a:r>
            <a:r>
              <a:rPr lang="en-IN" sz="2800" b="1" dirty="0" smtClean="0">
                <a:latin typeface="Times New Roman" pitchFamily="18" charset="0"/>
                <a:cs typeface="Times New Roman" pitchFamily="18" charset="0"/>
              </a:rPr>
              <a:t>login + browse + order + pay</a:t>
            </a:r>
            <a:r>
              <a:rPr lang="en-IN" sz="2800" dirty="0" smtClean="0">
                <a:latin typeface="Times New Roman" pitchFamily="18" charset="0"/>
                <a:cs typeface="Times New Roman" pitchFamily="18" charset="0"/>
              </a:rPr>
              <a:t>.</a:t>
            </a:r>
          </a:p>
          <a:p>
            <a:endParaRPr lang="en-I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000" b="1" dirty="0" smtClean="0">
                <a:solidFill>
                  <a:srgbClr val="C00000"/>
                </a:solidFill>
                <a:latin typeface="Times New Roman" pitchFamily="18" charset="0"/>
                <a:cs typeface="Times New Roman" pitchFamily="18" charset="0"/>
              </a:rPr>
              <a:t>Increment 4: Advanced Features</a:t>
            </a:r>
            <a:r>
              <a:rPr lang="en-IN" b="1" dirty="0" smtClean="0"/>
              <a:t/>
            </a:r>
            <a:br>
              <a:rPr lang="en-IN" b="1" dirty="0" smtClean="0"/>
            </a:br>
            <a:endParaRPr lang="en-IN" dirty="0"/>
          </a:p>
        </p:txBody>
      </p:sp>
      <p:sp>
        <p:nvSpPr>
          <p:cNvPr id="3" name="Content Placeholder 2"/>
          <p:cNvSpPr>
            <a:spLocks noGrp="1"/>
          </p:cNvSpPr>
          <p:nvPr>
            <p:ph idx="1"/>
          </p:nvPr>
        </p:nvSpPr>
        <p:spPr>
          <a:xfrm>
            <a:off x="457200" y="1371600"/>
            <a:ext cx="8229600" cy="4754563"/>
          </a:xfrm>
        </p:spPr>
        <p:txBody>
          <a:bodyPr>
            <a:normAutofit/>
          </a:bodyPr>
          <a:lstStyle/>
          <a:p>
            <a:pPr algn="just">
              <a:buFont typeface="Wingdings" pitchFamily="2" charset="2"/>
              <a:buChar char="Ø"/>
            </a:pPr>
            <a:r>
              <a:rPr lang="en-IN" sz="2400" b="1" dirty="0" smtClean="0">
                <a:latin typeface="Times New Roman" pitchFamily="18" charset="0"/>
                <a:cs typeface="Times New Roman" pitchFamily="18" charset="0"/>
              </a:rPr>
              <a:t>Requirements:</a:t>
            </a:r>
            <a:r>
              <a:rPr lang="en-IN" sz="2400" dirty="0" smtClean="0">
                <a:latin typeface="Times New Roman" pitchFamily="18" charset="0"/>
                <a:cs typeface="Times New Roman" pitchFamily="18" charset="0"/>
              </a:rPr>
              <a:t> Add order tracking, reviews, push notifications.</a:t>
            </a:r>
          </a:p>
          <a:p>
            <a:pPr algn="just">
              <a:buFont typeface="Wingdings" pitchFamily="2" charset="2"/>
              <a:buChar char="Ø"/>
            </a:pPr>
            <a:endParaRPr lang="en-IN" sz="2400" dirty="0" smtClean="0">
              <a:latin typeface="Times New Roman" pitchFamily="18" charset="0"/>
              <a:cs typeface="Times New Roman" pitchFamily="18" charset="0"/>
            </a:endParaRPr>
          </a:p>
          <a:p>
            <a:pPr algn="just">
              <a:buFont typeface="Wingdings" pitchFamily="2" charset="2"/>
              <a:buChar char="Ø"/>
            </a:pPr>
            <a:r>
              <a:rPr lang="en-IN" sz="2400" b="1" dirty="0" smtClean="0">
                <a:latin typeface="Times New Roman" pitchFamily="18" charset="0"/>
                <a:cs typeface="Times New Roman" pitchFamily="18" charset="0"/>
              </a:rPr>
              <a:t>Development:</a:t>
            </a:r>
            <a:r>
              <a:rPr lang="en-IN" sz="2400" dirty="0" smtClean="0">
                <a:latin typeface="Times New Roman" pitchFamily="18" charset="0"/>
                <a:cs typeface="Times New Roman" pitchFamily="18" charset="0"/>
              </a:rPr>
              <a:t> Implement live order status, rating system.</a:t>
            </a:r>
          </a:p>
          <a:p>
            <a:pPr algn="just">
              <a:buFont typeface="Wingdings" pitchFamily="2" charset="2"/>
              <a:buChar char="Ø"/>
            </a:pPr>
            <a:endParaRPr lang="en-IN" sz="2400" dirty="0" smtClean="0">
              <a:latin typeface="Times New Roman" pitchFamily="18" charset="0"/>
              <a:cs typeface="Times New Roman" pitchFamily="18" charset="0"/>
            </a:endParaRPr>
          </a:p>
          <a:p>
            <a:pPr algn="just">
              <a:buFont typeface="Wingdings" pitchFamily="2" charset="2"/>
              <a:buChar char="Ø"/>
            </a:pPr>
            <a:r>
              <a:rPr lang="en-IN" sz="2400" b="1" dirty="0" smtClean="0">
                <a:latin typeface="Times New Roman" pitchFamily="18" charset="0"/>
                <a:cs typeface="Times New Roman" pitchFamily="18" charset="0"/>
              </a:rPr>
              <a:t>Testing:</a:t>
            </a:r>
            <a:r>
              <a:rPr lang="en-IN" sz="2400" dirty="0" smtClean="0">
                <a:latin typeface="Times New Roman" pitchFamily="18" charset="0"/>
                <a:cs typeface="Times New Roman" pitchFamily="18" charset="0"/>
              </a:rPr>
              <a:t> Test order updates and review storage.</a:t>
            </a:r>
          </a:p>
          <a:p>
            <a:pPr algn="just">
              <a:buFont typeface="Wingdings" pitchFamily="2" charset="2"/>
              <a:buChar char="Ø"/>
            </a:pPr>
            <a:endParaRPr lang="en-IN" sz="2400" dirty="0" smtClean="0">
              <a:latin typeface="Times New Roman" pitchFamily="18" charset="0"/>
              <a:cs typeface="Times New Roman" pitchFamily="18" charset="0"/>
            </a:endParaRPr>
          </a:p>
          <a:p>
            <a:pPr algn="just">
              <a:buFont typeface="Wingdings" pitchFamily="2" charset="2"/>
              <a:buChar char="Ø"/>
            </a:pPr>
            <a:r>
              <a:rPr lang="en-IN" sz="2400" b="1" dirty="0" smtClean="0">
                <a:latin typeface="Times New Roman" pitchFamily="18" charset="0"/>
                <a:cs typeface="Times New Roman" pitchFamily="18" charset="0"/>
              </a:rPr>
              <a:t>Delivery:</a:t>
            </a:r>
            <a:r>
              <a:rPr lang="en-IN" sz="2400" dirty="0" smtClean="0">
                <a:latin typeface="Times New Roman" pitchFamily="18" charset="0"/>
                <a:cs typeface="Times New Roman" pitchFamily="18" charset="0"/>
              </a:rPr>
              <a:t> Final complete food delivery app.</a:t>
            </a:r>
            <a:endParaRPr lang="en-IN" sz="2400" dirty="0">
              <a:latin typeface="Times New Roman" pitchFamily="18" charset="0"/>
              <a:cs typeface="Times New Roman"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C00000"/>
                </a:solidFill>
                <a:latin typeface="Times New Roman" pitchFamily="18" charset="0"/>
                <a:cs typeface="Times New Roman" pitchFamily="18" charset="0"/>
              </a:rPr>
              <a:t>Summary</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The </a:t>
            </a:r>
            <a:r>
              <a:rPr lang="en-IN" sz="2400" b="1" dirty="0" smtClean="0">
                <a:latin typeface="Times New Roman" pitchFamily="18" charset="0"/>
                <a:cs typeface="Times New Roman" pitchFamily="18" charset="0"/>
              </a:rPr>
              <a:t>Incremental Model</a:t>
            </a:r>
            <a:r>
              <a:rPr lang="en-IN" sz="2400" dirty="0" smtClean="0">
                <a:latin typeface="Times New Roman" pitchFamily="18" charset="0"/>
                <a:cs typeface="Times New Roman" pitchFamily="18" charset="0"/>
              </a:rPr>
              <a:t> builds a project in </a:t>
            </a:r>
            <a:r>
              <a:rPr lang="en-IN" sz="2400" b="1" dirty="0" smtClean="0">
                <a:latin typeface="Times New Roman" pitchFamily="18" charset="0"/>
                <a:cs typeface="Times New Roman" pitchFamily="18" charset="0"/>
              </a:rPr>
              <a:t>small steps</a:t>
            </a:r>
            <a:r>
              <a:rPr lang="en-IN" sz="2400" dirty="0" smtClean="0">
                <a:latin typeface="Times New Roman" pitchFamily="18" charset="0"/>
                <a:cs typeface="Times New Roman" pitchFamily="18" charset="0"/>
              </a:rPr>
              <a:t>, each step adds more features.</a:t>
            </a:r>
          </a:p>
          <a:p>
            <a:pPr algn="just"/>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In our </a:t>
            </a:r>
            <a:r>
              <a:rPr lang="en-IN" sz="2400" b="1" dirty="0" smtClean="0">
                <a:latin typeface="Times New Roman" pitchFamily="18" charset="0"/>
                <a:cs typeface="Times New Roman" pitchFamily="18" charset="0"/>
              </a:rPr>
              <a:t>Food Delivery App Example</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Increment 1 → Login + restaurant list</a:t>
            </a:r>
          </a:p>
          <a:p>
            <a:pPr algn="just"/>
            <a:r>
              <a:rPr lang="en-IN" sz="2400" dirty="0" smtClean="0">
                <a:latin typeface="Times New Roman" pitchFamily="18" charset="0"/>
                <a:cs typeface="Times New Roman" pitchFamily="18" charset="0"/>
              </a:rPr>
              <a:t>Increment 2 → Ordering system</a:t>
            </a:r>
          </a:p>
          <a:p>
            <a:pPr algn="just"/>
            <a:r>
              <a:rPr lang="en-IN" sz="2400" dirty="0" smtClean="0">
                <a:latin typeface="Times New Roman" pitchFamily="18" charset="0"/>
                <a:cs typeface="Times New Roman" pitchFamily="18" charset="0"/>
              </a:rPr>
              <a:t>Increment 3 → Online payment</a:t>
            </a:r>
          </a:p>
          <a:p>
            <a:pPr algn="just"/>
            <a:r>
              <a:rPr lang="en-IN" sz="2400" dirty="0" smtClean="0">
                <a:latin typeface="Times New Roman" pitchFamily="18" charset="0"/>
                <a:cs typeface="Times New Roman" pitchFamily="18" charset="0"/>
              </a:rPr>
              <a:t>Increment 4 → Tracking &amp; reviews</a:t>
            </a:r>
          </a:p>
          <a:p>
            <a:endParaRPr lang="en-I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rmAutofit fontScale="90000"/>
          </a:bodyPr>
          <a:lstStyle/>
          <a:p>
            <a:r>
              <a:rPr lang="en-IN" sz="4000" b="1" dirty="0" smtClean="0">
                <a:solidFill>
                  <a:srgbClr val="C00000"/>
                </a:solidFill>
                <a:latin typeface="Times New Roman" pitchFamily="18" charset="0"/>
                <a:cs typeface="Times New Roman" pitchFamily="18" charset="0"/>
              </a:rPr>
              <a:t>SDLC Rapid Application Development Model (RAD) </a:t>
            </a:r>
            <a:r>
              <a:rPr lang="en-IN" b="1" dirty="0" smtClean="0"/>
              <a:t/>
            </a:r>
            <a:br>
              <a:rPr lang="en-IN" b="1" dirty="0" smtClean="0"/>
            </a:br>
            <a:endParaRPr lang="en-IN" dirty="0"/>
          </a:p>
        </p:txBody>
      </p:sp>
      <p:pic>
        <p:nvPicPr>
          <p:cNvPr id="82946" name="Picture 2"/>
          <p:cNvPicPr>
            <a:picLocks noGrp="1" noChangeAspect="1" noChangeArrowheads="1"/>
          </p:cNvPicPr>
          <p:nvPr>
            <p:ph idx="1"/>
          </p:nvPr>
        </p:nvPicPr>
        <p:blipFill>
          <a:blip r:embed="rId2"/>
          <a:stretch>
            <a:fillRect/>
          </a:stretch>
        </p:blipFill>
        <p:spPr bwMode="auto">
          <a:xfrm>
            <a:off x="1740391" y="1600200"/>
            <a:ext cx="5663217" cy="4525963"/>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dirty="0" smtClean="0">
                <a:solidFill>
                  <a:srgbClr val="C00000"/>
                </a:solidFill>
                <a:latin typeface="Times New Roman" pitchFamily="18" charset="0"/>
                <a:cs typeface="Times New Roman" pitchFamily="18" charset="0"/>
              </a:rPr>
              <a:t>RAD Model (Rapid Application Development)</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830763"/>
          </a:xfrm>
        </p:spPr>
        <p:txBody>
          <a:bodyPr/>
          <a:lstStyle/>
          <a:p>
            <a:pPr algn="just">
              <a:buFont typeface="Wingdings" pitchFamily="2" charset="2"/>
              <a:buChar char="q"/>
            </a:pPr>
            <a:r>
              <a:rPr lang="en-IN" sz="2400" dirty="0" smtClean="0">
                <a:latin typeface="Times New Roman" pitchFamily="18" charset="0"/>
                <a:cs typeface="Times New Roman" pitchFamily="18" charset="0"/>
              </a:rPr>
              <a:t>RAD is a </a:t>
            </a:r>
            <a:r>
              <a:rPr lang="en-IN" sz="2400" b="1" dirty="0" smtClean="0">
                <a:latin typeface="Times New Roman" pitchFamily="18" charset="0"/>
                <a:cs typeface="Times New Roman" pitchFamily="18" charset="0"/>
              </a:rPr>
              <a:t>software development model</a:t>
            </a:r>
            <a:r>
              <a:rPr lang="en-IN" sz="2400" dirty="0" smtClean="0">
                <a:latin typeface="Times New Roman" pitchFamily="18" charset="0"/>
                <a:cs typeface="Times New Roman" pitchFamily="18" charset="0"/>
              </a:rPr>
              <a:t> that focuses on </a:t>
            </a:r>
            <a:r>
              <a:rPr lang="en-IN" sz="2400" b="1" dirty="0" smtClean="0">
                <a:latin typeface="Times New Roman" pitchFamily="18" charset="0"/>
                <a:cs typeface="Times New Roman" pitchFamily="18" charset="0"/>
              </a:rPr>
              <a:t>fast development</a:t>
            </a:r>
            <a:r>
              <a:rPr lang="en-IN" sz="2400" dirty="0" smtClean="0">
                <a:latin typeface="Times New Roman" pitchFamily="18" charset="0"/>
                <a:cs typeface="Times New Roman" pitchFamily="18" charset="0"/>
              </a:rPr>
              <a:t> and </a:t>
            </a:r>
            <a:r>
              <a:rPr lang="en-IN" sz="2400" b="1" dirty="0" smtClean="0">
                <a:latin typeface="Times New Roman" pitchFamily="18" charset="0"/>
                <a:cs typeface="Times New Roman" pitchFamily="18" charset="0"/>
              </a:rPr>
              <a:t>quick delivery</a:t>
            </a:r>
            <a:r>
              <a:rPr lang="en-IN" sz="2400" dirty="0" smtClean="0">
                <a:latin typeface="Times New Roman" pitchFamily="18" charset="0"/>
                <a:cs typeface="Times New Roman" pitchFamily="18" charset="0"/>
              </a:rPr>
              <a:t> of working software.</a:t>
            </a:r>
          </a:p>
          <a:p>
            <a:pPr algn="just">
              <a:buFont typeface="Wingdings" pitchFamily="2" charset="2"/>
              <a:buChar char="q"/>
            </a:pPr>
            <a:endParaRPr lang="en-IN"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It uses </a:t>
            </a:r>
            <a:r>
              <a:rPr lang="en-IN" sz="2400" b="1" dirty="0" smtClean="0">
                <a:latin typeface="Times New Roman" pitchFamily="18" charset="0"/>
                <a:cs typeface="Times New Roman" pitchFamily="18" charset="0"/>
              </a:rPr>
              <a:t>prototyping</a:t>
            </a:r>
            <a:r>
              <a:rPr lang="en-IN" sz="2400" dirty="0" smtClean="0">
                <a:latin typeface="Times New Roman" pitchFamily="18" charset="0"/>
                <a:cs typeface="Times New Roman" pitchFamily="18" charset="0"/>
              </a:rPr>
              <a:t> and </a:t>
            </a:r>
            <a:r>
              <a:rPr lang="en-IN" sz="2400" b="1" dirty="0" smtClean="0">
                <a:latin typeface="Times New Roman" pitchFamily="18" charset="0"/>
                <a:cs typeface="Times New Roman" pitchFamily="18" charset="0"/>
              </a:rPr>
              <a:t>iterative development</a:t>
            </a:r>
            <a:r>
              <a:rPr lang="en-IN" sz="2400" dirty="0" smtClean="0">
                <a:latin typeface="Times New Roman" pitchFamily="18" charset="0"/>
                <a:cs typeface="Times New Roman" pitchFamily="18" charset="0"/>
              </a:rPr>
              <a:t> instead of long planning and design phases.</a:t>
            </a:r>
          </a:p>
          <a:p>
            <a:pPr algn="just">
              <a:buFont typeface="Wingdings" pitchFamily="2" charset="2"/>
              <a:buChar char="q"/>
            </a:pPr>
            <a:endParaRPr lang="en-US" sz="2400" dirty="0" smtClean="0">
              <a:latin typeface="Times New Roman" pitchFamily="18" charset="0"/>
              <a:cs typeface="Times New Roman" pitchFamily="18" charset="0"/>
            </a:endParaRPr>
          </a:p>
          <a:p>
            <a:pPr algn="just">
              <a:buFont typeface="Wingdings" pitchFamily="2" charset="2"/>
              <a:buChar char="q"/>
            </a:pPr>
            <a:r>
              <a:rPr lang="en-IN" sz="2400" dirty="0" smtClean="0">
                <a:latin typeface="Times New Roman" pitchFamily="18" charset="0"/>
                <a:cs typeface="Times New Roman" pitchFamily="18" charset="0"/>
              </a:rPr>
              <a:t>The goal is to </a:t>
            </a:r>
            <a:r>
              <a:rPr lang="en-IN" sz="2400" b="1" dirty="0" smtClean="0">
                <a:latin typeface="Times New Roman" pitchFamily="18" charset="0"/>
                <a:cs typeface="Times New Roman" pitchFamily="18" charset="0"/>
              </a:rPr>
              <a:t>develop software quickly</a:t>
            </a:r>
            <a:r>
              <a:rPr lang="en-IN" sz="2400" dirty="0" smtClean="0">
                <a:latin typeface="Times New Roman" pitchFamily="18" charset="0"/>
                <a:cs typeface="Times New Roman" pitchFamily="18" charset="0"/>
              </a:rPr>
              <a:t> with active user involvement.</a:t>
            </a:r>
          </a:p>
          <a:p>
            <a:endParaRPr lang="en-I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Phases of RAD</a:t>
            </a:r>
            <a:r>
              <a:rPr lang="en-IN" b="1" dirty="0" smtClean="0"/>
              <a:t/>
            </a:r>
            <a:br>
              <a:rPr lang="en-IN" b="1" dirty="0" smtClean="0"/>
            </a:br>
            <a:endParaRPr lang="en-IN" dirty="0"/>
          </a:p>
        </p:txBody>
      </p:sp>
      <p:sp>
        <p:nvSpPr>
          <p:cNvPr id="3" name="Content Placeholder 2"/>
          <p:cNvSpPr>
            <a:spLocks noGrp="1"/>
          </p:cNvSpPr>
          <p:nvPr>
            <p:ph idx="1"/>
          </p:nvPr>
        </p:nvSpPr>
        <p:spPr>
          <a:xfrm>
            <a:off x="304800" y="990600"/>
            <a:ext cx="8382000" cy="5562600"/>
          </a:xfrm>
        </p:spPr>
        <p:txBody>
          <a:bodyPr>
            <a:normAutofit fontScale="85000" lnSpcReduction="20000"/>
          </a:bodyPr>
          <a:lstStyle/>
          <a:p>
            <a:pPr>
              <a:buNone/>
            </a:pPr>
            <a:r>
              <a:rPr lang="en-IN" sz="2400" b="1" dirty="0" smtClean="0">
                <a:latin typeface="Times New Roman" pitchFamily="18" charset="0"/>
                <a:cs typeface="Times New Roman" pitchFamily="18" charset="0"/>
              </a:rPr>
              <a:t>1. Requirement Planning Phase</a:t>
            </a:r>
          </a:p>
          <a:p>
            <a:pPr>
              <a:buFont typeface="Wingdings" pitchFamily="2" charset="2"/>
              <a:buChar char="Ø"/>
            </a:pPr>
            <a:r>
              <a:rPr lang="en-IN" sz="2400" dirty="0" smtClean="0">
                <a:latin typeface="Times New Roman" pitchFamily="18" charset="0"/>
                <a:cs typeface="Times New Roman" pitchFamily="18" charset="0"/>
              </a:rPr>
              <a:t>Collect requirements through workshops, discussions, questionnaires.</a:t>
            </a:r>
          </a:p>
          <a:p>
            <a:pPr>
              <a:buFont typeface="Wingdings" pitchFamily="2" charset="2"/>
              <a:buChar char="Ø"/>
            </a:pPr>
            <a:r>
              <a:rPr lang="en-IN" sz="2400" dirty="0" smtClean="0">
                <a:latin typeface="Times New Roman" pitchFamily="18" charset="0"/>
                <a:cs typeface="Times New Roman" pitchFamily="18" charset="0"/>
              </a:rPr>
              <a:t>Users and developers both participate actively.</a:t>
            </a:r>
          </a:p>
          <a:p>
            <a:pPr>
              <a:buNone/>
            </a:pPr>
            <a:endParaRPr lang="en-IN"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2. User Design Phase</a:t>
            </a:r>
          </a:p>
          <a:p>
            <a:pPr>
              <a:buFont typeface="Wingdings" pitchFamily="2" charset="2"/>
              <a:buChar char="Ø"/>
            </a:pPr>
            <a:r>
              <a:rPr lang="en-IN" sz="2400" dirty="0" smtClean="0">
                <a:latin typeface="Times New Roman" pitchFamily="18" charset="0"/>
                <a:cs typeface="Times New Roman" pitchFamily="18" charset="0"/>
              </a:rPr>
              <a:t>Build </a:t>
            </a:r>
            <a:r>
              <a:rPr lang="en-IN" sz="2400" b="1" dirty="0" smtClean="0">
                <a:latin typeface="Times New Roman" pitchFamily="18" charset="0"/>
                <a:cs typeface="Times New Roman" pitchFamily="18" charset="0"/>
              </a:rPr>
              <a:t>prototypes</a:t>
            </a:r>
            <a:r>
              <a:rPr lang="en-IN" sz="2400" dirty="0" smtClean="0">
                <a:latin typeface="Times New Roman" pitchFamily="18" charset="0"/>
                <a:cs typeface="Times New Roman" pitchFamily="18" charset="0"/>
              </a:rPr>
              <a:t> based on requirements.</a:t>
            </a:r>
          </a:p>
          <a:p>
            <a:pPr>
              <a:buFont typeface="Wingdings" pitchFamily="2" charset="2"/>
              <a:buChar char="Ø"/>
            </a:pPr>
            <a:r>
              <a:rPr lang="en-IN" sz="2400" dirty="0" smtClean="0">
                <a:latin typeface="Times New Roman" pitchFamily="18" charset="0"/>
                <a:cs typeface="Times New Roman" pitchFamily="18" charset="0"/>
              </a:rPr>
              <a:t>Users continuously give feedback on the prototypes.</a:t>
            </a:r>
          </a:p>
          <a:p>
            <a:pPr>
              <a:buFont typeface="Wingdings" pitchFamily="2" charset="2"/>
              <a:buChar char="Ø"/>
            </a:pPr>
            <a:r>
              <a:rPr lang="en-IN" sz="2400" dirty="0" smtClean="0">
                <a:latin typeface="Times New Roman" pitchFamily="18" charset="0"/>
                <a:cs typeface="Times New Roman" pitchFamily="18" charset="0"/>
              </a:rPr>
              <a:t>Changes are made quickly to match expectations.</a:t>
            </a:r>
          </a:p>
          <a:p>
            <a:pPr>
              <a:buNone/>
            </a:pPr>
            <a:endParaRPr lang="en-IN"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3. Construction Phase</a:t>
            </a:r>
          </a:p>
          <a:p>
            <a:pPr>
              <a:buFont typeface="Wingdings" pitchFamily="2" charset="2"/>
              <a:buChar char="Ø"/>
            </a:pPr>
            <a:r>
              <a:rPr lang="en-IN" sz="2400" dirty="0" smtClean="0">
                <a:latin typeface="Times New Roman" pitchFamily="18" charset="0"/>
                <a:cs typeface="Times New Roman" pitchFamily="18" charset="0"/>
              </a:rPr>
              <a:t>Actual system is built with reusable components and automated tools.</a:t>
            </a:r>
          </a:p>
          <a:p>
            <a:pPr>
              <a:buFont typeface="Wingdings" pitchFamily="2" charset="2"/>
              <a:buChar char="Ø"/>
            </a:pPr>
            <a:r>
              <a:rPr lang="en-IN" sz="2400" dirty="0" smtClean="0">
                <a:latin typeface="Times New Roman" pitchFamily="18" charset="0"/>
                <a:cs typeface="Times New Roman" pitchFamily="18" charset="0"/>
              </a:rPr>
              <a:t>Focus on rapid coding and testing.</a:t>
            </a:r>
          </a:p>
          <a:p>
            <a:pPr>
              <a:buFont typeface="Wingdings" pitchFamily="2" charset="2"/>
              <a:buChar char="Ø"/>
            </a:pPr>
            <a:r>
              <a:rPr lang="en-IN" sz="2400" dirty="0" smtClean="0">
                <a:latin typeface="Times New Roman" pitchFamily="18" charset="0"/>
                <a:cs typeface="Times New Roman" pitchFamily="18" charset="0"/>
              </a:rPr>
              <a:t>Developers use </a:t>
            </a:r>
            <a:r>
              <a:rPr lang="en-IN" sz="2400" b="1" dirty="0" smtClean="0">
                <a:latin typeface="Times New Roman" pitchFamily="18" charset="0"/>
                <a:cs typeface="Times New Roman" pitchFamily="18" charset="0"/>
              </a:rPr>
              <a:t>CASE (Computer-Aided Software Engineering) tools</a:t>
            </a:r>
            <a:r>
              <a:rPr lang="en-IN" sz="2400" dirty="0" smtClean="0">
                <a:latin typeface="Times New Roman" pitchFamily="18" charset="0"/>
                <a:cs typeface="Times New Roman" pitchFamily="18" charset="0"/>
              </a:rPr>
              <a:t>.</a:t>
            </a:r>
          </a:p>
          <a:p>
            <a:pPr>
              <a:buNone/>
            </a:pPr>
            <a:endParaRPr lang="en-IN"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4. Cutover Phase</a:t>
            </a:r>
          </a:p>
          <a:p>
            <a:pPr>
              <a:buFont typeface="Wingdings" pitchFamily="2" charset="2"/>
              <a:buChar char="Ø"/>
            </a:pPr>
            <a:r>
              <a:rPr lang="en-IN" sz="2400" dirty="0" smtClean="0">
                <a:latin typeface="Times New Roman" pitchFamily="18" charset="0"/>
                <a:cs typeface="Times New Roman" pitchFamily="18" charset="0"/>
              </a:rPr>
              <a:t>Final system is tested and deployed.</a:t>
            </a:r>
          </a:p>
          <a:p>
            <a:pPr>
              <a:buFont typeface="Wingdings" pitchFamily="2" charset="2"/>
              <a:buChar char="Ø"/>
            </a:pPr>
            <a:r>
              <a:rPr lang="en-IN" sz="2400" dirty="0" smtClean="0">
                <a:latin typeface="Times New Roman" pitchFamily="18" charset="0"/>
                <a:cs typeface="Times New Roman" pitchFamily="18" charset="0"/>
              </a:rPr>
              <a:t>Includes user training, system conversion, and maintenance.</a:t>
            </a:r>
          </a:p>
          <a:p>
            <a:endParaRPr lang="en-I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sz="2200" b="1" dirty="0" smtClean="0">
                <a:latin typeface="Times New Roman" pitchFamily="18" charset="0"/>
                <a:cs typeface="Times New Roman" pitchFamily="18" charset="0"/>
              </a:rPr>
              <a:t>Example of RAD Model</a:t>
            </a:r>
            <a:br>
              <a:rPr lang="en-IN" sz="2200" b="1" dirty="0" smtClean="0">
                <a:latin typeface="Times New Roman" pitchFamily="18" charset="0"/>
                <a:cs typeface="Times New Roman" pitchFamily="18" charset="0"/>
              </a:rPr>
            </a:br>
            <a:r>
              <a:rPr lang="en-IN" sz="2200" dirty="0" smtClean="0">
                <a:latin typeface="Times New Roman" pitchFamily="18" charset="0"/>
                <a:cs typeface="Times New Roman" pitchFamily="18" charset="0"/>
              </a:rPr>
              <a:t>Let’s take the example of building a </a:t>
            </a:r>
            <a:r>
              <a:rPr lang="en-IN" sz="2200" b="1" dirty="0" smtClean="0">
                <a:latin typeface="Times New Roman" pitchFamily="18" charset="0"/>
                <a:cs typeface="Times New Roman" pitchFamily="18" charset="0"/>
              </a:rPr>
              <a:t>College Admission System</a:t>
            </a:r>
            <a:r>
              <a:rPr lang="en-IN" sz="2200" dirty="0" smtClean="0">
                <a:latin typeface="Times New Roman" pitchFamily="18" charset="0"/>
                <a:cs typeface="Times New Roman" pitchFamily="18" charset="0"/>
              </a:rPr>
              <a:t>.</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buNone/>
            </a:pPr>
            <a:r>
              <a:rPr lang="en-IN" sz="2400" b="1" dirty="0" smtClean="0">
                <a:latin typeface="Times New Roman" pitchFamily="18" charset="0"/>
                <a:cs typeface="Times New Roman" pitchFamily="18" charset="0"/>
              </a:rPr>
              <a:t>1. Requirement Planning Phase</a:t>
            </a:r>
          </a:p>
          <a:p>
            <a:pPr>
              <a:buNone/>
            </a:pPr>
            <a:r>
              <a:rPr lang="en-IN" sz="2400" dirty="0" smtClean="0">
                <a:latin typeface="Times New Roman" pitchFamily="18" charset="0"/>
                <a:cs typeface="Times New Roman" pitchFamily="18" charset="0"/>
              </a:rPr>
              <a:t>College management, admission staff, and developers meet.</a:t>
            </a:r>
          </a:p>
          <a:p>
            <a:pPr>
              <a:buNone/>
            </a:pPr>
            <a:r>
              <a:rPr lang="en-IN" sz="2400" dirty="0" smtClean="0">
                <a:latin typeface="Times New Roman" pitchFamily="18" charset="0"/>
                <a:cs typeface="Times New Roman" pitchFamily="18" charset="0"/>
              </a:rPr>
              <a:t>Requirements identified:</a:t>
            </a:r>
          </a:p>
          <a:p>
            <a:pPr lvl="1">
              <a:buFont typeface="Wingdings" pitchFamily="2" charset="2"/>
              <a:buChar char="§"/>
            </a:pPr>
            <a:r>
              <a:rPr lang="en-IN" sz="2000" dirty="0" smtClean="0">
                <a:latin typeface="Times New Roman" pitchFamily="18" charset="0"/>
                <a:cs typeface="Times New Roman" pitchFamily="18" charset="0"/>
              </a:rPr>
              <a:t>Online application form</a:t>
            </a:r>
          </a:p>
          <a:p>
            <a:pPr lvl="1">
              <a:buFont typeface="Wingdings" pitchFamily="2" charset="2"/>
              <a:buChar char="§"/>
            </a:pPr>
            <a:r>
              <a:rPr lang="en-IN" sz="2000" dirty="0" smtClean="0">
                <a:latin typeface="Times New Roman" pitchFamily="18" charset="0"/>
                <a:cs typeface="Times New Roman" pitchFamily="18" charset="0"/>
              </a:rPr>
              <a:t>Document upload</a:t>
            </a:r>
          </a:p>
          <a:p>
            <a:pPr lvl="1">
              <a:buFont typeface="Wingdings" pitchFamily="2" charset="2"/>
              <a:buChar char="§"/>
            </a:pPr>
            <a:r>
              <a:rPr lang="en-IN" sz="2000" dirty="0" smtClean="0">
                <a:latin typeface="Times New Roman" pitchFamily="18" charset="0"/>
                <a:cs typeface="Times New Roman" pitchFamily="18" charset="0"/>
              </a:rPr>
              <a:t>Fee payment</a:t>
            </a:r>
          </a:p>
          <a:p>
            <a:pPr lvl="1">
              <a:buFont typeface="Wingdings" pitchFamily="2" charset="2"/>
              <a:buChar char="§"/>
            </a:pPr>
            <a:r>
              <a:rPr lang="en-IN" sz="2000" dirty="0" smtClean="0">
                <a:latin typeface="Times New Roman" pitchFamily="18" charset="0"/>
                <a:cs typeface="Times New Roman" pitchFamily="18" charset="0"/>
              </a:rPr>
              <a:t>Admission confirmation</a:t>
            </a:r>
          </a:p>
          <a:p>
            <a:endParaRPr lang="en-I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a:buNone/>
            </a:pPr>
            <a:r>
              <a:rPr lang="en-IN" sz="2400" b="1" dirty="0" smtClean="0">
                <a:latin typeface="Times New Roman" pitchFamily="18" charset="0"/>
                <a:cs typeface="Times New Roman" pitchFamily="18" charset="0"/>
              </a:rPr>
              <a:t>2. User Design Phase</a:t>
            </a:r>
          </a:p>
          <a:p>
            <a:pPr>
              <a:buNone/>
            </a:pPr>
            <a:endParaRPr lang="en-IN" sz="2400" b="1" dirty="0" smtClean="0">
              <a:latin typeface="Times New Roman" pitchFamily="18" charset="0"/>
              <a:cs typeface="Times New Roman" pitchFamily="18" charset="0"/>
            </a:endParaRPr>
          </a:p>
          <a:p>
            <a:pPr>
              <a:buFont typeface="Wingdings" pitchFamily="2" charset="2"/>
              <a:buChar char="§"/>
            </a:pPr>
            <a:r>
              <a:rPr lang="en-IN" sz="2400" dirty="0" smtClean="0">
                <a:latin typeface="Times New Roman" pitchFamily="18" charset="0"/>
                <a:cs typeface="Times New Roman" pitchFamily="18" charset="0"/>
              </a:rPr>
              <a:t>Developers quickly create a </a:t>
            </a:r>
            <a:r>
              <a:rPr lang="en-IN" sz="2400" b="1" dirty="0" smtClean="0">
                <a:latin typeface="Times New Roman" pitchFamily="18" charset="0"/>
                <a:cs typeface="Times New Roman" pitchFamily="18" charset="0"/>
              </a:rPr>
              <a:t>prototype</a:t>
            </a:r>
            <a:r>
              <a:rPr lang="en-IN" sz="2400" dirty="0" smtClean="0">
                <a:latin typeface="Times New Roman" pitchFamily="18" charset="0"/>
                <a:cs typeface="Times New Roman" pitchFamily="18" charset="0"/>
              </a:rPr>
              <a:t> of an online form.</a:t>
            </a:r>
          </a:p>
          <a:p>
            <a:pPr>
              <a:buFont typeface="Wingdings" pitchFamily="2" charset="2"/>
              <a:buChar char="§"/>
            </a:pPr>
            <a:r>
              <a:rPr lang="en-IN" sz="2400" dirty="0" smtClean="0">
                <a:latin typeface="Times New Roman" pitchFamily="18" charset="0"/>
                <a:cs typeface="Times New Roman" pitchFamily="18" charset="0"/>
              </a:rPr>
              <a:t>Staff reviews it → suggests adding “course preference” option.</a:t>
            </a:r>
          </a:p>
          <a:p>
            <a:pPr>
              <a:buFont typeface="Wingdings" pitchFamily="2" charset="2"/>
              <a:buChar char="§"/>
            </a:pPr>
            <a:r>
              <a:rPr lang="en-IN" sz="2400" dirty="0" smtClean="0">
                <a:latin typeface="Times New Roman" pitchFamily="18" charset="0"/>
                <a:cs typeface="Times New Roman" pitchFamily="18" charset="0"/>
              </a:rPr>
              <a:t>Prototype updated and shown again.</a:t>
            </a:r>
          </a:p>
          <a:p>
            <a:pPr>
              <a:buFont typeface="Wingdings" pitchFamily="2" charset="2"/>
              <a:buChar char="§"/>
            </a:pPr>
            <a:r>
              <a:rPr lang="en-IN" sz="2400" dirty="0" smtClean="0">
                <a:latin typeface="Times New Roman" pitchFamily="18" charset="0"/>
                <a:cs typeface="Times New Roman" pitchFamily="18" charset="0"/>
              </a:rPr>
              <a:t>Iterations continue until form meets expectations.</a:t>
            </a:r>
          </a:p>
          <a:p>
            <a:pPr>
              <a:buNone/>
            </a:pPr>
            <a:endParaRPr lang="en-IN"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3. Construction Phase</a:t>
            </a:r>
          </a:p>
          <a:p>
            <a:pPr>
              <a:buFont typeface="Wingdings" pitchFamily="2" charset="2"/>
              <a:buChar char="§"/>
            </a:pPr>
            <a:r>
              <a:rPr lang="en-IN" sz="2400" dirty="0" smtClean="0">
                <a:latin typeface="Times New Roman" pitchFamily="18" charset="0"/>
                <a:cs typeface="Times New Roman" pitchFamily="18" charset="0"/>
              </a:rPr>
              <a:t>Developers use rapid tools (like Oracle Forms, Java Spring, or PHP frameworks).</a:t>
            </a:r>
          </a:p>
          <a:p>
            <a:pPr>
              <a:buFont typeface="Wingdings" pitchFamily="2" charset="2"/>
              <a:buChar char="§"/>
            </a:pPr>
            <a:r>
              <a:rPr lang="en-IN" sz="2400" dirty="0" smtClean="0">
                <a:latin typeface="Times New Roman" pitchFamily="18" charset="0"/>
                <a:cs typeface="Times New Roman" pitchFamily="18" charset="0"/>
              </a:rPr>
              <a:t>Build modules: Application, Document Upload, Payment, Confirmation.</a:t>
            </a:r>
          </a:p>
          <a:p>
            <a:pPr>
              <a:buFont typeface="Wingdings" pitchFamily="2" charset="2"/>
              <a:buChar char="§"/>
            </a:pPr>
            <a:r>
              <a:rPr lang="en-IN" sz="2400" dirty="0" smtClean="0">
                <a:latin typeface="Times New Roman" pitchFamily="18" charset="0"/>
                <a:cs typeface="Times New Roman" pitchFamily="18" charset="0"/>
              </a:rPr>
              <a:t>Unit testing done immediately.</a:t>
            </a:r>
          </a:p>
          <a:p>
            <a:endParaRPr lang="en-I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4525963"/>
          </a:xfrm>
        </p:spPr>
        <p:txBody>
          <a:bodyPr/>
          <a:lstStyle/>
          <a:p>
            <a:pPr>
              <a:buNone/>
            </a:pPr>
            <a:r>
              <a:rPr lang="en-IN" sz="2800" b="1" dirty="0" smtClean="0">
                <a:latin typeface="Times New Roman" pitchFamily="18" charset="0"/>
                <a:cs typeface="Times New Roman" pitchFamily="18" charset="0"/>
              </a:rPr>
              <a:t>4. Cutover Phase</a:t>
            </a:r>
          </a:p>
          <a:p>
            <a:pPr>
              <a:buFont typeface="Wingdings" pitchFamily="2" charset="2"/>
              <a:buChar char="§"/>
            </a:pPr>
            <a:r>
              <a:rPr lang="en-IN" sz="2800" dirty="0" smtClean="0">
                <a:latin typeface="Times New Roman" pitchFamily="18" charset="0"/>
                <a:cs typeface="Times New Roman" pitchFamily="18" charset="0"/>
              </a:rPr>
              <a:t>System </a:t>
            </a:r>
            <a:r>
              <a:rPr lang="en-IN" sz="2400" dirty="0" smtClean="0">
                <a:latin typeface="Times New Roman" pitchFamily="18" charset="0"/>
                <a:cs typeface="Times New Roman" pitchFamily="18" charset="0"/>
              </a:rPr>
              <a:t>tested end-to-end with sample student data.</a:t>
            </a:r>
          </a:p>
          <a:p>
            <a:pPr>
              <a:buFont typeface="Wingdings" pitchFamily="2" charset="2"/>
              <a:buChar char="§"/>
            </a:pPr>
            <a:r>
              <a:rPr lang="en-IN" sz="2400" dirty="0" smtClean="0">
                <a:latin typeface="Times New Roman" pitchFamily="18" charset="0"/>
                <a:cs typeface="Times New Roman" pitchFamily="18" charset="0"/>
              </a:rPr>
              <a:t>Staff trained to use the system.</a:t>
            </a:r>
          </a:p>
          <a:p>
            <a:pPr>
              <a:buFont typeface="Wingdings" pitchFamily="2" charset="2"/>
              <a:buChar char="§"/>
            </a:pPr>
            <a:r>
              <a:rPr lang="en-IN" sz="2400" dirty="0" smtClean="0">
                <a:latin typeface="Times New Roman" pitchFamily="18" charset="0"/>
                <a:cs typeface="Times New Roman" pitchFamily="18" charset="0"/>
              </a:rPr>
              <a:t>System deployed before </a:t>
            </a:r>
            <a:r>
              <a:rPr lang="en-IN" sz="2800" dirty="0" smtClean="0">
                <a:latin typeface="Times New Roman" pitchFamily="18" charset="0"/>
                <a:cs typeface="Times New Roman" pitchFamily="18" charset="0"/>
              </a:rPr>
              <a:t>admission season begins.</a:t>
            </a:r>
          </a:p>
          <a:p>
            <a:endParaRPr lang="en-I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pPr algn="just">
              <a:buNone/>
            </a:pPr>
            <a:r>
              <a:rPr lang="en-IN" b="1" dirty="0" smtClean="0">
                <a:solidFill>
                  <a:srgbClr val="C00000"/>
                </a:solidFill>
                <a:latin typeface="Times New Roman" pitchFamily="18" charset="0"/>
                <a:cs typeface="Times New Roman" pitchFamily="18" charset="0"/>
              </a:rPr>
              <a:t>Features</a:t>
            </a:r>
          </a:p>
          <a:p>
            <a:pPr algn="just">
              <a:buFont typeface="Wingdings" pitchFamily="2" charset="2"/>
              <a:buChar char="Ø"/>
            </a:pPr>
            <a:r>
              <a:rPr lang="en-IN" dirty="0" smtClean="0">
                <a:latin typeface="Times New Roman" pitchFamily="18" charset="0"/>
                <a:cs typeface="Times New Roman" pitchFamily="18" charset="0"/>
              </a:rPr>
              <a:t>Iterative and component-based development.</a:t>
            </a:r>
          </a:p>
          <a:p>
            <a:pPr algn="just">
              <a:buFont typeface="Wingdings" pitchFamily="2" charset="2"/>
              <a:buChar char="Ø"/>
            </a:pPr>
            <a:r>
              <a:rPr lang="en-IN" dirty="0" smtClean="0">
                <a:latin typeface="Times New Roman" pitchFamily="18" charset="0"/>
                <a:cs typeface="Times New Roman" pitchFamily="18" charset="0"/>
              </a:rPr>
              <a:t>Heavy focus on </a:t>
            </a:r>
            <a:r>
              <a:rPr lang="en-IN" b="1" dirty="0" smtClean="0">
                <a:latin typeface="Times New Roman" pitchFamily="18" charset="0"/>
                <a:cs typeface="Times New Roman" pitchFamily="18" charset="0"/>
              </a:rPr>
              <a:t>prototypes</a:t>
            </a:r>
            <a:r>
              <a:rPr lang="en-IN" dirty="0" smtClean="0">
                <a:latin typeface="Times New Roman" pitchFamily="18" charset="0"/>
                <a:cs typeface="Times New Roman" pitchFamily="18" charset="0"/>
              </a:rPr>
              <a:t> for validation.</a:t>
            </a:r>
          </a:p>
          <a:p>
            <a:pPr algn="just">
              <a:buFont typeface="Wingdings" pitchFamily="2" charset="2"/>
              <a:buChar char="Ø"/>
            </a:pPr>
            <a:r>
              <a:rPr lang="en-IN" dirty="0" smtClean="0">
                <a:latin typeface="Times New Roman" pitchFamily="18" charset="0"/>
                <a:cs typeface="Times New Roman" pitchFamily="18" charset="0"/>
              </a:rPr>
              <a:t>Requires continuous customer interaction.</a:t>
            </a:r>
          </a:p>
          <a:p>
            <a:pPr algn="just">
              <a:buNone/>
            </a:pPr>
            <a:endParaRPr lang="en-IN"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Advantages of RAD Model</a:t>
            </a:r>
          </a:p>
          <a:p>
            <a:pPr>
              <a:buFont typeface="Wingdings" pitchFamily="2" charset="2"/>
              <a:buChar char="Ø"/>
            </a:pPr>
            <a:r>
              <a:rPr lang="en-IN" dirty="0" smtClean="0">
                <a:latin typeface="Times New Roman" pitchFamily="18" charset="0"/>
                <a:cs typeface="Times New Roman" pitchFamily="18" charset="0"/>
              </a:rPr>
              <a:t>Very </a:t>
            </a:r>
            <a:r>
              <a:rPr lang="en-IN" b="1" dirty="0" smtClean="0">
                <a:latin typeface="Times New Roman" pitchFamily="18" charset="0"/>
                <a:cs typeface="Times New Roman" pitchFamily="18" charset="0"/>
              </a:rPr>
              <a:t>fast development</a:t>
            </a:r>
            <a:r>
              <a:rPr lang="en-IN" dirty="0" smtClean="0">
                <a:latin typeface="Times New Roman" pitchFamily="18" charset="0"/>
                <a:cs typeface="Times New Roman" pitchFamily="18" charset="0"/>
              </a:rPr>
              <a:t> and delivery.</a:t>
            </a:r>
          </a:p>
          <a:p>
            <a:pPr>
              <a:buFont typeface="Wingdings" pitchFamily="2" charset="2"/>
              <a:buChar char="Ø"/>
            </a:pPr>
            <a:r>
              <a:rPr lang="en-IN" dirty="0" smtClean="0">
                <a:latin typeface="Times New Roman" pitchFamily="18" charset="0"/>
                <a:cs typeface="Times New Roman" pitchFamily="18" charset="0"/>
              </a:rPr>
              <a:t>Users are highly involved → final system matches their needs.</a:t>
            </a:r>
          </a:p>
          <a:p>
            <a:pPr>
              <a:buFont typeface="Wingdings" pitchFamily="2" charset="2"/>
              <a:buChar char="Ø"/>
            </a:pPr>
            <a:r>
              <a:rPr lang="en-IN" dirty="0" smtClean="0">
                <a:latin typeface="Times New Roman" pitchFamily="18" charset="0"/>
                <a:cs typeface="Times New Roman" pitchFamily="18" charset="0"/>
              </a:rPr>
              <a:t>Easy to incorporate changes from feedback.</a:t>
            </a:r>
          </a:p>
          <a:p>
            <a:pPr>
              <a:buFont typeface="Wingdings" pitchFamily="2" charset="2"/>
              <a:buChar char="Ø"/>
            </a:pPr>
            <a:r>
              <a:rPr lang="en-IN" dirty="0" smtClean="0">
                <a:latin typeface="Times New Roman" pitchFamily="18" charset="0"/>
                <a:cs typeface="Times New Roman" pitchFamily="18" charset="0"/>
              </a:rPr>
              <a:t>Reduces overall development time.</a:t>
            </a:r>
          </a:p>
          <a:p>
            <a:pPr>
              <a:buNone/>
            </a:pPr>
            <a:endParaRPr lang="en-IN"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Disadvantages</a:t>
            </a:r>
          </a:p>
          <a:p>
            <a:pPr>
              <a:buFont typeface="Wingdings" pitchFamily="2" charset="2"/>
              <a:buChar char="Ø"/>
            </a:pPr>
            <a:r>
              <a:rPr lang="en-IN" dirty="0" smtClean="0">
                <a:latin typeface="Times New Roman" pitchFamily="18" charset="0"/>
                <a:cs typeface="Times New Roman" pitchFamily="18" charset="0"/>
              </a:rPr>
              <a:t>Requires </a:t>
            </a:r>
            <a:r>
              <a:rPr lang="en-IN" b="1" dirty="0" smtClean="0">
                <a:latin typeface="Times New Roman" pitchFamily="18" charset="0"/>
                <a:cs typeface="Times New Roman" pitchFamily="18" charset="0"/>
              </a:rPr>
              <a:t>skilled developers</a:t>
            </a:r>
            <a:r>
              <a:rPr lang="en-IN" dirty="0" smtClean="0">
                <a:latin typeface="Times New Roman" pitchFamily="18" charset="0"/>
                <a:cs typeface="Times New Roman" pitchFamily="18" charset="0"/>
              </a:rPr>
              <a:t> and use of advanced tools.</a:t>
            </a:r>
          </a:p>
          <a:p>
            <a:pPr>
              <a:buFont typeface="Wingdings" pitchFamily="2" charset="2"/>
              <a:buChar char="Ø"/>
            </a:pPr>
            <a:r>
              <a:rPr lang="en-IN" dirty="0" smtClean="0">
                <a:latin typeface="Times New Roman" pitchFamily="18" charset="0"/>
                <a:cs typeface="Times New Roman" pitchFamily="18" charset="0"/>
              </a:rPr>
              <a:t>Not suitable for very </a:t>
            </a:r>
            <a:r>
              <a:rPr lang="en-IN" b="1" dirty="0" smtClean="0">
                <a:latin typeface="Times New Roman" pitchFamily="18" charset="0"/>
                <a:cs typeface="Times New Roman" pitchFamily="18" charset="0"/>
              </a:rPr>
              <a:t>large, complex systems</a:t>
            </a:r>
            <a:r>
              <a:rPr lang="en-IN" dirty="0" smtClean="0">
                <a:latin typeface="Times New Roman" pitchFamily="18" charset="0"/>
                <a:cs typeface="Times New Roman" pitchFamily="18" charset="0"/>
              </a:rPr>
              <a:t>.</a:t>
            </a:r>
          </a:p>
          <a:p>
            <a:pPr>
              <a:buFont typeface="Wingdings" pitchFamily="2" charset="2"/>
              <a:buChar char="Ø"/>
            </a:pPr>
            <a:r>
              <a:rPr lang="en-IN" dirty="0" smtClean="0">
                <a:latin typeface="Times New Roman" pitchFamily="18" charset="0"/>
                <a:cs typeface="Times New Roman" pitchFamily="18" charset="0"/>
              </a:rPr>
              <a:t>Depends on </a:t>
            </a:r>
            <a:r>
              <a:rPr lang="en-IN" b="1" dirty="0" smtClean="0">
                <a:latin typeface="Times New Roman" pitchFamily="18" charset="0"/>
                <a:cs typeface="Times New Roman" pitchFamily="18" charset="0"/>
              </a:rPr>
              <a:t>continuous user involvement</a:t>
            </a:r>
            <a:r>
              <a:rPr lang="en-IN" dirty="0" smtClean="0">
                <a:latin typeface="Times New Roman" pitchFamily="18" charset="0"/>
                <a:cs typeface="Times New Roman" pitchFamily="18" charset="0"/>
              </a:rPr>
              <a:t>.</a:t>
            </a:r>
          </a:p>
          <a:p>
            <a:pPr>
              <a:buFont typeface="Wingdings" pitchFamily="2" charset="2"/>
              <a:buChar char="Ø"/>
            </a:pPr>
            <a:r>
              <a:rPr lang="en-IN" dirty="0" smtClean="0">
                <a:latin typeface="Times New Roman" pitchFamily="18" charset="0"/>
                <a:cs typeface="Times New Roman" pitchFamily="18" charset="0"/>
              </a:rPr>
              <a:t>Difficult to manage if requirements are not clear.</a:t>
            </a:r>
          </a:p>
          <a:p>
            <a:endParaRPr lang="en-I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latin typeface="Times New Roman" pitchFamily="18" charset="0"/>
                <a:cs typeface="Times New Roman" pitchFamily="18" charset="0"/>
              </a:rPr>
              <a:t>Real Life  Examples</a:t>
            </a:r>
            <a:endParaRPr lang="en-IN"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buNone/>
            </a:pPr>
            <a:r>
              <a:rPr lang="en-IN" b="1" dirty="0" smtClean="0">
                <a:latin typeface="Times New Roman" pitchFamily="18" charset="0"/>
                <a:cs typeface="Times New Roman" pitchFamily="18" charset="0"/>
              </a:rPr>
              <a:t>1. Waterfall Model</a:t>
            </a:r>
          </a:p>
          <a:p>
            <a:pPr>
              <a:buNone/>
            </a:pPr>
            <a:r>
              <a:rPr lang="en-IN" b="1" dirty="0" smtClean="0">
                <a:latin typeface="Times New Roman" pitchFamily="18" charset="0"/>
                <a:cs typeface="Times New Roman" pitchFamily="18" charset="0"/>
              </a:rPr>
              <a:t>Example:</a:t>
            </a: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Banking System (e.g., Core Banking Software like </a:t>
            </a:r>
            <a:r>
              <a:rPr lang="en-IN" b="1" dirty="0" err="1" smtClean="0">
                <a:latin typeface="Times New Roman" pitchFamily="18" charset="0"/>
                <a:cs typeface="Times New Roman" pitchFamily="18" charset="0"/>
              </a:rPr>
              <a:t>Finacle</a:t>
            </a:r>
            <a:r>
              <a:rPr lang="en-IN" b="1" dirty="0" smtClean="0">
                <a:latin typeface="Times New Roman" pitchFamily="18" charset="0"/>
                <a:cs typeface="Times New Roman" pitchFamily="18" charset="0"/>
              </a:rPr>
              <a:t>)</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Requirements are fixed, strict regulations.</a:t>
            </a:r>
          </a:p>
          <a:p>
            <a:r>
              <a:rPr lang="en-IN" dirty="0" smtClean="0">
                <a:latin typeface="Times New Roman" pitchFamily="18" charset="0"/>
                <a:cs typeface="Times New Roman" pitchFamily="18" charset="0"/>
              </a:rPr>
              <a:t>Follows sequential phases: requirements → design → coding → testing → deployment.</a:t>
            </a:r>
          </a:p>
          <a:p>
            <a:r>
              <a:rPr lang="en-IN" dirty="0" smtClean="0">
                <a:latin typeface="Times New Roman" pitchFamily="18" charset="0"/>
                <a:cs typeface="Times New Roman" pitchFamily="18" charset="0"/>
              </a:rPr>
              <a:t>Changes are minimal once development starts.</a:t>
            </a:r>
          </a:p>
          <a:p>
            <a:pPr>
              <a:buNone/>
            </a:pPr>
            <a:endParaRPr lang="en-IN"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2. V-Model (Verification &amp; Validation Model)</a:t>
            </a:r>
          </a:p>
          <a:p>
            <a:r>
              <a:rPr lang="en-IN" b="1" dirty="0" smtClean="0">
                <a:latin typeface="Times New Roman" pitchFamily="18" charset="0"/>
                <a:cs typeface="Times New Roman" pitchFamily="18" charset="0"/>
              </a:rPr>
              <a:t>Example:</a:t>
            </a: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Air Traffic Control System / Medical Device Software</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Safety-critical systems where </a:t>
            </a:r>
            <a:r>
              <a:rPr lang="en-IN" b="1" dirty="0" smtClean="0">
                <a:latin typeface="Times New Roman" pitchFamily="18" charset="0"/>
                <a:cs typeface="Times New Roman" pitchFamily="18" charset="0"/>
              </a:rPr>
              <a:t>testing at every stage</a:t>
            </a:r>
            <a:r>
              <a:rPr lang="en-IN" dirty="0" smtClean="0">
                <a:latin typeface="Times New Roman" pitchFamily="18" charset="0"/>
                <a:cs typeface="Times New Roman" pitchFamily="18" charset="0"/>
              </a:rPr>
              <a:t> is essential.</a:t>
            </a:r>
          </a:p>
          <a:p>
            <a:r>
              <a:rPr lang="en-IN" dirty="0" smtClean="0">
                <a:latin typeface="Times New Roman" pitchFamily="18" charset="0"/>
                <a:cs typeface="Times New Roman" pitchFamily="18" charset="0"/>
              </a:rPr>
              <a:t>High reliability needed, so verification &amp; validation go hand-in-hand.</a:t>
            </a:r>
          </a:p>
          <a:p>
            <a:endParaRPr lang="en-I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514350" indent="-514350" algn="just">
              <a:buNone/>
            </a:pPr>
            <a:r>
              <a:rPr lang="en-IN" sz="2400" b="1" dirty="0" smtClean="0">
                <a:latin typeface="Times New Roman" pitchFamily="18" charset="0"/>
                <a:cs typeface="Times New Roman" pitchFamily="18" charset="0"/>
              </a:rPr>
              <a:t>3. Incremental Model</a:t>
            </a:r>
          </a:p>
          <a:p>
            <a:pPr marL="514350" indent="-514350" algn="just">
              <a:buNone/>
            </a:pPr>
            <a:r>
              <a:rPr lang="en-IN" sz="2400" b="1" dirty="0" smtClean="0">
                <a:latin typeface="Times New Roman" pitchFamily="18" charset="0"/>
                <a:cs typeface="Times New Roman" pitchFamily="18" charset="0"/>
              </a:rPr>
              <a:t>Example:</a:t>
            </a: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Microsoft Office Suite</a:t>
            </a:r>
            <a:endParaRPr lang="en-IN" sz="2400" dirty="0" smtClean="0">
              <a:latin typeface="Times New Roman" pitchFamily="18" charset="0"/>
              <a:cs typeface="Times New Roman" pitchFamily="18" charset="0"/>
            </a:endParaRPr>
          </a:p>
          <a:p>
            <a:pPr marL="514350" indent="-514350" algn="just"/>
            <a:r>
              <a:rPr lang="en-IN" sz="2400" dirty="0" smtClean="0">
                <a:latin typeface="Times New Roman" pitchFamily="18" charset="0"/>
                <a:cs typeface="Times New Roman" pitchFamily="18" charset="0"/>
              </a:rPr>
              <a:t>Delivered in parts (e.g., Word, Excel, PowerPoint developed and released in increments).</a:t>
            </a:r>
          </a:p>
          <a:p>
            <a:pPr marL="514350" indent="-514350" algn="just"/>
            <a:r>
              <a:rPr lang="en-IN" sz="2400" dirty="0" smtClean="0">
                <a:latin typeface="Times New Roman" pitchFamily="18" charset="0"/>
                <a:cs typeface="Times New Roman" pitchFamily="18" charset="0"/>
              </a:rPr>
              <a:t>Customers can use some features while others are still being developed.</a:t>
            </a:r>
          </a:p>
          <a:p>
            <a:pPr marL="514350" indent="-514350" algn="just">
              <a:buNone/>
            </a:pPr>
            <a:endParaRPr lang="en-IN" sz="2400" dirty="0" smtClean="0">
              <a:latin typeface="Times New Roman" pitchFamily="18" charset="0"/>
              <a:cs typeface="Times New Roman" pitchFamily="18" charset="0"/>
            </a:endParaRPr>
          </a:p>
          <a:p>
            <a:pPr marL="514350" indent="-514350" algn="just">
              <a:buNone/>
            </a:pPr>
            <a:r>
              <a:rPr lang="en-IN" sz="2400" b="1" dirty="0" smtClean="0">
                <a:latin typeface="Times New Roman" pitchFamily="18" charset="0"/>
                <a:cs typeface="Times New Roman" pitchFamily="18" charset="0"/>
              </a:rPr>
              <a:t>4. Spiral Model</a:t>
            </a:r>
          </a:p>
          <a:p>
            <a:pPr marL="514350" indent="-514350" algn="just">
              <a:buNone/>
            </a:pPr>
            <a:r>
              <a:rPr lang="en-IN" sz="2400" b="1" dirty="0" smtClean="0">
                <a:latin typeface="Times New Roman" pitchFamily="18" charset="0"/>
                <a:cs typeface="Times New Roman" pitchFamily="18" charset="0"/>
              </a:rPr>
              <a:t>Example:</a:t>
            </a: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NASA Projects / Large </a:t>
            </a:r>
            <a:r>
              <a:rPr lang="en-IN" sz="2400" b="1" dirty="0" err="1" smtClean="0">
                <a:latin typeface="Times New Roman" pitchFamily="18" charset="0"/>
                <a:cs typeface="Times New Roman" pitchFamily="18" charset="0"/>
              </a:rPr>
              <a:t>Defense</a:t>
            </a:r>
            <a:r>
              <a:rPr lang="en-IN" sz="2400" b="1" dirty="0" smtClean="0">
                <a:latin typeface="Times New Roman" pitchFamily="18" charset="0"/>
                <a:cs typeface="Times New Roman" pitchFamily="18" charset="0"/>
              </a:rPr>
              <a:t> Systems</a:t>
            </a:r>
            <a:endParaRPr lang="en-IN" sz="2400" dirty="0" smtClean="0">
              <a:latin typeface="Times New Roman" pitchFamily="18" charset="0"/>
              <a:cs typeface="Times New Roman" pitchFamily="18" charset="0"/>
            </a:endParaRPr>
          </a:p>
          <a:p>
            <a:pPr marL="514350" indent="-514350" algn="just"/>
            <a:r>
              <a:rPr lang="en-IN" sz="2400" dirty="0" smtClean="0">
                <a:latin typeface="Times New Roman" pitchFamily="18" charset="0"/>
                <a:cs typeface="Times New Roman" pitchFamily="18" charset="0"/>
              </a:rPr>
              <a:t>Focuses on </a:t>
            </a:r>
            <a:r>
              <a:rPr lang="en-IN" sz="2400" b="1" dirty="0" smtClean="0">
                <a:latin typeface="Times New Roman" pitchFamily="18" charset="0"/>
                <a:cs typeface="Times New Roman" pitchFamily="18" charset="0"/>
              </a:rPr>
              <a:t>risk analysis</a:t>
            </a:r>
            <a:r>
              <a:rPr lang="en-IN" sz="2400" dirty="0" smtClean="0">
                <a:latin typeface="Times New Roman" pitchFamily="18" charset="0"/>
                <a:cs typeface="Times New Roman" pitchFamily="18" charset="0"/>
              </a:rPr>
              <a:t> at each phase.</a:t>
            </a:r>
          </a:p>
          <a:p>
            <a:pPr marL="514350" indent="-514350" algn="just"/>
            <a:r>
              <a:rPr lang="en-IN" sz="2400" dirty="0" smtClean="0">
                <a:latin typeface="Times New Roman" pitchFamily="18" charset="0"/>
                <a:cs typeface="Times New Roman" pitchFamily="18" charset="0"/>
              </a:rPr>
              <a:t>High-cost, complex systems with frequent risk assessments and prototypes.</a:t>
            </a:r>
          </a:p>
          <a:p>
            <a:endParaRPr lang="en-I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lgn="just">
              <a:buNone/>
            </a:pPr>
            <a:r>
              <a:rPr lang="en-IN" sz="2200" b="1" dirty="0" smtClean="0">
                <a:latin typeface="Times New Roman" pitchFamily="18" charset="0"/>
                <a:cs typeface="Times New Roman" pitchFamily="18" charset="0"/>
              </a:rPr>
              <a:t>5. RAD Model (Rapid Application Development)</a:t>
            </a:r>
          </a:p>
          <a:p>
            <a:pPr algn="just">
              <a:buNone/>
            </a:pPr>
            <a:r>
              <a:rPr lang="en-IN" sz="2200" b="1" dirty="0" smtClean="0">
                <a:latin typeface="Times New Roman" pitchFamily="18" charset="0"/>
                <a:cs typeface="Times New Roman" pitchFamily="18" charset="0"/>
              </a:rPr>
              <a:t>Example:</a:t>
            </a:r>
            <a:r>
              <a:rPr lang="en-IN" sz="2200" dirty="0" smtClean="0">
                <a:latin typeface="Times New Roman" pitchFamily="18" charset="0"/>
                <a:cs typeface="Times New Roman" pitchFamily="18" charset="0"/>
              </a:rPr>
              <a:t> </a:t>
            </a:r>
            <a:r>
              <a:rPr lang="en-IN" sz="2200" b="1" dirty="0" smtClean="0">
                <a:latin typeface="Times New Roman" pitchFamily="18" charset="0"/>
                <a:cs typeface="Times New Roman" pitchFamily="18" charset="0"/>
              </a:rPr>
              <a:t>Customer Relationship Management (CRM) Software like </a:t>
            </a:r>
            <a:r>
              <a:rPr lang="en-IN" sz="2200" b="1" dirty="0" err="1" smtClean="0">
                <a:latin typeface="Times New Roman" pitchFamily="18" charset="0"/>
                <a:cs typeface="Times New Roman" pitchFamily="18" charset="0"/>
              </a:rPr>
              <a:t>Zoho</a:t>
            </a:r>
            <a:r>
              <a:rPr lang="en-IN" sz="2200" b="1" dirty="0" smtClean="0">
                <a:latin typeface="Times New Roman" pitchFamily="18" charset="0"/>
                <a:cs typeface="Times New Roman" pitchFamily="18" charset="0"/>
              </a:rPr>
              <a:t> CRM</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Quick prototyping, reusable components, and heavy customer involvement.</a:t>
            </a:r>
          </a:p>
          <a:p>
            <a:pPr algn="just"/>
            <a:r>
              <a:rPr lang="en-IN" sz="2200" dirty="0" smtClean="0">
                <a:latin typeface="Times New Roman" pitchFamily="18" charset="0"/>
                <a:cs typeface="Times New Roman" pitchFamily="18" charset="0"/>
              </a:rPr>
              <a:t>Ideal for business applications that evolve quickly.</a:t>
            </a:r>
          </a:p>
          <a:p>
            <a:pPr algn="just">
              <a:buNone/>
            </a:pPr>
            <a:endParaRPr lang="en-IN" sz="2200" dirty="0" smtClean="0">
              <a:latin typeface="Times New Roman" pitchFamily="18" charset="0"/>
              <a:cs typeface="Times New Roman" pitchFamily="18" charset="0"/>
            </a:endParaRPr>
          </a:p>
          <a:p>
            <a:pPr algn="just">
              <a:buNone/>
            </a:pPr>
            <a:r>
              <a:rPr lang="en-IN" sz="2200" b="1" dirty="0" smtClean="0">
                <a:latin typeface="Times New Roman" pitchFamily="18" charset="0"/>
                <a:cs typeface="Times New Roman" pitchFamily="18" charset="0"/>
              </a:rPr>
              <a:t>6. Agile Model</a:t>
            </a:r>
          </a:p>
          <a:p>
            <a:pPr algn="just">
              <a:buNone/>
            </a:pPr>
            <a:r>
              <a:rPr lang="en-IN" sz="2200" b="1" dirty="0" smtClean="0">
                <a:latin typeface="Times New Roman" pitchFamily="18" charset="0"/>
                <a:cs typeface="Times New Roman" pitchFamily="18" charset="0"/>
              </a:rPr>
              <a:t>Example:</a:t>
            </a:r>
            <a:r>
              <a:rPr lang="en-IN" sz="2200" dirty="0" smtClean="0">
                <a:latin typeface="Times New Roman" pitchFamily="18" charset="0"/>
                <a:cs typeface="Times New Roman" pitchFamily="18" charset="0"/>
              </a:rPr>
              <a:t> </a:t>
            </a:r>
            <a:r>
              <a:rPr lang="en-IN" sz="2200" b="1" dirty="0" smtClean="0">
                <a:latin typeface="Times New Roman" pitchFamily="18" charset="0"/>
                <a:cs typeface="Times New Roman" pitchFamily="18" charset="0"/>
              </a:rPr>
              <a:t>E-commerce Platforms (e.g., Amazon, </a:t>
            </a:r>
            <a:r>
              <a:rPr lang="en-IN" sz="2200" b="1" dirty="0" err="1" smtClean="0">
                <a:latin typeface="Times New Roman" pitchFamily="18" charset="0"/>
                <a:cs typeface="Times New Roman" pitchFamily="18" charset="0"/>
              </a:rPr>
              <a:t>Flipkart</a:t>
            </a:r>
            <a:r>
              <a:rPr lang="en-IN" sz="2200" b="1" dirty="0" smtClean="0">
                <a:latin typeface="Times New Roman" pitchFamily="18" charset="0"/>
                <a:cs typeface="Times New Roman" pitchFamily="18" charset="0"/>
              </a:rPr>
              <a:t>, </a:t>
            </a:r>
            <a:r>
              <a:rPr lang="en-IN" sz="2200" b="1" dirty="0" err="1" smtClean="0">
                <a:latin typeface="Times New Roman" pitchFamily="18" charset="0"/>
                <a:cs typeface="Times New Roman" pitchFamily="18" charset="0"/>
              </a:rPr>
              <a:t>Myntra</a:t>
            </a:r>
            <a:r>
              <a:rPr lang="en-IN" sz="2200" b="1" dirty="0" smtClean="0">
                <a:latin typeface="Times New Roman" pitchFamily="18" charset="0"/>
                <a:cs typeface="Times New Roman" pitchFamily="18" charset="0"/>
              </a:rPr>
              <a:t>)</a:t>
            </a:r>
            <a:endParaRPr lang="en-IN" sz="2200" dirty="0" smtClean="0">
              <a:latin typeface="Times New Roman" pitchFamily="18" charset="0"/>
              <a:cs typeface="Times New Roman" pitchFamily="18" charset="0"/>
            </a:endParaRPr>
          </a:p>
          <a:p>
            <a:pPr algn="just">
              <a:buNone/>
            </a:pPr>
            <a:r>
              <a:rPr lang="en-IN" sz="2200" dirty="0" smtClean="0">
                <a:latin typeface="Times New Roman" pitchFamily="18" charset="0"/>
                <a:cs typeface="Times New Roman" pitchFamily="18" charset="0"/>
              </a:rPr>
              <a:t>Features (search, cart, payment, recommendations) are built in </a:t>
            </a:r>
            <a:r>
              <a:rPr lang="en-IN" sz="2200" b="1" dirty="0" smtClean="0">
                <a:latin typeface="Times New Roman" pitchFamily="18" charset="0"/>
                <a:cs typeface="Times New Roman" pitchFamily="18" charset="0"/>
              </a:rPr>
              <a:t>short sprints</a:t>
            </a:r>
            <a:r>
              <a:rPr lang="en-IN" sz="2200" dirty="0" smtClean="0">
                <a:latin typeface="Times New Roman" pitchFamily="18" charset="0"/>
                <a:cs typeface="Times New Roman" pitchFamily="18" charset="0"/>
              </a:rPr>
              <a:t>.</a:t>
            </a:r>
          </a:p>
          <a:p>
            <a:pPr algn="just"/>
            <a:r>
              <a:rPr lang="en-IN" sz="2200" dirty="0" smtClean="0">
                <a:latin typeface="Times New Roman" pitchFamily="18" charset="0"/>
                <a:cs typeface="Times New Roman" pitchFamily="18" charset="0"/>
              </a:rPr>
              <a:t>Constant updates and improvements based on customer feedback.</a:t>
            </a:r>
          </a:p>
          <a:p>
            <a:pPr algn="just"/>
            <a:r>
              <a:rPr lang="en-IN" sz="2200" dirty="0" smtClean="0">
                <a:latin typeface="Times New Roman" pitchFamily="18" charset="0"/>
                <a:cs typeface="Times New Roman" pitchFamily="18" charset="0"/>
              </a:rPr>
              <a:t>Flexibility to add/remove features as business evolves.</a:t>
            </a:r>
          </a:p>
          <a:p>
            <a:endParaRPr lang="en-I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52400" y="152400"/>
            <a:ext cx="8839200" cy="6400800"/>
          </a:xfrm>
          <a:prstGeom prst="rect">
            <a:avLst/>
          </a:prstGeom>
          <a:noFill/>
          <a:ln w="9525">
            <a:noFill/>
            <a:miter lim="800000"/>
            <a:headEnd/>
            <a:tailEnd/>
          </a:ln>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C00000"/>
                </a:solidFill>
                <a:latin typeface="Times New Roman" pitchFamily="18" charset="0"/>
                <a:cs typeface="Times New Roman" pitchFamily="18" charset="0"/>
              </a:rPr>
              <a:t>1.3 Requirement </a:t>
            </a:r>
            <a:r>
              <a:rPr lang="en-IN" sz="3200" b="1" dirty="0" smtClean="0">
                <a:solidFill>
                  <a:srgbClr val="C00000"/>
                </a:solidFill>
                <a:latin typeface="Times New Roman" pitchFamily="18" charset="0"/>
                <a:cs typeface="Times New Roman" pitchFamily="18" charset="0"/>
              </a:rPr>
              <a:t>Engineering</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t>The process to gather the software requirements from client, analyze and document them is known as requirement engineering.</a:t>
            </a:r>
          </a:p>
          <a:p>
            <a:r>
              <a:rPr lang="en-IN" dirty="0" smtClean="0"/>
              <a:t>The goal of requirement engineering is to develop and maintain sophisticated and descriptive System Requirements Specification document.</a:t>
            </a:r>
          </a:p>
          <a:p>
            <a:endParaRPr lang="en-IN"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1143000"/>
          </a:xfrm>
        </p:spPr>
        <p:txBody>
          <a:bodyPr>
            <a:noAutofit/>
          </a:bodyPr>
          <a:lstStyle/>
          <a:p>
            <a:r>
              <a:rPr lang="en-IN" sz="3200" b="1" dirty="0" smtClean="0">
                <a:solidFill>
                  <a:srgbClr val="C00000"/>
                </a:solidFill>
                <a:latin typeface="Times New Roman" pitchFamily="18" charset="0"/>
                <a:cs typeface="Times New Roman" pitchFamily="18" charset="0"/>
              </a:rPr>
              <a:t>Requirement Engineering Process</a:t>
            </a:r>
            <a:br>
              <a:rPr lang="en-IN" sz="3200" b="1" dirty="0" smtClean="0">
                <a:solidFill>
                  <a:srgbClr val="C00000"/>
                </a:solidFill>
                <a:latin typeface="Times New Roman" pitchFamily="18" charset="0"/>
                <a:cs typeface="Times New Roman" pitchFamily="18" charset="0"/>
              </a:rPr>
            </a:b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It is a four step process, which </a:t>
            </a:r>
            <a:r>
              <a:rPr lang="en-IN" dirty="0" smtClean="0">
                <a:latin typeface="Times New Roman" pitchFamily="18" charset="0"/>
                <a:cs typeface="Times New Roman" pitchFamily="18" charset="0"/>
              </a:rPr>
              <a:t>includes</a:t>
            </a:r>
          </a:p>
          <a:p>
            <a:pPr>
              <a:buNone/>
            </a:pPr>
            <a:endParaRPr lang="en-IN"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Feasibility Study</a:t>
            </a:r>
          </a:p>
          <a:p>
            <a:pPr>
              <a:buFont typeface="Wingdings" pitchFamily="2" charset="2"/>
              <a:buChar char="q"/>
            </a:pPr>
            <a:r>
              <a:rPr lang="en-IN" dirty="0" smtClean="0">
                <a:latin typeface="Times New Roman" pitchFamily="18" charset="0"/>
                <a:cs typeface="Times New Roman" pitchFamily="18" charset="0"/>
              </a:rPr>
              <a:t>Requirement Gathering</a:t>
            </a:r>
          </a:p>
          <a:p>
            <a:pPr>
              <a:buFont typeface="Wingdings" pitchFamily="2" charset="2"/>
              <a:buChar char="q"/>
            </a:pPr>
            <a:r>
              <a:rPr lang="en-IN" dirty="0" smtClean="0">
                <a:latin typeface="Times New Roman" pitchFamily="18" charset="0"/>
                <a:cs typeface="Times New Roman" pitchFamily="18" charset="0"/>
              </a:rPr>
              <a:t>Software Requirement Specification</a:t>
            </a:r>
          </a:p>
          <a:p>
            <a:pPr>
              <a:buFont typeface="Wingdings" pitchFamily="2" charset="2"/>
              <a:buChar char="q"/>
            </a:pPr>
            <a:r>
              <a:rPr lang="en-IN" dirty="0" smtClean="0">
                <a:latin typeface="Times New Roman" pitchFamily="18" charset="0"/>
                <a:cs typeface="Times New Roman" pitchFamily="18" charset="0"/>
              </a:rPr>
              <a:t>Software Requirement Validation</a:t>
            </a:r>
          </a:p>
          <a:p>
            <a:endParaRPr lang="en-IN"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solidFill>
                  <a:srgbClr val="C00000"/>
                </a:solidFill>
                <a:latin typeface="Times New Roman" pitchFamily="18" charset="0"/>
                <a:cs typeface="Times New Roman" pitchFamily="18" charset="0"/>
              </a:rPr>
              <a:t>Feasibility Study </a:t>
            </a:r>
            <a:endParaRPr lang="en-IN" sz="36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normAutofit fontScale="55000" lnSpcReduction="20000"/>
          </a:bodyPr>
          <a:lstStyle/>
          <a:p>
            <a:pPr algn="just">
              <a:buFont typeface="Wingdings" pitchFamily="2" charset="2"/>
              <a:buChar char="§"/>
            </a:pPr>
            <a:r>
              <a:rPr lang="en-IN" dirty="0" smtClean="0">
                <a:latin typeface="Times New Roman" pitchFamily="18" charset="0"/>
                <a:cs typeface="Times New Roman" pitchFamily="18" charset="0"/>
              </a:rPr>
              <a:t>Client provides a rough idea of required software functions and features.</a:t>
            </a:r>
          </a:p>
          <a:p>
            <a:pPr algn="just">
              <a:buFont typeface="Wingdings" pitchFamily="2" charset="2"/>
              <a:buChar char="§"/>
            </a:pPr>
            <a:r>
              <a:rPr lang="en-IN" dirty="0" smtClean="0">
                <a:latin typeface="Times New Roman" pitchFamily="18" charset="0"/>
                <a:cs typeface="Times New Roman" pitchFamily="18" charset="0"/>
              </a:rPr>
              <a:t>Analysts study if the desired system is feasible to develop.</a:t>
            </a:r>
          </a:p>
          <a:p>
            <a:pPr algn="just">
              <a:buFont typeface="Wingdings" pitchFamily="2" charset="2"/>
              <a:buChar char="§"/>
            </a:pPr>
            <a:r>
              <a:rPr lang="en-IN" dirty="0" smtClean="0">
                <a:latin typeface="Times New Roman" pitchFamily="18" charset="0"/>
                <a:cs typeface="Times New Roman" pitchFamily="18" charset="0"/>
              </a:rPr>
              <a:t>Focuses on alignment with organizational goals and objectives.</a:t>
            </a:r>
          </a:p>
          <a:p>
            <a:pPr algn="just">
              <a:buFont typeface="Wingdings" pitchFamily="2" charset="2"/>
              <a:buChar char="§"/>
            </a:pPr>
            <a:r>
              <a:rPr lang="en-IN" dirty="0" smtClean="0">
                <a:latin typeface="Times New Roman" pitchFamily="18" charset="0"/>
                <a:cs typeface="Times New Roman" pitchFamily="18" charset="0"/>
              </a:rPr>
              <a:t>Evaluates practical aspects:</a:t>
            </a:r>
          </a:p>
          <a:p>
            <a:pPr algn="just">
              <a:buFont typeface="Wingdings" pitchFamily="2" charset="2"/>
              <a:buChar char="§"/>
            </a:pPr>
            <a:r>
              <a:rPr lang="en-IN" dirty="0" smtClean="0">
                <a:latin typeface="Times New Roman" pitchFamily="18" charset="0"/>
                <a:cs typeface="Times New Roman" pitchFamily="18" charset="0"/>
              </a:rPr>
              <a:t>Implementation feasibility</a:t>
            </a:r>
          </a:p>
          <a:p>
            <a:pPr algn="just">
              <a:buFont typeface="Wingdings" pitchFamily="2" charset="2"/>
              <a:buChar char="§"/>
            </a:pPr>
            <a:r>
              <a:rPr lang="en-IN" dirty="0" smtClean="0">
                <a:latin typeface="Times New Roman" pitchFamily="18" charset="0"/>
                <a:cs typeface="Times New Roman" pitchFamily="18" charset="0"/>
              </a:rPr>
              <a:t>Contribution to organization</a:t>
            </a:r>
          </a:p>
          <a:p>
            <a:pPr algn="just">
              <a:buFont typeface="Wingdings" pitchFamily="2" charset="2"/>
              <a:buChar char="§"/>
            </a:pPr>
            <a:r>
              <a:rPr lang="en-IN" dirty="0" smtClean="0">
                <a:latin typeface="Times New Roman" pitchFamily="18" charset="0"/>
                <a:cs typeface="Times New Roman" pitchFamily="18" charset="0"/>
              </a:rPr>
              <a:t>Cost constraints</a:t>
            </a:r>
          </a:p>
          <a:p>
            <a:pPr algn="just">
              <a:buFont typeface="Wingdings" pitchFamily="2" charset="2"/>
              <a:buChar char="§"/>
            </a:pPr>
            <a:r>
              <a:rPr lang="en-IN" dirty="0" smtClean="0">
                <a:latin typeface="Times New Roman" pitchFamily="18" charset="0"/>
                <a:cs typeface="Times New Roman" pitchFamily="18" charset="0"/>
              </a:rPr>
              <a:t>Adherence to organizational values</a:t>
            </a:r>
          </a:p>
          <a:p>
            <a:pPr algn="just">
              <a:buFont typeface="Wingdings" pitchFamily="2" charset="2"/>
              <a:buChar char="§"/>
            </a:pPr>
            <a:r>
              <a:rPr lang="en-IN" dirty="0" smtClean="0">
                <a:latin typeface="Times New Roman" pitchFamily="18" charset="0"/>
                <a:cs typeface="Times New Roman" pitchFamily="18" charset="0"/>
              </a:rPr>
              <a:t>Analyzes technical aspects:</a:t>
            </a:r>
          </a:p>
          <a:p>
            <a:pPr algn="just">
              <a:buFont typeface="Wingdings" pitchFamily="2" charset="2"/>
              <a:buChar char="§"/>
            </a:pPr>
            <a:r>
              <a:rPr lang="en-IN" dirty="0" smtClean="0">
                <a:latin typeface="Times New Roman" pitchFamily="18" charset="0"/>
                <a:cs typeface="Times New Roman" pitchFamily="18" charset="0"/>
              </a:rPr>
              <a:t>Usability</a:t>
            </a:r>
          </a:p>
          <a:p>
            <a:pPr algn="just">
              <a:buFont typeface="Wingdings" pitchFamily="2" charset="2"/>
              <a:buChar char="§"/>
            </a:pPr>
            <a:r>
              <a:rPr lang="en-IN" dirty="0" smtClean="0">
                <a:latin typeface="Times New Roman" pitchFamily="18" charset="0"/>
                <a:cs typeface="Times New Roman" pitchFamily="18" charset="0"/>
              </a:rPr>
              <a:t>Maintainability</a:t>
            </a:r>
          </a:p>
          <a:p>
            <a:pPr algn="just">
              <a:buFont typeface="Wingdings" pitchFamily="2" charset="2"/>
              <a:buChar char="§"/>
            </a:pPr>
            <a:r>
              <a:rPr lang="en-IN" dirty="0" smtClean="0">
                <a:latin typeface="Times New Roman" pitchFamily="18" charset="0"/>
                <a:cs typeface="Times New Roman" pitchFamily="18" charset="0"/>
              </a:rPr>
              <a:t>Productivity</a:t>
            </a:r>
          </a:p>
          <a:p>
            <a:pPr algn="just">
              <a:buFont typeface="Wingdings" pitchFamily="2" charset="2"/>
              <a:buChar char="§"/>
            </a:pPr>
            <a:r>
              <a:rPr lang="en-IN" dirty="0" smtClean="0">
                <a:latin typeface="Times New Roman" pitchFamily="18" charset="0"/>
                <a:cs typeface="Times New Roman" pitchFamily="18" charset="0"/>
              </a:rPr>
              <a:t>Integration </a:t>
            </a:r>
            <a:r>
              <a:rPr lang="en-IN" dirty="0" smtClean="0">
                <a:latin typeface="Times New Roman" pitchFamily="18" charset="0"/>
                <a:cs typeface="Times New Roman" pitchFamily="18" charset="0"/>
              </a:rPr>
              <a:t>ability</a:t>
            </a:r>
          </a:p>
          <a:p>
            <a:pPr algn="just">
              <a:buFont typeface="Wingdings" pitchFamily="2" charset="2"/>
              <a:buChar char="§"/>
            </a:pPr>
            <a:endParaRPr lang="en-US" dirty="0" smtClean="0">
              <a:latin typeface="Times New Roman" pitchFamily="18" charset="0"/>
              <a:cs typeface="Times New Roman" pitchFamily="18" charset="0"/>
            </a:endParaRPr>
          </a:p>
          <a:p>
            <a:pPr algn="just">
              <a:buFont typeface="Wingdings" pitchFamily="2" charset="2"/>
              <a:buChar char="§"/>
            </a:pP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Output: </a:t>
            </a:r>
            <a:r>
              <a:rPr lang="en-IN" b="1" dirty="0" smtClean="0">
                <a:latin typeface="Times New Roman" pitchFamily="18" charset="0"/>
                <a:cs typeface="Times New Roman" pitchFamily="18" charset="0"/>
              </a:rPr>
              <a:t>Feasibility Study Report</a:t>
            </a:r>
            <a:r>
              <a:rPr lang="en-IN" dirty="0" smtClean="0">
                <a:latin typeface="Times New Roman" pitchFamily="18" charset="0"/>
                <a:cs typeface="Times New Roman" pitchFamily="18" charset="0"/>
              </a:rPr>
              <a:t> with comments and recommendations on whether to undertake the project.</a:t>
            </a:r>
          </a:p>
          <a:p>
            <a:endParaRPr lang="en-I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1143000"/>
          </a:xfrm>
        </p:spPr>
        <p:txBody>
          <a:bodyPr>
            <a:noAutofit/>
          </a:bodyPr>
          <a:lstStyle/>
          <a:p>
            <a:r>
              <a:rPr lang="en-IN" sz="3200" b="1" dirty="0" smtClean="0">
                <a:solidFill>
                  <a:srgbClr val="C00000"/>
                </a:solidFill>
                <a:latin typeface="Times New Roman" pitchFamily="18" charset="0"/>
                <a:cs typeface="Times New Roman" pitchFamily="18" charset="0"/>
              </a:rPr>
              <a:t>Requirement Gathering</a:t>
            </a:r>
            <a:br>
              <a:rPr lang="en-IN" sz="3200" b="1" dirty="0" smtClean="0">
                <a:solidFill>
                  <a:srgbClr val="C00000"/>
                </a:solidFill>
                <a:latin typeface="Times New Roman" pitchFamily="18" charset="0"/>
                <a:cs typeface="Times New Roman" pitchFamily="18" charset="0"/>
              </a:rPr>
            </a:b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If the feasibility report is positive towards undertaking the project, next phase starts with gathering requirements from the user. </a:t>
            </a:r>
            <a:endParaRPr lang="en-IN" sz="2400" dirty="0" smtClean="0">
              <a:latin typeface="Times New Roman" pitchFamily="18" charset="0"/>
              <a:cs typeface="Times New Roman" pitchFamily="18" charset="0"/>
            </a:endParaRP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Analysts </a:t>
            </a:r>
            <a:r>
              <a:rPr lang="en-IN" sz="2400" dirty="0" smtClean="0">
                <a:latin typeface="Times New Roman" pitchFamily="18" charset="0"/>
                <a:cs typeface="Times New Roman" pitchFamily="18" charset="0"/>
              </a:rPr>
              <a:t>and engineers communicate with the client and end-users to know their ideas on what the software should provide and which features they want the software to include.</a:t>
            </a:r>
            <a:endParaRPr lang="en-IN" sz="2400" dirty="0">
              <a:latin typeface="Times New Roman" pitchFamily="18" charset="0"/>
              <a:cs typeface="Times New Roman"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Autofit/>
          </a:bodyPr>
          <a:lstStyle/>
          <a:p>
            <a:r>
              <a:rPr lang="en-IN" sz="3200" b="1" dirty="0" smtClean="0">
                <a:solidFill>
                  <a:srgbClr val="C00000"/>
                </a:solidFill>
                <a:latin typeface="Times New Roman" pitchFamily="18" charset="0"/>
                <a:cs typeface="Times New Roman" pitchFamily="18" charset="0"/>
              </a:rPr>
              <a:t>Software Requirement Specification</a:t>
            </a:r>
            <a:br>
              <a:rPr lang="en-IN" sz="3200" b="1" dirty="0" smtClean="0">
                <a:solidFill>
                  <a:srgbClr val="C00000"/>
                </a:solidFill>
                <a:latin typeface="Times New Roman" pitchFamily="18" charset="0"/>
                <a:cs typeface="Times New Roman" pitchFamily="18" charset="0"/>
              </a:rPr>
            </a:b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800" b="1" dirty="0" smtClean="0">
                <a:latin typeface="Times New Roman" pitchFamily="18" charset="0"/>
                <a:cs typeface="Times New Roman" pitchFamily="18" charset="0"/>
              </a:rPr>
              <a:t>Software Requirement Specification (SRS) – </a:t>
            </a:r>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Created by system analyst after gathering requirements from stakeholders</a:t>
            </a:r>
            <a:r>
              <a:rPr lang="en-IN" sz="2800" dirty="0" smtClean="0">
                <a:latin typeface="Times New Roman" pitchFamily="18" charset="0"/>
                <a:cs typeface="Times New Roman" pitchFamily="18" charset="0"/>
              </a:rPr>
              <a:t>.</a:t>
            </a:r>
          </a:p>
          <a:p>
            <a:pPr algn="just"/>
            <a:endParaRPr lang="en-IN" sz="2800" dirty="0" smtClean="0">
              <a:latin typeface="Times New Roman" pitchFamily="18" charset="0"/>
              <a:cs typeface="Times New Roman" pitchFamily="18" charset="0"/>
            </a:endParaRPr>
          </a:p>
          <a:p>
            <a:pPr algn="just"/>
            <a:r>
              <a:rPr lang="en-IN" sz="2800" dirty="0" smtClean="0">
                <a:latin typeface="Times New Roman" pitchFamily="18" charset="0"/>
                <a:cs typeface="Times New Roman" pitchFamily="18" charset="0"/>
              </a:rPr>
              <a:t>Defines software interactions with:</a:t>
            </a:r>
          </a:p>
          <a:p>
            <a:pPr lvl="1" algn="just"/>
            <a:r>
              <a:rPr lang="en-IN" sz="2400" dirty="0" smtClean="0">
                <a:latin typeface="Times New Roman" pitchFamily="18" charset="0"/>
                <a:cs typeface="Times New Roman" pitchFamily="18" charset="0"/>
              </a:rPr>
              <a:t>Hardware and external interfaces</a:t>
            </a:r>
          </a:p>
          <a:p>
            <a:pPr lvl="1" algn="just"/>
            <a:r>
              <a:rPr lang="en-IN" sz="2400" dirty="0" smtClean="0">
                <a:latin typeface="Times New Roman" pitchFamily="18" charset="0"/>
                <a:cs typeface="Times New Roman" pitchFamily="18" charset="0"/>
              </a:rPr>
              <a:t>Performance: speed, response time, portability</a:t>
            </a:r>
          </a:p>
          <a:p>
            <a:pPr lvl="1" algn="just"/>
            <a:r>
              <a:rPr lang="en-IN" sz="2400" dirty="0" smtClean="0">
                <a:latin typeface="Times New Roman" pitchFamily="18" charset="0"/>
                <a:cs typeface="Times New Roman" pitchFamily="18" charset="0"/>
              </a:rPr>
              <a:t>Maintainability and recovery after crashes</a:t>
            </a:r>
          </a:p>
          <a:p>
            <a:pPr lvl="1" algn="just"/>
            <a:r>
              <a:rPr lang="en-IN" sz="2400" dirty="0" smtClean="0">
                <a:latin typeface="Times New Roman" pitchFamily="18" charset="0"/>
                <a:cs typeface="Times New Roman" pitchFamily="18" charset="0"/>
              </a:rPr>
              <a:t>Security, quality, and limitations</a:t>
            </a:r>
          </a:p>
          <a:p>
            <a:endParaRPr lang="en-I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229600" cy="1143000"/>
          </a:xfrm>
        </p:spPr>
        <p:txBody>
          <a:bodyPr>
            <a:normAutofit fontScale="90000"/>
          </a:bodyPr>
          <a:lstStyle/>
          <a:p>
            <a:pPr algn="l"/>
            <a:r>
              <a:rPr lang="en-IN" sz="3100" b="1" dirty="0" smtClean="0">
                <a:solidFill>
                  <a:srgbClr val="C00000"/>
                </a:solidFill>
                <a:latin typeface="Times New Roman" pitchFamily="18" charset="0"/>
                <a:cs typeface="Times New Roman" pitchFamily="18" charset="0"/>
              </a:rPr>
              <a:t>SRS should come up with following features:</a:t>
            </a:r>
            <a:r>
              <a:rPr lang="en-IN" b="1" dirty="0" smtClean="0">
                <a:latin typeface="Times New Roman" pitchFamily="18" charset="0"/>
                <a:cs typeface="Times New Roman" pitchFamily="18" charset="0"/>
              </a:rPr>
              <a:t/>
            </a:r>
            <a:br>
              <a:rPr lang="en-IN" b="1" dirty="0" smtClean="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User </a:t>
            </a:r>
            <a:r>
              <a:rPr lang="en-IN" sz="2400" dirty="0" smtClean="0">
                <a:latin typeface="Times New Roman" pitchFamily="18" charset="0"/>
                <a:cs typeface="Times New Roman" pitchFamily="18" charset="0"/>
              </a:rPr>
              <a:t>Requirements are expressed in natural language</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Technical requirements are expressed in structured language, which is used inside the organization</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Design description should be written in Pseudo code</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Format of Forms and GUI screen prints</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Conditional and mathematical notations for DFDs etc.</a:t>
            </a:r>
          </a:p>
          <a:p>
            <a:endParaRPr lang="en-I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1143000"/>
          </a:xfrm>
        </p:spPr>
        <p:txBody>
          <a:bodyPr>
            <a:noAutofit/>
          </a:bodyPr>
          <a:lstStyle/>
          <a:p>
            <a:pPr algn="l"/>
            <a:r>
              <a:rPr lang="en-IN" sz="2800" b="1" dirty="0" smtClean="0">
                <a:solidFill>
                  <a:srgbClr val="C00000"/>
                </a:solidFill>
                <a:latin typeface="Times New Roman" pitchFamily="18" charset="0"/>
                <a:cs typeface="Times New Roman" pitchFamily="18" charset="0"/>
              </a:rPr>
              <a:t>Software Requirement Validation</a:t>
            </a:r>
            <a:br>
              <a:rPr lang="en-IN" sz="2800" b="1" dirty="0" smtClean="0">
                <a:solidFill>
                  <a:srgbClr val="C00000"/>
                </a:solidFill>
                <a:latin typeface="Times New Roman" pitchFamily="18" charset="0"/>
                <a:cs typeface="Times New Roman" pitchFamily="18" charset="0"/>
              </a:rPr>
            </a:br>
            <a:endParaRPr lang="en-IN" sz="28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533400" y="1447800"/>
            <a:ext cx="8229600" cy="4525963"/>
          </a:xfrm>
        </p:spPr>
        <p:txBody>
          <a:bodyPr>
            <a:normAutofit fontScale="70000" lnSpcReduction="20000"/>
          </a:bodyPr>
          <a:lstStyle/>
          <a:p>
            <a:pPr algn="just"/>
            <a:r>
              <a:rPr lang="en-IN" dirty="0" smtClean="0">
                <a:latin typeface="Times New Roman" pitchFamily="18" charset="0"/>
                <a:cs typeface="Times New Roman" pitchFamily="18" charset="0"/>
              </a:rPr>
              <a:t>After requirement specifications are developed, the requirements mentioned in this document are </a:t>
            </a:r>
            <a:r>
              <a:rPr lang="en-IN" b="1" dirty="0" smtClean="0">
                <a:latin typeface="Times New Roman" pitchFamily="18" charset="0"/>
                <a:cs typeface="Times New Roman" pitchFamily="18" charset="0"/>
              </a:rPr>
              <a:t>validated</a:t>
            </a:r>
            <a:r>
              <a:rPr lang="en-IN"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User </a:t>
            </a:r>
            <a:r>
              <a:rPr lang="en-IN" dirty="0" smtClean="0">
                <a:latin typeface="Times New Roman" pitchFamily="18" charset="0"/>
                <a:cs typeface="Times New Roman" pitchFamily="18" charset="0"/>
              </a:rPr>
              <a:t>might ask for </a:t>
            </a:r>
            <a:r>
              <a:rPr lang="en-IN" b="1" dirty="0" smtClean="0">
                <a:latin typeface="Times New Roman" pitchFamily="18" charset="0"/>
                <a:cs typeface="Times New Roman" pitchFamily="18" charset="0"/>
              </a:rPr>
              <a:t>illegal, impractical solution or experts may interpret the requirements incorrectly</a:t>
            </a:r>
            <a:r>
              <a:rPr lang="en-IN"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Requirements </a:t>
            </a:r>
            <a:r>
              <a:rPr lang="en-IN" dirty="0" smtClean="0">
                <a:latin typeface="Times New Roman" pitchFamily="18" charset="0"/>
                <a:cs typeface="Times New Roman" pitchFamily="18" charset="0"/>
              </a:rPr>
              <a:t>can be checked against following conditions </a:t>
            </a:r>
            <a:r>
              <a:rPr lang="en-IN" dirty="0" smtClean="0">
                <a:latin typeface="Times New Roman" pitchFamily="18" charset="0"/>
                <a:cs typeface="Times New Roman" pitchFamily="18" charset="0"/>
              </a:rPr>
              <a:t>–</a:t>
            </a:r>
          </a:p>
          <a:p>
            <a:pPr algn="just"/>
            <a:endParaRPr lang="en-IN" dirty="0" smtClean="0">
              <a:latin typeface="Times New Roman" pitchFamily="18" charset="0"/>
              <a:cs typeface="Times New Roman" pitchFamily="18" charset="0"/>
            </a:endParaRPr>
          </a:p>
          <a:p>
            <a:pPr algn="just">
              <a:buFont typeface="Wingdings" pitchFamily="2" charset="2"/>
              <a:buChar char="ü"/>
            </a:pPr>
            <a:r>
              <a:rPr lang="en-IN" dirty="0" smtClean="0">
                <a:latin typeface="Times New Roman" pitchFamily="18" charset="0"/>
                <a:cs typeface="Times New Roman" pitchFamily="18" charset="0"/>
              </a:rPr>
              <a:t>If they can be practically implemented</a:t>
            </a:r>
          </a:p>
          <a:p>
            <a:pPr algn="just">
              <a:buFont typeface="Wingdings" pitchFamily="2" charset="2"/>
              <a:buChar char="ü"/>
            </a:pPr>
            <a:r>
              <a:rPr lang="en-IN" dirty="0" smtClean="0">
                <a:latin typeface="Times New Roman" pitchFamily="18" charset="0"/>
                <a:cs typeface="Times New Roman" pitchFamily="18" charset="0"/>
              </a:rPr>
              <a:t>If they are valid and as per functionality and domain of software</a:t>
            </a:r>
          </a:p>
          <a:p>
            <a:pPr algn="just">
              <a:buFont typeface="Wingdings" pitchFamily="2" charset="2"/>
              <a:buChar char="ü"/>
            </a:pPr>
            <a:r>
              <a:rPr lang="en-IN" dirty="0" smtClean="0">
                <a:latin typeface="Times New Roman" pitchFamily="18" charset="0"/>
                <a:cs typeface="Times New Roman" pitchFamily="18" charset="0"/>
              </a:rPr>
              <a:t>If there are any ambiguities</a:t>
            </a:r>
          </a:p>
          <a:p>
            <a:pPr algn="just">
              <a:buFont typeface="Wingdings" pitchFamily="2" charset="2"/>
              <a:buChar char="ü"/>
            </a:pPr>
            <a:r>
              <a:rPr lang="en-IN" dirty="0" smtClean="0">
                <a:latin typeface="Times New Roman" pitchFamily="18" charset="0"/>
                <a:cs typeface="Times New Roman" pitchFamily="18" charset="0"/>
              </a:rPr>
              <a:t>If they are complete</a:t>
            </a:r>
          </a:p>
          <a:p>
            <a:pPr algn="just">
              <a:buFont typeface="Wingdings" pitchFamily="2" charset="2"/>
              <a:buChar char="ü"/>
            </a:pPr>
            <a:r>
              <a:rPr lang="en-IN" dirty="0" smtClean="0">
                <a:latin typeface="Times New Roman" pitchFamily="18" charset="0"/>
                <a:cs typeface="Times New Roman" pitchFamily="18" charset="0"/>
              </a:rPr>
              <a:t>If they can be demonstrated</a:t>
            </a:r>
          </a:p>
          <a:p>
            <a:endParaRPr lang="en-I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Requirement Elicitation Process</a:t>
            </a:r>
            <a:br>
              <a:rPr lang="en-IN" b="1" dirty="0" smtClean="0">
                <a:solidFill>
                  <a:srgbClr val="C00000"/>
                </a:solidFill>
                <a:latin typeface="Times New Roman" pitchFamily="18" charset="0"/>
                <a:cs typeface="Times New Roman" pitchFamily="18" charset="0"/>
              </a:rPr>
            </a:br>
            <a:endParaRPr lang="en-IN" b="1" dirty="0">
              <a:solidFill>
                <a:srgbClr val="C00000"/>
              </a:solidFill>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381000" y="2057400"/>
            <a:ext cx="8431837" cy="2362200"/>
          </a:xfrm>
          <a:prstGeom prst="rect">
            <a:avLst/>
          </a:prstGeom>
          <a:noFill/>
          <a:ln w="9525">
            <a:noFill/>
            <a:miter lim="800000"/>
            <a:headEnd/>
            <a:tailEnd/>
          </a:ln>
          <a:effectLst/>
        </p:spPr>
      </p:pic>
      <p:sp>
        <p:nvSpPr>
          <p:cNvPr id="7" name="TextBox 6"/>
          <p:cNvSpPr txBox="1"/>
          <p:nvPr/>
        </p:nvSpPr>
        <p:spPr>
          <a:xfrm>
            <a:off x="304800" y="1524000"/>
            <a:ext cx="8591198" cy="954107"/>
          </a:xfrm>
          <a:prstGeom prst="rect">
            <a:avLst/>
          </a:prstGeom>
          <a:noFill/>
        </p:spPr>
        <p:txBody>
          <a:bodyPr wrap="none" rtlCol="0">
            <a:spAutoFit/>
          </a:bodyPr>
          <a:lstStyle/>
          <a:p>
            <a:r>
              <a:rPr lang="en-IN" sz="2000" b="1" dirty="0" smtClean="0">
                <a:latin typeface="Times New Roman" pitchFamily="18" charset="0"/>
                <a:cs typeface="Times New Roman" pitchFamily="18" charset="0"/>
              </a:rPr>
              <a:t>Requirement elicitation process can be depicted using the </a:t>
            </a:r>
            <a:r>
              <a:rPr lang="en-IN" sz="2000" b="1" dirty="0" smtClean="0">
                <a:latin typeface="Times New Roman" pitchFamily="18" charset="0"/>
                <a:cs typeface="Times New Roman" pitchFamily="18" charset="0"/>
              </a:rPr>
              <a:t>following </a:t>
            </a:r>
            <a:r>
              <a:rPr lang="en-IN" sz="2000" b="1" dirty="0" smtClean="0">
                <a:latin typeface="Times New Roman" pitchFamily="18" charset="0"/>
                <a:cs typeface="Times New Roman" pitchFamily="18" charset="0"/>
              </a:rPr>
              <a:t>diagram:</a:t>
            </a:r>
          </a:p>
          <a:p>
            <a:r>
              <a:rPr lang="en-IN" dirty="0" smtClean="0"/>
              <a:t/>
            </a:r>
            <a:br>
              <a:rPr lang="en-IN" dirty="0" smtClean="0"/>
            </a:br>
            <a:endParaRPr lang="en-I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534400" cy="5440363"/>
          </a:xfrm>
        </p:spPr>
        <p:txBody>
          <a:bodyPr>
            <a:normAutofit fontScale="62500" lnSpcReduction="20000"/>
          </a:bodyPr>
          <a:lstStyle/>
          <a:p>
            <a:pPr algn="just">
              <a:buFont typeface="Wingdings" pitchFamily="2" charset="2"/>
              <a:buChar char="q"/>
            </a:pPr>
            <a:r>
              <a:rPr lang="en-IN" b="1" dirty="0" smtClean="0">
                <a:latin typeface="Times New Roman" pitchFamily="18" charset="0"/>
                <a:cs typeface="Times New Roman" pitchFamily="18" charset="0"/>
              </a:rPr>
              <a:t>Requirements gathering - </a:t>
            </a:r>
            <a:r>
              <a:rPr lang="en-IN" dirty="0" smtClean="0">
                <a:latin typeface="Times New Roman" pitchFamily="18" charset="0"/>
                <a:cs typeface="Times New Roman" pitchFamily="18" charset="0"/>
              </a:rPr>
              <a:t>The developers discuss with the client and end users and know their expectations from the software</a:t>
            </a:r>
            <a:r>
              <a:rPr lang="en-IN" dirty="0" smtClean="0">
                <a:latin typeface="Times New Roman" pitchFamily="18" charset="0"/>
                <a:cs typeface="Times New Roman" pitchFamily="18" charset="0"/>
              </a:rPr>
              <a:t>.</a:t>
            </a:r>
          </a:p>
          <a:p>
            <a:pPr algn="just">
              <a:buFont typeface="Wingdings" pitchFamily="2" charset="2"/>
              <a:buChar char="q"/>
            </a:pPr>
            <a:endParaRPr lang="en-IN" dirty="0" smtClean="0">
              <a:latin typeface="Times New Roman" pitchFamily="18" charset="0"/>
              <a:cs typeface="Times New Roman" pitchFamily="18" charset="0"/>
            </a:endParaRPr>
          </a:p>
          <a:p>
            <a:pPr algn="just">
              <a:buFont typeface="Wingdings" pitchFamily="2" charset="2"/>
              <a:buChar char="q"/>
            </a:pPr>
            <a:r>
              <a:rPr lang="en-IN" b="1" dirty="0" smtClean="0">
                <a:latin typeface="Times New Roman" pitchFamily="18" charset="0"/>
                <a:cs typeface="Times New Roman" pitchFamily="18" charset="0"/>
              </a:rPr>
              <a:t>Organizing Requirements - </a:t>
            </a:r>
            <a:r>
              <a:rPr lang="en-IN" dirty="0" smtClean="0">
                <a:latin typeface="Times New Roman" pitchFamily="18" charset="0"/>
                <a:cs typeface="Times New Roman" pitchFamily="18" charset="0"/>
              </a:rPr>
              <a:t>The developers prioritize and arrange the requirements in order of importance, urgency and convenience</a:t>
            </a:r>
            <a:r>
              <a:rPr lang="en-IN" dirty="0" smtClean="0">
                <a:latin typeface="Times New Roman" pitchFamily="18" charset="0"/>
                <a:cs typeface="Times New Roman" pitchFamily="18" charset="0"/>
              </a:rPr>
              <a:t>.</a:t>
            </a:r>
          </a:p>
          <a:p>
            <a:pPr algn="just">
              <a:buFont typeface="Wingdings" pitchFamily="2" charset="2"/>
              <a:buChar char="q"/>
            </a:pPr>
            <a:endParaRPr lang="en-IN" dirty="0" smtClean="0">
              <a:latin typeface="Times New Roman" pitchFamily="18" charset="0"/>
              <a:cs typeface="Times New Roman" pitchFamily="18" charset="0"/>
            </a:endParaRPr>
          </a:p>
          <a:p>
            <a:pPr algn="just">
              <a:buFont typeface="Wingdings" pitchFamily="2" charset="2"/>
              <a:buChar char="q"/>
            </a:pPr>
            <a:r>
              <a:rPr lang="en-IN" b="1" dirty="0" smtClean="0">
                <a:latin typeface="Times New Roman" pitchFamily="18" charset="0"/>
                <a:cs typeface="Times New Roman" pitchFamily="18" charset="0"/>
              </a:rPr>
              <a:t>Negotiation &amp; discussion - </a:t>
            </a:r>
            <a:r>
              <a:rPr lang="en-IN" dirty="0" smtClean="0">
                <a:latin typeface="Times New Roman" pitchFamily="18" charset="0"/>
                <a:cs typeface="Times New Roman" pitchFamily="18" charset="0"/>
              </a:rPr>
              <a:t>If requirements are ambiguous or there are some conflicts in requirements of various stakeholders, if they are, it is then </a:t>
            </a:r>
            <a:r>
              <a:rPr lang="en-IN" b="1" dirty="0" smtClean="0">
                <a:latin typeface="Times New Roman" pitchFamily="18" charset="0"/>
                <a:cs typeface="Times New Roman" pitchFamily="18" charset="0"/>
              </a:rPr>
              <a:t>negotiated and discussed with stakeholders</a:t>
            </a:r>
            <a:r>
              <a:rPr lang="en-IN" dirty="0" smtClean="0">
                <a:latin typeface="Times New Roman" pitchFamily="18" charset="0"/>
                <a:cs typeface="Times New Roman" pitchFamily="18" charset="0"/>
              </a:rPr>
              <a:t>. Requirements may then be prioritized and reasonably compromised</a:t>
            </a:r>
            <a:r>
              <a:rPr lang="en-IN" dirty="0" smtClean="0">
                <a:latin typeface="Times New Roman" pitchFamily="18" charset="0"/>
                <a:cs typeface="Times New Roman" pitchFamily="18" charset="0"/>
              </a:rPr>
              <a:t>.</a:t>
            </a:r>
          </a:p>
          <a:p>
            <a:pPr algn="just">
              <a:buFont typeface="Wingdings" pitchFamily="2" charset="2"/>
              <a:buChar char="q"/>
            </a:pPr>
            <a:endParaRPr lang="en-IN" dirty="0" smtClean="0">
              <a:latin typeface="Times New Roman" pitchFamily="18" charset="0"/>
              <a:cs typeface="Times New Roman" pitchFamily="18" charset="0"/>
            </a:endParaRPr>
          </a:p>
          <a:p>
            <a:pPr algn="just">
              <a:buFont typeface="Wingdings" pitchFamily="2" charset="2"/>
              <a:buChar char="q"/>
            </a:pPr>
            <a:r>
              <a:rPr lang="en-IN" dirty="0" smtClean="0">
                <a:latin typeface="Times New Roman" pitchFamily="18" charset="0"/>
                <a:cs typeface="Times New Roman" pitchFamily="18" charset="0"/>
              </a:rPr>
              <a:t>The requirements come from various stakeholders. To remove the ambiguity and conflicts, they are discussed for clarity and correctness. Unrealistic requirements are compromised reasonably</a:t>
            </a:r>
            <a:r>
              <a:rPr lang="en-IN" dirty="0" smtClean="0">
                <a:latin typeface="Times New Roman" pitchFamily="18" charset="0"/>
                <a:cs typeface="Times New Roman" pitchFamily="18" charset="0"/>
              </a:rPr>
              <a:t>.</a:t>
            </a:r>
          </a:p>
          <a:p>
            <a:pPr algn="just">
              <a:buFont typeface="Wingdings" pitchFamily="2" charset="2"/>
              <a:buChar char="q"/>
            </a:pPr>
            <a:endParaRPr lang="en-IN" dirty="0" smtClean="0">
              <a:latin typeface="Times New Roman" pitchFamily="18" charset="0"/>
              <a:cs typeface="Times New Roman" pitchFamily="18" charset="0"/>
            </a:endParaRPr>
          </a:p>
          <a:p>
            <a:pPr algn="just">
              <a:buFont typeface="Wingdings" pitchFamily="2" charset="2"/>
              <a:buChar char="q"/>
            </a:pPr>
            <a:r>
              <a:rPr lang="en-IN" b="1" dirty="0" smtClean="0">
                <a:latin typeface="Times New Roman" pitchFamily="18" charset="0"/>
                <a:cs typeface="Times New Roman" pitchFamily="18" charset="0"/>
              </a:rPr>
              <a:t>Documentation - </a:t>
            </a:r>
            <a:r>
              <a:rPr lang="en-IN" dirty="0" smtClean="0">
                <a:latin typeface="Times New Roman" pitchFamily="18" charset="0"/>
                <a:cs typeface="Times New Roman" pitchFamily="18" charset="0"/>
              </a:rPr>
              <a:t>All formal &amp; informal, functional and non-functional requirements are documented and made available for next phase processing.</a:t>
            </a:r>
          </a:p>
          <a:p>
            <a:endParaRPr lang="en-I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1143000"/>
          </a:xfrm>
        </p:spPr>
        <p:txBody>
          <a:bodyPr>
            <a:noAutofit/>
          </a:bodyPr>
          <a:lstStyle/>
          <a:p>
            <a:r>
              <a:rPr lang="en-IN" sz="3600" b="1" dirty="0" smtClean="0">
                <a:solidFill>
                  <a:srgbClr val="C00000"/>
                </a:solidFill>
                <a:latin typeface="Times New Roman" pitchFamily="18" charset="0"/>
                <a:cs typeface="Times New Roman" pitchFamily="18" charset="0"/>
              </a:rPr>
              <a:t>Requirement Elicitation Techniques</a:t>
            </a:r>
            <a:br>
              <a:rPr lang="en-IN" sz="3600" b="1" dirty="0" smtClean="0">
                <a:solidFill>
                  <a:srgbClr val="C00000"/>
                </a:solidFill>
                <a:latin typeface="Times New Roman" pitchFamily="18" charset="0"/>
                <a:cs typeface="Times New Roman" pitchFamily="18" charset="0"/>
              </a:rPr>
            </a:br>
            <a:endParaRPr lang="en-IN" sz="36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458200" cy="4876800"/>
          </a:xfrm>
        </p:spPr>
        <p:txBody>
          <a:bodyPr>
            <a:normAutofit fontScale="62500" lnSpcReduction="20000"/>
          </a:bodyPr>
          <a:lstStyle/>
          <a:p>
            <a:pPr algn="just">
              <a:buNone/>
            </a:pPr>
            <a:r>
              <a:rPr lang="en-IN" sz="2900" dirty="0" smtClean="0">
                <a:latin typeface="Times New Roman" pitchFamily="18" charset="0"/>
                <a:cs typeface="Times New Roman" pitchFamily="18" charset="0"/>
              </a:rPr>
              <a:t>Process </a:t>
            </a:r>
            <a:r>
              <a:rPr lang="en-IN" sz="2900" dirty="0" smtClean="0">
                <a:latin typeface="Times New Roman" pitchFamily="18" charset="0"/>
                <a:cs typeface="Times New Roman" pitchFamily="18" charset="0"/>
              </a:rPr>
              <a:t>of identifying software requirements by communicating with clients, end users, and stakeholders</a:t>
            </a:r>
            <a:r>
              <a:rPr lang="en-IN" sz="2900" dirty="0" smtClean="0">
                <a:latin typeface="Times New Roman" pitchFamily="18" charset="0"/>
                <a:cs typeface="Times New Roman" pitchFamily="18" charset="0"/>
              </a:rPr>
              <a:t>.</a:t>
            </a:r>
          </a:p>
          <a:p>
            <a:pPr algn="just"/>
            <a:endParaRPr lang="en-US" sz="2400" dirty="0" smtClean="0">
              <a:latin typeface="Times New Roman" pitchFamily="18" charset="0"/>
              <a:cs typeface="Times New Roman" pitchFamily="18" charset="0"/>
            </a:endParaRPr>
          </a:p>
          <a:p>
            <a:pPr marL="457200" indent="-457200" algn="just">
              <a:buFont typeface="Wingdings" pitchFamily="2" charset="2"/>
              <a:buChar char="ü"/>
            </a:pPr>
            <a:r>
              <a:rPr lang="en-IN" sz="2900" b="1" dirty="0" smtClean="0">
                <a:latin typeface="Times New Roman" pitchFamily="18" charset="0"/>
                <a:cs typeface="Times New Roman" pitchFamily="18" charset="0"/>
              </a:rPr>
              <a:t>Interviews</a:t>
            </a:r>
            <a:r>
              <a:rPr lang="en-IN" sz="2900" dirty="0" smtClean="0">
                <a:latin typeface="Times New Roman" pitchFamily="18" charset="0"/>
                <a:cs typeface="Times New Roman" pitchFamily="18" charset="0"/>
              </a:rPr>
              <a:t> – Collect requirements through discussions:</a:t>
            </a:r>
          </a:p>
          <a:p>
            <a:pPr marL="457200" indent="-457200" algn="just">
              <a:buFont typeface="Wingdings" pitchFamily="2" charset="2"/>
              <a:buChar char="ü"/>
            </a:pPr>
            <a:r>
              <a:rPr lang="en-IN" sz="2900" dirty="0" smtClean="0">
                <a:latin typeface="Times New Roman" pitchFamily="18" charset="0"/>
                <a:cs typeface="Times New Roman" pitchFamily="18" charset="0"/>
              </a:rPr>
              <a:t>Structured (closed) – predefined questions, fixed pattern</a:t>
            </a:r>
          </a:p>
          <a:p>
            <a:pPr marL="457200" indent="-457200" algn="just">
              <a:buFont typeface="Wingdings" pitchFamily="2" charset="2"/>
              <a:buChar char="ü"/>
            </a:pPr>
            <a:r>
              <a:rPr lang="en-IN" sz="2900" dirty="0" smtClean="0">
                <a:latin typeface="Times New Roman" pitchFamily="18" charset="0"/>
                <a:cs typeface="Times New Roman" pitchFamily="18" charset="0"/>
              </a:rPr>
              <a:t>Unstructured (open) – flexible, exploratory</a:t>
            </a:r>
          </a:p>
          <a:p>
            <a:pPr marL="457200" indent="-457200" algn="just">
              <a:buFont typeface="Wingdings" pitchFamily="2" charset="2"/>
              <a:buChar char="ü"/>
            </a:pPr>
            <a:r>
              <a:rPr lang="en-IN" sz="2900" dirty="0" smtClean="0">
                <a:latin typeface="Times New Roman" pitchFamily="18" charset="0"/>
                <a:cs typeface="Times New Roman" pitchFamily="18" charset="0"/>
              </a:rPr>
              <a:t>Oral or written; one-to-one or group interviews</a:t>
            </a:r>
          </a:p>
          <a:p>
            <a:pPr marL="457200" indent="-457200" algn="just">
              <a:buFont typeface="Wingdings" pitchFamily="2" charset="2"/>
              <a:buChar char="ü"/>
            </a:pPr>
            <a:r>
              <a:rPr lang="en-IN" sz="2900" b="1" dirty="0" smtClean="0">
                <a:latin typeface="Times New Roman" pitchFamily="18" charset="0"/>
                <a:cs typeface="Times New Roman" pitchFamily="18" charset="0"/>
              </a:rPr>
              <a:t>Surveys</a:t>
            </a:r>
            <a:r>
              <a:rPr lang="en-IN" sz="2900" dirty="0" smtClean="0">
                <a:latin typeface="Times New Roman" pitchFamily="18" charset="0"/>
                <a:cs typeface="Times New Roman" pitchFamily="18" charset="0"/>
              </a:rPr>
              <a:t> – Query stakeholders about their expectations.</a:t>
            </a:r>
          </a:p>
          <a:p>
            <a:pPr marL="457200" indent="-457200" algn="just">
              <a:buFont typeface="Wingdings" pitchFamily="2" charset="2"/>
              <a:buChar char="ü"/>
            </a:pPr>
            <a:r>
              <a:rPr lang="en-IN" sz="2900" b="1" dirty="0" smtClean="0">
                <a:latin typeface="Times New Roman" pitchFamily="18" charset="0"/>
                <a:cs typeface="Times New Roman" pitchFamily="18" charset="0"/>
              </a:rPr>
              <a:t>Questionnaires</a:t>
            </a:r>
            <a:r>
              <a:rPr lang="en-IN" sz="2900" dirty="0" smtClean="0">
                <a:latin typeface="Times New Roman" pitchFamily="18" charset="0"/>
                <a:cs typeface="Times New Roman" pitchFamily="18" charset="0"/>
              </a:rPr>
              <a:t> – Predefined objective questions; limitation: may miss unlisted issues.</a:t>
            </a:r>
          </a:p>
          <a:p>
            <a:pPr marL="457200" indent="-457200" algn="just">
              <a:buFont typeface="Wingdings" pitchFamily="2" charset="2"/>
              <a:buChar char="ü"/>
            </a:pPr>
            <a:r>
              <a:rPr lang="en-IN" sz="2900" b="1" dirty="0" smtClean="0">
                <a:latin typeface="Times New Roman" pitchFamily="18" charset="0"/>
                <a:cs typeface="Times New Roman" pitchFamily="18" charset="0"/>
              </a:rPr>
              <a:t>Task Analysis</a:t>
            </a:r>
            <a:r>
              <a:rPr lang="en-IN" sz="2900" dirty="0" smtClean="0">
                <a:latin typeface="Times New Roman" pitchFamily="18" charset="0"/>
                <a:cs typeface="Times New Roman" pitchFamily="18" charset="0"/>
              </a:rPr>
              <a:t> – Study existing operations or software to determine new system requirements.</a:t>
            </a:r>
          </a:p>
          <a:p>
            <a:pPr marL="457200" indent="-457200" algn="just">
              <a:buFont typeface="Wingdings" pitchFamily="2" charset="2"/>
              <a:buChar char="ü"/>
            </a:pPr>
            <a:r>
              <a:rPr lang="en-IN" sz="2900" b="1" dirty="0" smtClean="0">
                <a:latin typeface="Times New Roman" pitchFamily="18" charset="0"/>
                <a:cs typeface="Times New Roman" pitchFamily="18" charset="0"/>
              </a:rPr>
              <a:t>Domain Analysis</a:t>
            </a:r>
            <a:r>
              <a:rPr lang="en-IN" sz="2900" dirty="0" smtClean="0">
                <a:latin typeface="Times New Roman" pitchFamily="18" charset="0"/>
                <a:cs typeface="Times New Roman" pitchFamily="18" charset="0"/>
              </a:rPr>
              <a:t> – Use domain experts to identify general and specific requirements.</a:t>
            </a:r>
          </a:p>
          <a:p>
            <a:pPr marL="457200" indent="-457200" algn="just">
              <a:buFont typeface="Wingdings" pitchFamily="2" charset="2"/>
              <a:buChar char="ü"/>
            </a:pPr>
            <a:r>
              <a:rPr lang="en-IN" sz="2900" b="1" dirty="0" smtClean="0">
                <a:latin typeface="Times New Roman" pitchFamily="18" charset="0"/>
                <a:cs typeface="Times New Roman" pitchFamily="18" charset="0"/>
              </a:rPr>
              <a:t>Brainstorming</a:t>
            </a:r>
            <a:r>
              <a:rPr lang="en-IN" sz="2900" dirty="0" smtClean="0">
                <a:latin typeface="Times New Roman" pitchFamily="18" charset="0"/>
                <a:cs typeface="Times New Roman" pitchFamily="18" charset="0"/>
              </a:rPr>
              <a:t> – Informal discussions among stakeholders to collect ideas.</a:t>
            </a:r>
          </a:p>
          <a:p>
            <a:pPr marL="457200" indent="-457200" algn="just">
              <a:buFont typeface="Wingdings" pitchFamily="2" charset="2"/>
              <a:buChar char="ü"/>
            </a:pPr>
            <a:r>
              <a:rPr lang="en-IN" sz="2900" b="1" dirty="0" smtClean="0">
                <a:latin typeface="Times New Roman" pitchFamily="18" charset="0"/>
                <a:cs typeface="Times New Roman" pitchFamily="18" charset="0"/>
              </a:rPr>
              <a:t>Prototyping</a:t>
            </a:r>
            <a:r>
              <a:rPr lang="en-IN" sz="2900" dirty="0" smtClean="0">
                <a:latin typeface="Times New Roman" pitchFamily="18" charset="0"/>
                <a:cs typeface="Times New Roman" pitchFamily="18" charset="0"/>
              </a:rPr>
              <a:t> – Build a basic interface to gather client feedback and refine requirements.</a:t>
            </a:r>
          </a:p>
          <a:p>
            <a:pPr marL="457200" indent="-457200" algn="just">
              <a:buFont typeface="Wingdings" pitchFamily="2" charset="2"/>
              <a:buChar char="ü"/>
            </a:pPr>
            <a:r>
              <a:rPr lang="en-IN" sz="2900" b="1" dirty="0" smtClean="0">
                <a:latin typeface="Times New Roman" pitchFamily="18" charset="0"/>
                <a:cs typeface="Times New Roman" pitchFamily="18" charset="0"/>
              </a:rPr>
              <a:t>Observation</a:t>
            </a:r>
            <a:r>
              <a:rPr lang="en-IN" sz="2900" dirty="0" smtClean="0">
                <a:latin typeface="Times New Roman" pitchFamily="18" charset="0"/>
                <a:cs typeface="Times New Roman" pitchFamily="18" charset="0"/>
              </a:rPr>
              <a:t> – Visit client site to study workflow and current system usage; derive requirements from real operations.</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31838"/>
          </a:xfrm>
        </p:spPr>
        <p:txBody>
          <a:bodyPr>
            <a:noAutofit/>
          </a:bodyPr>
          <a:lstStyle/>
          <a:p>
            <a:r>
              <a:rPr lang="en-IN" sz="3200" b="1" dirty="0" smtClean="0">
                <a:solidFill>
                  <a:srgbClr val="C00000"/>
                </a:solidFill>
                <a:latin typeface="Times New Roman" pitchFamily="18" charset="0"/>
                <a:cs typeface="Times New Roman" pitchFamily="18" charset="0"/>
              </a:rPr>
              <a:t>Software Requirements Characteristics</a:t>
            </a:r>
            <a:br>
              <a:rPr lang="en-IN" sz="3200" b="1" dirty="0" smtClean="0">
                <a:solidFill>
                  <a:srgbClr val="C00000"/>
                </a:solidFill>
                <a:latin typeface="Times New Roman" pitchFamily="18" charset="0"/>
                <a:cs typeface="Times New Roman" pitchFamily="18" charset="0"/>
              </a:rPr>
            </a:b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buNone/>
            </a:pPr>
            <a:r>
              <a:rPr lang="en-IN" dirty="0" smtClean="0">
                <a:latin typeface="Times New Roman" pitchFamily="18" charset="0"/>
                <a:cs typeface="Times New Roman" pitchFamily="18" charset="0"/>
              </a:rPr>
              <a:t>Complete </a:t>
            </a:r>
            <a:r>
              <a:rPr lang="en-IN" dirty="0" smtClean="0">
                <a:latin typeface="Times New Roman" pitchFamily="18" charset="0"/>
                <a:cs typeface="Times New Roman" pitchFamily="18" charset="0"/>
              </a:rPr>
              <a:t>Software Requirement Specifications must be:</a:t>
            </a:r>
          </a:p>
          <a:p>
            <a:pPr>
              <a:buFont typeface="Wingdings" pitchFamily="2" charset="2"/>
              <a:buChar char="ü"/>
            </a:pPr>
            <a:r>
              <a:rPr lang="en-IN" dirty="0" smtClean="0">
                <a:latin typeface="Times New Roman" pitchFamily="18" charset="0"/>
                <a:cs typeface="Times New Roman" pitchFamily="18" charset="0"/>
              </a:rPr>
              <a:t>Clear</a:t>
            </a:r>
          </a:p>
          <a:p>
            <a:pPr>
              <a:buFont typeface="Wingdings" pitchFamily="2" charset="2"/>
              <a:buChar char="ü"/>
            </a:pPr>
            <a:r>
              <a:rPr lang="en-IN" dirty="0" smtClean="0">
                <a:latin typeface="Times New Roman" pitchFamily="18" charset="0"/>
                <a:cs typeface="Times New Roman" pitchFamily="18" charset="0"/>
              </a:rPr>
              <a:t>Correct</a:t>
            </a:r>
          </a:p>
          <a:p>
            <a:pPr>
              <a:buFont typeface="Wingdings" pitchFamily="2" charset="2"/>
              <a:buChar char="ü"/>
            </a:pPr>
            <a:r>
              <a:rPr lang="en-IN" dirty="0" smtClean="0">
                <a:latin typeface="Times New Roman" pitchFamily="18" charset="0"/>
                <a:cs typeface="Times New Roman" pitchFamily="18" charset="0"/>
              </a:rPr>
              <a:t>Consistent</a:t>
            </a:r>
          </a:p>
          <a:p>
            <a:pPr>
              <a:buFont typeface="Wingdings" pitchFamily="2" charset="2"/>
              <a:buChar char="ü"/>
            </a:pPr>
            <a:r>
              <a:rPr lang="en-IN" dirty="0" smtClean="0">
                <a:latin typeface="Times New Roman" pitchFamily="18" charset="0"/>
                <a:cs typeface="Times New Roman" pitchFamily="18" charset="0"/>
              </a:rPr>
              <a:t>Coherent</a:t>
            </a:r>
          </a:p>
          <a:p>
            <a:pPr>
              <a:buFont typeface="Wingdings" pitchFamily="2" charset="2"/>
              <a:buChar char="ü"/>
            </a:pPr>
            <a:r>
              <a:rPr lang="en-IN" dirty="0" smtClean="0">
                <a:latin typeface="Times New Roman" pitchFamily="18" charset="0"/>
                <a:cs typeface="Times New Roman" pitchFamily="18" charset="0"/>
              </a:rPr>
              <a:t>Comprehensible</a:t>
            </a:r>
          </a:p>
          <a:p>
            <a:pPr>
              <a:buFont typeface="Wingdings" pitchFamily="2" charset="2"/>
              <a:buChar char="ü"/>
            </a:pPr>
            <a:r>
              <a:rPr lang="en-IN" dirty="0" smtClean="0">
                <a:latin typeface="Times New Roman" pitchFamily="18" charset="0"/>
                <a:cs typeface="Times New Roman" pitchFamily="18" charset="0"/>
              </a:rPr>
              <a:t>Modifiable</a:t>
            </a:r>
          </a:p>
          <a:p>
            <a:pPr>
              <a:buFont typeface="Wingdings" pitchFamily="2" charset="2"/>
              <a:buChar char="ü"/>
            </a:pPr>
            <a:r>
              <a:rPr lang="en-IN" dirty="0" smtClean="0">
                <a:latin typeface="Times New Roman" pitchFamily="18" charset="0"/>
                <a:cs typeface="Times New Roman" pitchFamily="18" charset="0"/>
              </a:rPr>
              <a:t>Verifiable</a:t>
            </a:r>
          </a:p>
          <a:p>
            <a:pPr>
              <a:buFont typeface="Wingdings" pitchFamily="2" charset="2"/>
              <a:buChar char="ü"/>
            </a:pPr>
            <a:r>
              <a:rPr lang="en-IN" dirty="0" smtClean="0">
                <a:latin typeface="Times New Roman" pitchFamily="18" charset="0"/>
                <a:cs typeface="Times New Roman" pitchFamily="18" charset="0"/>
              </a:rPr>
              <a:t>Prioritized</a:t>
            </a:r>
          </a:p>
          <a:p>
            <a:pPr>
              <a:buFont typeface="Wingdings" pitchFamily="2" charset="2"/>
              <a:buChar char="ü"/>
            </a:pPr>
            <a:r>
              <a:rPr lang="en-IN" dirty="0" smtClean="0">
                <a:latin typeface="Times New Roman" pitchFamily="18" charset="0"/>
                <a:cs typeface="Times New Roman" pitchFamily="18" charset="0"/>
              </a:rPr>
              <a:t>Unambiguous</a:t>
            </a:r>
          </a:p>
          <a:p>
            <a:pPr>
              <a:buFont typeface="Wingdings" pitchFamily="2" charset="2"/>
              <a:buChar char="ü"/>
            </a:pPr>
            <a:r>
              <a:rPr lang="en-IN" dirty="0" smtClean="0">
                <a:latin typeface="Times New Roman" pitchFamily="18" charset="0"/>
                <a:cs typeface="Times New Roman" pitchFamily="18" charset="0"/>
              </a:rPr>
              <a:t>Traceable</a:t>
            </a:r>
          </a:p>
          <a:p>
            <a:pPr>
              <a:buFont typeface="Wingdings" pitchFamily="2" charset="2"/>
              <a:buChar char="ü"/>
            </a:pPr>
            <a:r>
              <a:rPr lang="en-IN" dirty="0" smtClean="0">
                <a:latin typeface="Times New Roman" pitchFamily="18" charset="0"/>
                <a:cs typeface="Times New Roman" pitchFamily="18" charset="0"/>
              </a:rPr>
              <a:t>Credible source</a:t>
            </a:r>
          </a:p>
          <a:p>
            <a:endParaRPr lang="en-I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655638"/>
          </a:xfrm>
        </p:spPr>
        <p:txBody>
          <a:bodyPr>
            <a:normAutofit fontScale="90000"/>
          </a:bodyPr>
          <a:lstStyle/>
          <a:p>
            <a:r>
              <a:rPr lang="en-IN" b="1" dirty="0" smtClean="0">
                <a:solidFill>
                  <a:srgbClr val="C00000"/>
                </a:solidFill>
                <a:latin typeface="Times New Roman" pitchFamily="18" charset="0"/>
                <a:cs typeface="Times New Roman" pitchFamily="18" charset="0"/>
              </a:rPr>
              <a:t>Software Requirements</a:t>
            </a:r>
            <a:r>
              <a:rPr lang="en-IN" dirty="0" smtClean="0"/>
              <a:t/>
            </a:r>
            <a:br>
              <a:rPr lang="en-IN" dirty="0" smtClean="0"/>
            </a:br>
            <a:endParaRPr lang="en-IN"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pPr>
              <a:buNone/>
            </a:pPr>
            <a:r>
              <a:rPr lang="en-IN" b="1" dirty="0" smtClean="0">
                <a:solidFill>
                  <a:srgbClr val="C00000"/>
                </a:solidFill>
                <a:latin typeface="Times New Roman" pitchFamily="18" charset="0"/>
                <a:cs typeface="Times New Roman" pitchFamily="18" charset="0"/>
              </a:rPr>
              <a:t>Functional Requirements</a:t>
            </a:r>
          </a:p>
          <a:p>
            <a:pPr algn="just">
              <a:buNone/>
            </a:pPr>
            <a:r>
              <a:rPr lang="en-IN" dirty="0" smtClean="0">
                <a:latin typeface="Times New Roman" pitchFamily="18" charset="0"/>
                <a:cs typeface="Times New Roman" pitchFamily="18" charset="0"/>
              </a:rPr>
              <a:t>Requirements, which are related to functional aspect of software fall into this </a:t>
            </a:r>
            <a:r>
              <a:rPr lang="en-IN" dirty="0" smtClean="0">
                <a:latin typeface="Times New Roman" pitchFamily="18" charset="0"/>
                <a:cs typeface="Times New Roman" pitchFamily="18" charset="0"/>
              </a:rPr>
              <a:t>category. They </a:t>
            </a:r>
            <a:r>
              <a:rPr lang="en-IN" dirty="0" smtClean="0">
                <a:latin typeface="Times New Roman" pitchFamily="18" charset="0"/>
                <a:cs typeface="Times New Roman" pitchFamily="18" charset="0"/>
              </a:rPr>
              <a:t>define </a:t>
            </a:r>
            <a:r>
              <a:rPr lang="en-IN" b="1" dirty="0" smtClean="0">
                <a:latin typeface="Times New Roman" pitchFamily="18" charset="0"/>
                <a:cs typeface="Times New Roman" pitchFamily="18" charset="0"/>
              </a:rPr>
              <a:t>functions and functionality </a:t>
            </a:r>
            <a:r>
              <a:rPr lang="en-IN" dirty="0" smtClean="0">
                <a:latin typeface="Times New Roman" pitchFamily="18" charset="0"/>
                <a:cs typeface="Times New Roman" pitchFamily="18" charset="0"/>
              </a:rPr>
              <a:t>within and from the software system.</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Examples </a:t>
            </a:r>
            <a:r>
              <a:rPr lang="en-IN" dirty="0" smtClean="0">
                <a:latin typeface="Times New Roman" pitchFamily="18" charset="0"/>
                <a:cs typeface="Times New Roman" pitchFamily="18" charset="0"/>
              </a:rPr>
              <a:t>-</a:t>
            </a:r>
          </a:p>
          <a:p>
            <a:pPr>
              <a:buFont typeface="Wingdings" pitchFamily="2" charset="2"/>
              <a:buChar char="Ø"/>
            </a:pPr>
            <a:r>
              <a:rPr lang="en-IN" dirty="0" smtClean="0">
                <a:latin typeface="Times New Roman" pitchFamily="18" charset="0"/>
                <a:cs typeface="Times New Roman" pitchFamily="18" charset="0"/>
              </a:rPr>
              <a:t>Search option given to user to search from various invoices.</a:t>
            </a:r>
          </a:p>
          <a:p>
            <a:pPr>
              <a:buFont typeface="Wingdings" pitchFamily="2" charset="2"/>
              <a:buChar char="Ø"/>
            </a:pPr>
            <a:r>
              <a:rPr lang="en-IN" dirty="0" smtClean="0">
                <a:latin typeface="Times New Roman" pitchFamily="18" charset="0"/>
                <a:cs typeface="Times New Roman" pitchFamily="18" charset="0"/>
              </a:rPr>
              <a:t>User should be able to mail any report to management.</a:t>
            </a:r>
          </a:p>
          <a:p>
            <a:pPr>
              <a:buFont typeface="Wingdings" pitchFamily="2" charset="2"/>
              <a:buChar char="Ø"/>
            </a:pPr>
            <a:r>
              <a:rPr lang="en-IN" dirty="0" smtClean="0">
                <a:latin typeface="Times New Roman" pitchFamily="18" charset="0"/>
                <a:cs typeface="Times New Roman" pitchFamily="18" charset="0"/>
              </a:rPr>
              <a:t>Users can be divided into groups and groups can be given separate rights.</a:t>
            </a:r>
          </a:p>
          <a:p>
            <a:pPr>
              <a:buFont typeface="Wingdings" pitchFamily="2" charset="2"/>
              <a:buChar char="Ø"/>
            </a:pPr>
            <a:r>
              <a:rPr lang="en-IN" dirty="0" smtClean="0">
                <a:latin typeface="Times New Roman" pitchFamily="18" charset="0"/>
                <a:cs typeface="Times New Roman" pitchFamily="18" charset="0"/>
              </a:rPr>
              <a:t>Should comply business rules and administrative functions.</a:t>
            </a:r>
          </a:p>
          <a:p>
            <a:pPr>
              <a:buFont typeface="Wingdings" pitchFamily="2" charset="2"/>
              <a:buChar char="Ø"/>
            </a:pPr>
            <a:r>
              <a:rPr lang="en-IN" dirty="0" smtClean="0">
                <a:latin typeface="Times New Roman" pitchFamily="18" charset="0"/>
                <a:cs typeface="Times New Roman" pitchFamily="18" charset="0"/>
              </a:rPr>
              <a:t>Software is developed keeping downward compatibility intact.</a:t>
            </a:r>
          </a:p>
          <a:p>
            <a:endParaRPr lang="en-I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808038"/>
          </a:xfrm>
        </p:spPr>
        <p:txBody>
          <a:bodyPr>
            <a:noAutofit/>
          </a:bodyPr>
          <a:lstStyle/>
          <a:p>
            <a:r>
              <a:rPr lang="en-IN" sz="3600" b="1" dirty="0" smtClean="0">
                <a:solidFill>
                  <a:srgbClr val="C00000"/>
                </a:solidFill>
                <a:latin typeface="Times New Roman" pitchFamily="18" charset="0"/>
                <a:cs typeface="Times New Roman" pitchFamily="18" charset="0"/>
              </a:rPr>
              <a:t>Non-Functional Requirements</a:t>
            </a:r>
            <a:br>
              <a:rPr lang="en-IN" sz="3600" b="1" dirty="0" smtClean="0">
                <a:solidFill>
                  <a:srgbClr val="C00000"/>
                </a:solidFill>
                <a:latin typeface="Times New Roman" pitchFamily="18" charset="0"/>
                <a:cs typeface="Times New Roman" pitchFamily="18" charset="0"/>
              </a:rPr>
            </a:br>
            <a:endParaRPr lang="en-IN" sz="36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458200" cy="4754563"/>
          </a:xfrm>
        </p:spPr>
        <p:txBody>
          <a:bodyPr>
            <a:normAutofit fontScale="62500" lnSpcReduction="20000"/>
          </a:bodyPr>
          <a:lstStyle/>
          <a:p>
            <a:pPr algn="just">
              <a:buNone/>
            </a:pPr>
            <a:r>
              <a:rPr lang="en-IN" dirty="0" smtClean="0">
                <a:latin typeface="Times New Roman" pitchFamily="18" charset="0"/>
                <a:cs typeface="Times New Roman" pitchFamily="18" charset="0"/>
              </a:rPr>
              <a:t>Requirements, which are not related to functional aspect of software, fall </a:t>
            </a:r>
            <a:r>
              <a:rPr lang="en-IN" dirty="0" smtClean="0">
                <a:latin typeface="Times New Roman" pitchFamily="18" charset="0"/>
                <a:cs typeface="Times New Roman" pitchFamily="18" charset="0"/>
              </a:rPr>
              <a:t>into this </a:t>
            </a:r>
            <a:r>
              <a:rPr lang="en-IN" dirty="0" smtClean="0">
                <a:latin typeface="Times New Roman" pitchFamily="18" charset="0"/>
                <a:cs typeface="Times New Roman" pitchFamily="18" charset="0"/>
              </a:rPr>
              <a:t>category. They are implicit or expected characteristics of software, which users make assumption of</a:t>
            </a:r>
            <a:r>
              <a:rPr lang="en-IN" dirty="0" smtClean="0">
                <a:latin typeface="Times New Roman" pitchFamily="18" charset="0"/>
                <a:cs typeface="Times New Roman" pitchFamily="18" charset="0"/>
              </a:rPr>
              <a:t>.</a:t>
            </a:r>
          </a:p>
          <a:p>
            <a:pPr algn="just">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Non-functional requirements include -</a:t>
            </a:r>
          </a:p>
          <a:p>
            <a:pPr>
              <a:buFont typeface="Wingdings" pitchFamily="2" charset="2"/>
              <a:buChar char="ü"/>
            </a:pPr>
            <a:r>
              <a:rPr lang="en-IN" dirty="0" smtClean="0">
                <a:latin typeface="Times New Roman" pitchFamily="18" charset="0"/>
                <a:cs typeface="Times New Roman" pitchFamily="18" charset="0"/>
              </a:rPr>
              <a:t>Security</a:t>
            </a:r>
          </a:p>
          <a:p>
            <a:pPr>
              <a:buFont typeface="Wingdings" pitchFamily="2" charset="2"/>
              <a:buChar char="ü"/>
            </a:pPr>
            <a:r>
              <a:rPr lang="en-IN" dirty="0" smtClean="0">
                <a:latin typeface="Times New Roman" pitchFamily="18" charset="0"/>
                <a:cs typeface="Times New Roman" pitchFamily="18" charset="0"/>
              </a:rPr>
              <a:t>Logging</a:t>
            </a:r>
          </a:p>
          <a:p>
            <a:pPr>
              <a:buFont typeface="Wingdings" pitchFamily="2" charset="2"/>
              <a:buChar char="ü"/>
            </a:pPr>
            <a:r>
              <a:rPr lang="en-IN" dirty="0" smtClean="0">
                <a:latin typeface="Times New Roman" pitchFamily="18" charset="0"/>
                <a:cs typeface="Times New Roman" pitchFamily="18" charset="0"/>
              </a:rPr>
              <a:t>Storage</a:t>
            </a:r>
          </a:p>
          <a:p>
            <a:pPr>
              <a:buFont typeface="Wingdings" pitchFamily="2" charset="2"/>
              <a:buChar char="ü"/>
            </a:pPr>
            <a:r>
              <a:rPr lang="en-IN" dirty="0" smtClean="0">
                <a:latin typeface="Times New Roman" pitchFamily="18" charset="0"/>
                <a:cs typeface="Times New Roman" pitchFamily="18" charset="0"/>
              </a:rPr>
              <a:t>Configuration</a:t>
            </a:r>
          </a:p>
          <a:p>
            <a:pPr>
              <a:buFont typeface="Wingdings" pitchFamily="2" charset="2"/>
              <a:buChar char="ü"/>
            </a:pPr>
            <a:r>
              <a:rPr lang="en-IN" dirty="0" smtClean="0">
                <a:latin typeface="Times New Roman" pitchFamily="18" charset="0"/>
                <a:cs typeface="Times New Roman" pitchFamily="18" charset="0"/>
              </a:rPr>
              <a:t>Performance</a:t>
            </a:r>
          </a:p>
          <a:p>
            <a:pPr>
              <a:buFont typeface="Wingdings" pitchFamily="2" charset="2"/>
              <a:buChar char="ü"/>
            </a:pPr>
            <a:r>
              <a:rPr lang="en-IN" dirty="0" smtClean="0">
                <a:latin typeface="Times New Roman" pitchFamily="18" charset="0"/>
                <a:cs typeface="Times New Roman" pitchFamily="18" charset="0"/>
              </a:rPr>
              <a:t>Cost</a:t>
            </a:r>
          </a:p>
          <a:p>
            <a:pPr>
              <a:buFont typeface="Wingdings" pitchFamily="2" charset="2"/>
              <a:buChar char="ü"/>
            </a:pPr>
            <a:r>
              <a:rPr lang="en-IN" dirty="0" smtClean="0">
                <a:latin typeface="Times New Roman" pitchFamily="18" charset="0"/>
                <a:cs typeface="Times New Roman" pitchFamily="18" charset="0"/>
              </a:rPr>
              <a:t>Interoperability</a:t>
            </a:r>
          </a:p>
          <a:p>
            <a:pPr>
              <a:buFont typeface="Wingdings" pitchFamily="2" charset="2"/>
              <a:buChar char="ü"/>
            </a:pPr>
            <a:r>
              <a:rPr lang="en-IN" dirty="0" smtClean="0">
                <a:latin typeface="Times New Roman" pitchFamily="18" charset="0"/>
                <a:cs typeface="Times New Roman" pitchFamily="18" charset="0"/>
              </a:rPr>
              <a:t>Flexibility</a:t>
            </a:r>
          </a:p>
          <a:p>
            <a:pPr>
              <a:buFont typeface="Wingdings" pitchFamily="2" charset="2"/>
              <a:buChar char="ü"/>
            </a:pPr>
            <a:r>
              <a:rPr lang="en-IN" dirty="0" smtClean="0">
                <a:latin typeface="Times New Roman" pitchFamily="18" charset="0"/>
                <a:cs typeface="Times New Roman" pitchFamily="18" charset="0"/>
              </a:rPr>
              <a:t>Disaster recovery</a:t>
            </a:r>
          </a:p>
          <a:p>
            <a:pPr>
              <a:buFont typeface="Wingdings" pitchFamily="2" charset="2"/>
              <a:buChar char="ü"/>
            </a:pPr>
            <a:r>
              <a:rPr lang="en-IN" dirty="0" smtClean="0">
                <a:latin typeface="Times New Roman" pitchFamily="18" charset="0"/>
                <a:cs typeface="Times New Roman" pitchFamily="18" charset="0"/>
              </a:rPr>
              <a:t>Accessibility</a:t>
            </a:r>
          </a:p>
          <a:p>
            <a:endParaRPr lang="en-I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buNone/>
            </a:pPr>
            <a:r>
              <a:rPr lang="en-IN" sz="2400" dirty="0" smtClean="0">
                <a:latin typeface="Times New Roman" pitchFamily="18" charset="0"/>
                <a:cs typeface="Times New Roman" pitchFamily="18" charset="0"/>
              </a:rPr>
              <a:t>Requirements are categorized logically </a:t>
            </a:r>
            <a:r>
              <a:rPr lang="en-IN" sz="2400" dirty="0" smtClean="0">
                <a:latin typeface="Times New Roman" pitchFamily="18" charset="0"/>
                <a:cs typeface="Times New Roman" pitchFamily="18" charset="0"/>
              </a:rPr>
              <a:t>as</a:t>
            </a:r>
          </a:p>
          <a:p>
            <a:pPr>
              <a:buNone/>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Must Have</a:t>
            </a:r>
            <a:r>
              <a:rPr lang="en-IN" sz="2400" dirty="0" smtClean="0">
                <a:latin typeface="Times New Roman" pitchFamily="18" charset="0"/>
                <a:cs typeface="Times New Roman" pitchFamily="18" charset="0"/>
              </a:rPr>
              <a:t> : Software cannot be said operational without them</a:t>
            </a:r>
            <a:r>
              <a:rPr lang="en-IN" sz="2400" dirty="0" smtClean="0">
                <a:latin typeface="Times New Roman" pitchFamily="18" charset="0"/>
                <a:cs typeface="Times New Roman" pitchFamily="18" charset="0"/>
              </a:rPr>
              <a:t>.</a:t>
            </a:r>
          </a:p>
          <a:p>
            <a:pPr algn="just">
              <a:buNone/>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Should have</a:t>
            </a:r>
            <a:r>
              <a:rPr lang="en-IN" sz="2400" dirty="0" smtClean="0">
                <a:latin typeface="Times New Roman" pitchFamily="18" charset="0"/>
                <a:cs typeface="Times New Roman" pitchFamily="18" charset="0"/>
              </a:rPr>
              <a:t> : Enhancing the functionality of software</a:t>
            </a:r>
            <a:r>
              <a:rPr lang="en-IN" sz="2400" dirty="0" smtClean="0">
                <a:latin typeface="Times New Roman" pitchFamily="18" charset="0"/>
                <a:cs typeface="Times New Roman" pitchFamily="18" charset="0"/>
              </a:rPr>
              <a:t>.</a:t>
            </a:r>
          </a:p>
          <a:p>
            <a:pPr algn="just">
              <a:buNone/>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Could have</a:t>
            </a:r>
            <a:r>
              <a:rPr lang="en-IN" sz="2400" dirty="0" smtClean="0">
                <a:latin typeface="Times New Roman" pitchFamily="18" charset="0"/>
                <a:cs typeface="Times New Roman" pitchFamily="18" charset="0"/>
              </a:rPr>
              <a:t> : Software can still properly function with these requirements</a:t>
            </a:r>
            <a:r>
              <a:rPr lang="en-IN" sz="2400" dirty="0" smtClean="0">
                <a:latin typeface="Times New Roman" pitchFamily="18" charset="0"/>
                <a:cs typeface="Times New Roman" pitchFamily="18" charset="0"/>
              </a:rPr>
              <a:t>.</a:t>
            </a:r>
          </a:p>
          <a:p>
            <a:pPr algn="just">
              <a:buNone/>
            </a:pPr>
            <a:endParaRPr lang="en-IN" sz="2400" dirty="0" smtClean="0">
              <a:latin typeface="Times New Roman" pitchFamily="18" charset="0"/>
              <a:cs typeface="Times New Roman" pitchFamily="18" charset="0"/>
            </a:endParaRPr>
          </a:p>
          <a:p>
            <a:pPr algn="just">
              <a:buNone/>
            </a:pPr>
            <a:r>
              <a:rPr lang="en-IN" sz="2400" b="1" dirty="0" smtClean="0">
                <a:latin typeface="Times New Roman" pitchFamily="18" charset="0"/>
                <a:cs typeface="Times New Roman" pitchFamily="18" charset="0"/>
              </a:rPr>
              <a:t>Wish list</a:t>
            </a:r>
            <a:r>
              <a:rPr lang="en-IN" sz="2400" dirty="0" smtClean="0">
                <a:latin typeface="Times New Roman" pitchFamily="18" charset="0"/>
                <a:cs typeface="Times New Roman" pitchFamily="18" charset="0"/>
              </a:rPr>
              <a:t> : These requirements do not map to any objectives of software.</a:t>
            </a:r>
          </a:p>
          <a:p>
            <a:endParaRPr lang="en-IN"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1143000"/>
          </a:xfrm>
        </p:spPr>
        <p:txBody>
          <a:bodyPr>
            <a:normAutofit fontScale="90000"/>
          </a:bodyPr>
          <a:lstStyle/>
          <a:p>
            <a:r>
              <a:rPr lang="en-IN" sz="3600" b="1" dirty="0" smtClean="0">
                <a:solidFill>
                  <a:srgbClr val="C00000"/>
                </a:solidFill>
                <a:latin typeface="Times New Roman" pitchFamily="18" charset="0"/>
                <a:cs typeface="Times New Roman" pitchFamily="18" charset="0"/>
              </a:rPr>
              <a:t>User Interface requirements</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lgn="just"/>
            <a:r>
              <a:rPr lang="en-IN" sz="2400" dirty="0" smtClean="0">
                <a:latin typeface="Times New Roman" pitchFamily="18" charset="0"/>
                <a:cs typeface="Times New Roman" pitchFamily="18" charset="0"/>
              </a:rPr>
              <a:t>UI is an important part of any software or hardware or hybrid system. A software is widely accepted if it is </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buFont typeface="Wingdings" pitchFamily="2" charset="2"/>
              <a:buChar char="ü"/>
            </a:pPr>
            <a:r>
              <a:rPr lang="en-IN" sz="2400" dirty="0" smtClean="0">
                <a:latin typeface="Times New Roman" pitchFamily="18" charset="0"/>
                <a:cs typeface="Times New Roman" pitchFamily="18" charset="0"/>
              </a:rPr>
              <a:t>easy to operate</a:t>
            </a:r>
          </a:p>
          <a:p>
            <a:pPr algn="just">
              <a:buFont typeface="Wingdings" pitchFamily="2" charset="2"/>
              <a:buChar char="ü"/>
            </a:pPr>
            <a:r>
              <a:rPr lang="en-IN" sz="2400" dirty="0" smtClean="0">
                <a:latin typeface="Times New Roman" pitchFamily="18" charset="0"/>
                <a:cs typeface="Times New Roman" pitchFamily="18" charset="0"/>
              </a:rPr>
              <a:t>quick in response</a:t>
            </a:r>
          </a:p>
          <a:p>
            <a:pPr algn="just">
              <a:buFont typeface="Wingdings" pitchFamily="2" charset="2"/>
              <a:buChar char="ü"/>
            </a:pPr>
            <a:r>
              <a:rPr lang="en-IN" sz="2400" dirty="0" smtClean="0">
                <a:latin typeface="Times New Roman" pitchFamily="18" charset="0"/>
                <a:cs typeface="Times New Roman" pitchFamily="18" charset="0"/>
              </a:rPr>
              <a:t>effectively handling operational errors</a:t>
            </a:r>
          </a:p>
          <a:p>
            <a:pPr algn="just">
              <a:buFont typeface="Wingdings" pitchFamily="2" charset="2"/>
              <a:buChar char="ü"/>
            </a:pPr>
            <a:r>
              <a:rPr lang="en-IN" sz="2400" dirty="0" smtClean="0">
                <a:latin typeface="Times New Roman" pitchFamily="18" charset="0"/>
                <a:cs typeface="Times New Roman" pitchFamily="18" charset="0"/>
              </a:rPr>
              <a:t>providing simple yet consistent user interface</a:t>
            </a:r>
          </a:p>
          <a:p>
            <a:endParaRPr lang="en-I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85000" lnSpcReduction="20000"/>
          </a:bodyPr>
          <a:lstStyle/>
          <a:p>
            <a:pPr>
              <a:buFont typeface="Wingdings" pitchFamily="2" charset="2"/>
              <a:buChar char="ü"/>
            </a:pPr>
            <a:r>
              <a:rPr lang="en-IN" dirty="0" smtClean="0">
                <a:latin typeface="Times New Roman" pitchFamily="18" charset="0"/>
                <a:cs typeface="Times New Roman" pitchFamily="18" charset="0"/>
              </a:rPr>
              <a:t>Content presentation</a:t>
            </a:r>
          </a:p>
          <a:p>
            <a:pPr>
              <a:buFont typeface="Wingdings" pitchFamily="2" charset="2"/>
              <a:buChar char="ü"/>
            </a:pPr>
            <a:r>
              <a:rPr lang="en-IN" dirty="0" smtClean="0">
                <a:latin typeface="Times New Roman" pitchFamily="18" charset="0"/>
                <a:cs typeface="Times New Roman" pitchFamily="18" charset="0"/>
              </a:rPr>
              <a:t>Easy Navigation</a:t>
            </a:r>
          </a:p>
          <a:p>
            <a:pPr>
              <a:buFont typeface="Wingdings" pitchFamily="2" charset="2"/>
              <a:buChar char="ü"/>
            </a:pPr>
            <a:r>
              <a:rPr lang="en-IN" dirty="0" smtClean="0">
                <a:latin typeface="Times New Roman" pitchFamily="18" charset="0"/>
                <a:cs typeface="Times New Roman" pitchFamily="18" charset="0"/>
              </a:rPr>
              <a:t>Simple interface</a:t>
            </a:r>
          </a:p>
          <a:p>
            <a:pPr>
              <a:buFont typeface="Wingdings" pitchFamily="2" charset="2"/>
              <a:buChar char="ü"/>
            </a:pPr>
            <a:r>
              <a:rPr lang="en-IN" dirty="0" smtClean="0">
                <a:latin typeface="Times New Roman" pitchFamily="18" charset="0"/>
                <a:cs typeface="Times New Roman" pitchFamily="18" charset="0"/>
              </a:rPr>
              <a:t>Responsive</a:t>
            </a:r>
          </a:p>
          <a:p>
            <a:pPr>
              <a:buFont typeface="Wingdings" pitchFamily="2" charset="2"/>
              <a:buChar char="ü"/>
            </a:pPr>
            <a:r>
              <a:rPr lang="en-IN" dirty="0" smtClean="0">
                <a:latin typeface="Times New Roman" pitchFamily="18" charset="0"/>
                <a:cs typeface="Times New Roman" pitchFamily="18" charset="0"/>
              </a:rPr>
              <a:t>Consistent UI elements</a:t>
            </a:r>
          </a:p>
          <a:p>
            <a:pPr>
              <a:buFont typeface="Wingdings" pitchFamily="2" charset="2"/>
              <a:buChar char="ü"/>
            </a:pPr>
            <a:r>
              <a:rPr lang="en-IN" dirty="0" smtClean="0">
                <a:latin typeface="Times New Roman" pitchFamily="18" charset="0"/>
                <a:cs typeface="Times New Roman" pitchFamily="18" charset="0"/>
              </a:rPr>
              <a:t>Feedback mechanism</a:t>
            </a:r>
          </a:p>
          <a:p>
            <a:pPr>
              <a:buFont typeface="Wingdings" pitchFamily="2" charset="2"/>
              <a:buChar char="ü"/>
            </a:pPr>
            <a:r>
              <a:rPr lang="en-IN" dirty="0" smtClean="0">
                <a:latin typeface="Times New Roman" pitchFamily="18" charset="0"/>
                <a:cs typeface="Times New Roman" pitchFamily="18" charset="0"/>
              </a:rPr>
              <a:t>Default settings</a:t>
            </a:r>
          </a:p>
          <a:p>
            <a:pPr>
              <a:buFont typeface="Wingdings" pitchFamily="2" charset="2"/>
              <a:buChar char="ü"/>
            </a:pPr>
            <a:r>
              <a:rPr lang="en-IN" dirty="0" smtClean="0">
                <a:latin typeface="Times New Roman" pitchFamily="18" charset="0"/>
                <a:cs typeface="Times New Roman" pitchFamily="18" charset="0"/>
              </a:rPr>
              <a:t>Purposeful layout</a:t>
            </a:r>
          </a:p>
          <a:p>
            <a:pPr>
              <a:buFont typeface="Wingdings" pitchFamily="2" charset="2"/>
              <a:buChar char="ü"/>
            </a:pPr>
            <a:r>
              <a:rPr lang="en-IN" dirty="0" err="1" smtClean="0">
                <a:latin typeface="Times New Roman" pitchFamily="18" charset="0"/>
                <a:cs typeface="Times New Roman" pitchFamily="18" charset="0"/>
              </a:rPr>
              <a:t>Strategical</a:t>
            </a:r>
            <a:r>
              <a:rPr lang="en-IN" dirty="0" smtClean="0">
                <a:latin typeface="Times New Roman" pitchFamily="18" charset="0"/>
                <a:cs typeface="Times New Roman" pitchFamily="18" charset="0"/>
              </a:rPr>
              <a:t> use of </a:t>
            </a:r>
            <a:r>
              <a:rPr lang="en-IN" dirty="0" err="1" smtClean="0">
                <a:latin typeface="Times New Roman" pitchFamily="18" charset="0"/>
                <a:cs typeface="Times New Roman" pitchFamily="18" charset="0"/>
              </a:rPr>
              <a:t>color</a:t>
            </a:r>
            <a:r>
              <a:rPr lang="en-IN" dirty="0" smtClean="0">
                <a:latin typeface="Times New Roman" pitchFamily="18" charset="0"/>
                <a:cs typeface="Times New Roman" pitchFamily="18" charset="0"/>
              </a:rPr>
              <a:t> and texture.</a:t>
            </a:r>
          </a:p>
          <a:p>
            <a:pPr>
              <a:buFont typeface="Wingdings" pitchFamily="2" charset="2"/>
              <a:buChar char="ü"/>
            </a:pPr>
            <a:r>
              <a:rPr lang="en-IN" dirty="0" smtClean="0">
                <a:latin typeface="Times New Roman" pitchFamily="18" charset="0"/>
                <a:cs typeface="Times New Roman" pitchFamily="18" charset="0"/>
              </a:rPr>
              <a:t>Provide help information</a:t>
            </a:r>
          </a:p>
          <a:p>
            <a:pPr>
              <a:buFont typeface="Wingdings" pitchFamily="2" charset="2"/>
              <a:buChar char="ü"/>
            </a:pPr>
            <a:r>
              <a:rPr lang="en-IN" dirty="0" smtClean="0">
                <a:latin typeface="Times New Roman" pitchFamily="18" charset="0"/>
                <a:cs typeface="Times New Roman" pitchFamily="18" charset="0"/>
              </a:rPr>
              <a:t>User centric approach</a:t>
            </a:r>
          </a:p>
          <a:p>
            <a:pPr>
              <a:buFont typeface="Wingdings" pitchFamily="2" charset="2"/>
              <a:buChar char="ü"/>
            </a:pPr>
            <a:r>
              <a:rPr lang="en-IN" dirty="0" smtClean="0">
                <a:latin typeface="Times New Roman" pitchFamily="18" charset="0"/>
                <a:cs typeface="Times New Roman" pitchFamily="18" charset="0"/>
              </a:rPr>
              <a:t>Group based view settings.</a:t>
            </a:r>
          </a:p>
          <a:p>
            <a:endParaRPr lang="en-IN"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1143000"/>
          </a:xfrm>
        </p:spPr>
        <p:txBody>
          <a:bodyPr>
            <a:normAutofit fontScale="90000"/>
          </a:bodyPr>
          <a:lstStyle/>
          <a:p>
            <a:r>
              <a:rPr lang="en-IN" sz="3100" b="1" dirty="0" smtClean="0">
                <a:solidFill>
                  <a:srgbClr val="C00000"/>
                </a:solidFill>
                <a:latin typeface="Times New Roman" pitchFamily="18" charset="0"/>
                <a:cs typeface="Times New Roman" pitchFamily="18" charset="0"/>
              </a:rPr>
              <a:t>Software Requirement Specification (SRS) Format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70000" lnSpcReduction="20000"/>
          </a:bodyPr>
          <a:lstStyle/>
          <a:p>
            <a:pPr fontAlgn="base">
              <a:buNone/>
            </a:pPr>
            <a:r>
              <a:rPr lang="en-IN" b="1" dirty="0" smtClean="0">
                <a:latin typeface="Times New Roman" pitchFamily="18" charset="0"/>
                <a:cs typeface="Times New Roman" pitchFamily="18" charset="0"/>
              </a:rPr>
              <a:t>Table of Content</a:t>
            </a:r>
          </a:p>
          <a:p>
            <a:pPr fontAlgn="base">
              <a:buFont typeface="Wingdings" pitchFamily="2" charset="2"/>
              <a:buChar char="§"/>
            </a:pPr>
            <a:r>
              <a:rPr lang="en-IN" dirty="0" smtClean="0">
                <a:latin typeface="Times New Roman" pitchFamily="18" charset="0"/>
                <a:cs typeface="Times New Roman" pitchFamily="18" charset="0"/>
              </a:rPr>
              <a:t>Introduction</a:t>
            </a:r>
          </a:p>
          <a:p>
            <a:pPr fontAlgn="base">
              <a:buFont typeface="Wingdings" pitchFamily="2" charset="2"/>
              <a:buChar char="§"/>
            </a:pPr>
            <a:r>
              <a:rPr lang="en-IN" dirty="0" smtClean="0">
                <a:latin typeface="Times New Roman" pitchFamily="18" charset="0"/>
                <a:cs typeface="Times New Roman" pitchFamily="18" charset="0"/>
              </a:rPr>
              <a:t>General description</a:t>
            </a:r>
          </a:p>
          <a:p>
            <a:pPr fontAlgn="base">
              <a:buFont typeface="Wingdings" pitchFamily="2" charset="2"/>
              <a:buChar char="§"/>
            </a:pPr>
            <a:r>
              <a:rPr lang="en-IN" dirty="0" smtClean="0">
                <a:latin typeface="Times New Roman" pitchFamily="18" charset="0"/>
                <a:cs typeface="Times New Roman" pitchFamily="18" charset="0"/>
              </a:rPr>
              <a:t>Functional Requirements</a:t>
            </a:r>
          </a:p>
          <a:p>
            <a:pPr fontAlgn="base">
              <a:buFont typeface="Wingdings" pitchFamily="2" charset="2"/>
              <a:buChar char="§"/>
            </a:pPr>
            <a:r>
              <a:rPr lang="en-IN" dirty="0" smtClean="0">
                <a:latin typeface="Times New Roman" pitchFamily="18" charset="0"/>
                <a:cs typeface="Times New Roman" pitchFamily="18" charset="0"/>
              </a:rPr>
              <a:t>Interface Requirements</a:t>
            </a:r>
          </a:p>
          <a:p>
            <a:pPr fontAlgn="base">
              <a:buFont typeface="Wingdings" pitchFamily="2" charset="2"/>
              <a:buChar char="§"/>
            </a:pPr>
            <a:r>
              <a:rPr lang="en-IN" dirty="0" smtClean="0">
                <a:latin typeface="Times New Roman" pitchFamily="18" charset="0"/>
                <a:cs typeface="Times New Roman" pitchFamily="18" charset="0"/>
              </a:rPr>
              <a:t>Performance Requirements</a:t>
            </a:r>
          </a:p>
          <a:p>
            <a:pPr fontAlgn="base">
              <a:buFont typeface="Wingdings" pitchFamily="2" charset="2"/>
              <a:buChar char="§"/>
            </a:pPr>
            <a:r>
              <a:rPr lang="en-IN" dirty="0" smtClean="0">
                <a:latin typeface="Times New Roman" pitchFamily="18" charset="0"/>
                <a:cs typeface="Times New Roman" pitchFamily="18" charset="0"/>
              </a:rPr>
              <a:t>Design Constraints</a:t>
            </a:r>
          </a:p>
          <a:p>
            <a:pPr fontAlgn="base">
              <a:buFont typeface="Wingdings" pitchFamily="2" charset="2"/>
              <a:buChar char="§"/>
            </a:pPr>
            <a:r>
              <a:rPr lang="en-IN" dirty="0" smtClean="0">
                <a:latin typeface="Times New Roman" pitchFamily="18" charset="0"/>
                <a:cs typeface="Times New Roman" pitchFamily="18" charset="0"/>
              </a:rPr>
              <a:t>Non-Functional Attributes</a:t>
            </a:r>
          </a:p>
          <a:p>
            <a:pPr fontAlgn="base">
              <a:buFont typeface="Wingdings" pitchFamily="2" charset="2"/>
              <a:buChar char="§"/>
            </a:pPr>
            <a:r>
              <a:rPr lang="en-IN" dirty="0" smtClean="0">
                <a:latin typeface="Times New Roman" pitchFamily="18" charset="0"/>
                <a:cs typeface="Times New Roman" pitchFamily="18" charset="0"/>
              </a:rPr>
              <a:t>Preliminary Schedule and Budget</a:t>
            </a:r>
          </a:p>
          <a:p>
            <a:pPr fontAlgn="base">
              <a:buFont typeface="Wingdings" pitchFamily="2" charset="2"/>
              <a:buChar char="§"/>
            </a:pPr>
            <a:r>
              <a:rPr lang="en-IN" dirty="0" smtClean="0">
                <a:latin typeface="Times New Roman" pitchFamily="18" charset="0"/>
                <a:cs typeface="Times New Roman" pitchFamily="18" charset="0"/>
              </a:rPr>
              <a:t>Appendices</a:t>
            </a:r>
          </a:p>
          <a:p>
            <a:pPr fontAlgn="base">
              <a:buFont typeface="Wingdings" pitchFamily="2" charset="2"/>
              <a:buChar char="§"/>
            </a:pPr>
            <a:r>
              <a:rPr lang="en-IN" dirty="0" smtClean="0">
                <a:latin typeface="Times New Roman" pitchFamily="18" charset="0"/>
                <a:cs typeface="Times New Roman" pitchFamily="18" charset="0"/>
              </a:rPr>
              <a:t>Uses of SRS document</a:t>
            </a:r>
          </a:p>
          <a:p>
            <a:pPr fontAlgn="base">
              <a:buFont typeface="Wingdings" pitchFamily="2" charset="2"/>
              <a:buChar char="§"/>
            </a:pPr>
            <a:r>
              <a:rPr lang="en-IN" dirty="0" smtClean="0">
                <a:latin typeface="Times New Roman" pitchFamily="18" charset="0"/>
                <a:cs typeface="Times New Roman" pitchFamily="18" charset="0"/>
              </a:rPr>
              <a:t>FAQs on SRS Format</a:t>
            </a:r>
          </a:p>
          <a:p>
            <a:pPr fontAlgn="base">
              <a:buFont typeface="Wingdings" pitchFamily="2" charset="2"/>
              <a:buChar char="§"/>
            </a:pPr>
            <a:r>
              <a:rPr lang="en-IN" dirty="0" smtClean="0">
                <a:latin typeface="Times New Roman" pitchFamily="18" charset="0"/>
                <a:cs typeface="Times New Roman" pitchFamily="18" charset="0"/>
              </a:rPr>
              <a:t>Conclusion</a:t>
            </a:r>
          </a:p>
          <a:p>
            <a:endParaRPr lang="en-I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884238"/>
          </a:xfrm>
        </p:spPr>
        <p:txBody>
          <a:bodyPr>
            <a:normAutofit fontScale="90000"/>
          </a:bodyPr>
          <a:lstStyle/>
          <a:p>
            <a:r>
              <a:rPr lang="en-IN" sz="3600" b="1" dirty="0" smtClean="0">
                <a:solidFill>
                  <a:srgbClr val="C00000"/>
                </a:solidFill>
              </a:rPr>
              <a:t>Software Requirement Specification (SRS)</a:t>
            </a:r>
            <a:r>
              <a:rPr lang="en-IN" dirty="0" smtClean="0"/>
              <a:t/>
            </a:r>
            <a:br>
              <a:rPr lang="en-IN" dirty="0" smtClean="0"/>
            </a:br>
            <a:endParaRPr lang="en-IN" dirty="0"/>
          </a:p>
        </p:txBody>
      </p:sp>
      <p:sp>
        <p:nvSpPr>
          <p:cNvPr id="3" name="Content Placeholder 2"/>
          <p:cNvSpPr>
            <a:spLocks noGrp="1"/>
          </p:cNvSpPr>
          <p:nvPr>
            <p:ph idx="1"/>
          </p:nvPr>
        </p:nvSpPr>
        <p:spPr>
          <a:xfrm>
            <a:off x="457200" y="1219200"/>
            <a:ext cx="8229600" cy="4906963"/>
          </a:xfrm>
        </p:spPr>
        <p:txBody>
          <a:bodyPr>
            <a:normAutofit/>
          </a:bodyPr>
          <a:lstStyle/>
          <a:p>
            <a:pPr algn="just"/>
            <a:r>
              <a:rPr lang="en-IN" sz="2000" b="1" dirty="0" smtClean="0">
                <a:latin typeface="Times New Roman" pitchFamily="18" charset="0"/>
                <a:cs typeface="Times New Roman" pitchFamily="18" charset="0"/>
              </a:rPr>
              <a:t>Software Requirement Specification (SRS) Format</a:t>
            </a:r>
            <a:r>
              <a:rPr lang="en-IN" sz="2000" dirty="0" smtClean="0">
                <a:latin typeface="Times New Roman" pitchFamily="18" charset="0"/>
                <a:cs typeface="Times New Roman" pitchFamily="18" charset="0"/>
              </a:rPr>
              <a:t> as the name suggests, is a </a:t>
            </a:r>
            <a:r>
              <a:rPr lang="en-IN" sz="2000" b="1" dirty="0" smtClean="0">
                <a:latin typeface="Times New Roman" pitchFamily="18" charset="0"/>
                <a:cs typeface="Times New Roman" pitchFamily="18" charset="0"/>
              </a:rPr>
              <a:t>complete specification and description of requirements </a:t>
            </a:r>
            <a:r>
              <a:rPr lang="en-IN" sz="2000" dirty="0" smtClean="0">
                <a:latin typeface="Times New Roman" pitchFamily="18" charset="0"/>
                <a:cs typeface="Times New Roman" pitchFamily="18" charset="0"/>
              </a:rPr>
              <a:t>of the software that need to be fulfilled for the successful development of the software system. </a:t>
            </a:r>
            <a:endParaRPr lang="en-IN" sz="2000" dirty="0" smtClean="0">
              <a:latin typeface="Times New Roman" pitchFamily="18" charset="0"/>
              <a:cs typeface="Times New Roman" pitchFamily="18" charset="0"/>
            </a:endParaRP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These </a:t>
            </a:r>
            <a:r>
              <a:rPr lang="en-IN" sz="2000" dirty="0" smtClean="0">
                <a:latin typeface="Times New Roman" pitchFamily="18" charset="0"/>
                <a:cs typeface="Times New Roman" pitchFamily="18" charset="0"/>
              </a:rPr>
              <a:t>requirements can be </a:t>
            </a:r>
            <a:r>
              <a:rPr lang="en-IN" sz="2000" b="1" dirty="0" smtClean="0">
                <a:latin typeface="Times New Roman" pitchFamily="18" charset="0"/>
                <a:cs typeface="Times New Roman" pitchFamily="18" charset="0"/>
              </a:rPr>
              <a:t>functional as well as non-functional </a:t>
            </a:r>
            <a:r>
              <a:rPr lang="en-IN" sz="2000" dirty="0" smtClean="0">
                <a:latin typeface="Times New Roman" pitchFamily="18" charset="0"/>
                <a:cs typeface="Times New Roman" pitchFamily="18" charset="0"/>
              </a:rPr>
              <a:t>depending upon the type of requirement. The interaction between different customers and contractors is done because it is necessary to fully understand the needs of customers.</a:t>
            </a:r>
            <a:endParaRPr lang="en-IN" sz="2000" dirty="0">
              <a:latin typeface="Times New Roman" pitchFamily="18" charset="0"/>
              <a:cs typeface="Times New Roman"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a:srcRect/>
          <a:stretch>
            <a:fillRect/>
          </a:stretch>
        </p:blipFill>
        <p:spPr bwMode="auto">
          <a:xfrm>
            <a:off x="1981200" y="1752600"/>
            <a:ext cx="5181600" cy="2743200"/>
          </a:xfrm>
          <a:prstGeom prst="rect">
            <a:avLst/>
          </a:prstGeom>
          <a:noFill/>
          <a:ln w="9525">
            <a:noFill/>
            <a:miter lim="800000"/>
            <a:headEnd/>
            <a:tailEnd/>
          </a:ln>
          <a:effec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Autofit/>
          </a:bodyPr>
          <a:lstStyle/>
          <a:p>
            <a:r>
              <a:rPr lang="en-IN" sz="4000" b="1" dirty="0" smtClean="0">
                <a:solidFill>
                  <a:srgbClr val="C00000"/>
                </a:solidFill>
                <a:latin typeface="Times New Roman" pitchFamily="18" charset="0"/>
                <a:cs typeface="Times New Roman" pitchFamily="18" charset="0"/>
              </a:rPr>
              <a:t>Introduction</a:t>
            </a:r>
            <a:r>
              <a:rPr lang="en-IN" b="1" dirty="0" smtClean="0"/>
              <a:t/>
            </a:r>
            <a:br>
              <a:rPr lang="en-IN" b="1" dirty="0" smtClean="0"/>
            </a:br>
            <a:endParaRPr lang="en-IN" dirty="0"/>
          </a:p>
        </p:txBody>
      </p:sp>
      <p:sp>
        <p:nvSpPr>
          <p:cNvPr id="3" name="Content Placeholder 2"/>
          <p:cNvSpPr>
            <a:spLocks noGrp="1"/>
          </p:cNvSpPr>
          <p:nvPr>
            <p:ph idx="1"/>
          </p:nvPr>
        </p:nvSpPr>
        <p:spPr>
          <a:xfrm>
            <a:off x="457200" y="1143000"/>
            <a:ext cx="8229600" cy="4983163"/>
          </a:xfrm>
        </p:spPr>
        <p:txBody>
          <a:bodyPr>
            <a:normAutofit/>
          </a:bodyPr>
          <a:lstStyle/>
          <a:p>
            <a:pPr algn="just" fontAlgn="base">
              <a:buFont typeface="Wingdings" pitchFamily="2" charset="2"/>
              <a:buChar char="q"/>
            </a:pPr>
            <a:r>
              <a:rPr lang="en-IN" sz="2400" b="1" dirty="0" smtClean="0">
                <a:latin typeface="Times New Roman" pitchFamily="18" charset="0"/>
                <a:cs typeface="Times New Roman" pitchFamily="18" charset="0"/>
              </a:rPr>
              <a:t>Purpose </a:t>
            </a:r>
            <a:r>
              <a:rPr lang="en-IN" sz="2400" b="1" dirty="0" smtClean="0">
                <a:latin typeface="Times New Roman" pitchFamily="18" charset="0"/>
                <a:cs typeface="Times New Roman" pitchFamily="18" charset="0"/>
              </a:rPr>
              <a:t>of this Document -</a:t>
            </a:r>
            <a:r>
              <a:rPr lang="en-IN" sz="2400" dirty="0" smtClean="0">
                <a:latin typeface="Times New Roman" pitchFamily="18" charset="0"/>
                <a:cs typeface="Times New Roman" pitchFamily="18" charset="0"/>
              </a:rPr>
              <a:t> At first, main aim of why this document is necessary and what’s purpose of document is explained and described</a:t>
            </a:r>
            <a:r>
              <a:rPr lang="en-IN" sz="2400" dirty="0" smtClean="0">
                <a:latin typeface="Times New Roman" pitchFamily="18" charset="0"/>
                <a:cs typeface="Times New Roman" pitchFamily="18" charset="0"/>
              </a:rPr>
              <a:t>.</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b="1" dirty="0" smtClean="0">
                <a:latin typeface="Times New Roman" pitchFamily="18" charset="0"/>
                <a:cs typeface="Times New Roman" pitchFamily="18" charset="0"/>
              </a:rPr>
              <a:t>Scope of this document -</a:t>
            </a:r>
            <a:r>
              <a:rPr lang="en-IN" sz="2400" dirty="0" smtClean="0">
                <a:latin typeface="Times New Roman" pitchFamily="18" charset="0"/>
                <a:cs typeface="Times New Roman" pitchFamily="18" charset="0"/>
              </a:rPr>
              <a:t> In this, overall working and main objective of document and what value it will provide to customer is described and explained. It also includes a description of development cost and time required</a:t>
            </a:r>
            <a:r>
              <a:rPr lang="en-IN" sz="2400" dirty="0" smtClean="0">
                <a:latin typeface="Times New Roman" pitchFamily="18" charset="0"/>
                <a:cs typeface="Times New Roman" pitchFamily="18" charset="0"/>
              </a:rPr>
              <a:t>.</a:t>
            </a:r>
          </a:p>
          <a:p>
            <a:pPr algn="just" fontAlgn="base">
              <a:buFont typeface="Wingdings" pitchFamily="2" charset="2"/>
              <a:buChar char="q"/>
            </a:pPr>
            <a:endParaRPr lang="en-IN" sz="2400" dirty="0" smtClean="0">
              <a:latin typeface="Times New Roman" pitchFamily="18" charset="0"/>
              <a:cs typeface="Times New Roman" pitchFamily="18" charset="0"/>
            </a:endParaRPr>
          </a:p>
          <a:p>
            <a:pPr algn="just" fontAlgn="base">
              <a:buFont typeface="Wingdings" pitchFamily="2" charset="2"/>
              <a:buChar char="q"/>
            </a:pPr>
            <a:r>
              <a:rPr lang="en-IN" sz="2400" b="1" dirty="0" smtClean="0">
                <a:latin typeface="Times New Roman" pitchFamily="18" charset="0"/>
                <a:cs typeface="Times New Roman" pitchFamily="18" charset="0"/>
              </a:rPr>
              <a:t>Overview -</a:t>
            </a:r>
            <a:r>
              <a:rPr lang="en-IN" sz="2400" dirty="0" smtClean="0">
                <a:latin typeface="Times New Roman" pitchFamily="18" charset="0"/>
                <a:cs typeface="Times New Roman" pitchFamily="18" charset="0"/>
              </a:rPr>
              <a:t> In this, description of product is explained. It’s simply summary or overall review of product.</a:t>
            </a:r>
          </a:p>
          <a:p>
            <a:endParaRPr lang="en-I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r>
              <a:rPr lang="en-IN" sz="4000" b="1" dirty="0" smtClean="0">
                <a:solidFill>
                  <a:srgbClr val="C00000"/>
                </a:solidFill>
                <a:latin typeface="Times New Roman" pitchFamily="18" charset="0"/>
                <a:cs typeface="Times New Roman" pitchFamily="18" charset="0"/>
              </a:rPr>
              <a:t>General Description</a:t>
            </a:r>
            <a:r>
              <a:rPr lang="en-IN" b="1" dirty="0" smtClean="0"/>
              <a:t/>
            </a:r>
            <a:br>
              <a:rPr lang="en-IN" b="1" dirty="0" smtClean="0"/>
            </a:br>
            <a:endParaRPr lang="en-IN" dirty="0"/>
          </a:p>
        </p:txBody>
      </p:sp>
      <p:sp>
        <p:nvSpPr>
          <p:cNvPr id="3" name="Content Placeholder 2"/>
          <p:cNvSpPr>
            <a:spLocks noGrp="1"/>
          </p:cNvSpPr>
          <p:nvPr>
            <p:ph idx="1"/>
          </p:nvPr>
        </p:nvSpPr>
        <p:spPr>
          <a:xfrm>
            <a:off x="457200" y="1143000"/>
            <a:ext cx="8229600" cy="4983163"/>
          </a:xfrm>
        </p:spPr>
        <p:txBody>
          <a:bodyPr>
            <a:normAutofit fontScale="92500"/>
          </a:bodyPr>
          <a:lstStyle/>
          <a:p>
            <a:pPr algn="just">
              <a:buNone/>
            </a:pPr>
            <a:r>
              <a:rPr lang="en-IN" sz="2200" b="1" dirty="0" smtClean="0">
                <a:latin typeface="Times New Roman" pitchFamily="18" charset="0"/>
                <a:cs typeface="Times New Roman" pitchFamily="18" charset="0"/>
              </a:rPr>
              <a:t>General Description</a:t>
            </a:r>
          </a:p>
          <a:p>
            <a:pPr algn="just">
              <a:buNone/>
            </a:pPr>
            <a:r>
              <a:rPr lang="en-IN" sz="2200" dirty="0" smtClean="0">
                <a:latin typeface="Times New Roman" pitchFamily="18" charset="0"/>
                <a:cs typeface="Times New Roman" pitchFamily="18" charset="0"/>
              </a:rPr>
              <a:t>Outlines the system’s purpose, user objectives, features, benefits, and target users</a:t>
            </a:r>
            <a:r>
              <a:rPr lang="en-IN" sz="2200" dirty="0" smtClean="0">
                <a:latin typeface="Times New Roman" pitchFamily="18" charset="0"/>
                <a:cs typeface="Times New Roman" pitchFamily="18" charset="0"/>
              </a:rPr>
              <a:t>.</a:t>
            </a:r>
          </a:p>
          <a:p>
            <a:pPr algn="just">
              <a:buNone/>
            </a:pPr>
            <a:endParaRPr lang="en-IN" sz="2200" dirty="0" smtClean="0">
              <a:latin typeface="Times New Roman" pitchFamily="18" charset="0"/>
              <a:cs typeface="Times New Roman" pitchFamily="18" charset="0"/>
            </a:endParaRPr>
          </a:p>
          <a:p>
            <a:pPr algn="just">
              <a:buNone/>
            </a:pPr>
            <a:r>
              <a:rPr lang="en-IN" sz="2200" b="1" dirty="0" smtClean="0">
                <a:latin typeface="Times New Roman" pitchFamily="18" charset="0"/>
                <a:cs typeface="Times New Roman" pitchFamily="18" charset="0"/>
              </a:rPr>
              <a:t>Functional Requirements</a:t>
            </a:r>
          </a:p>
          <a:p>
            <a:pPr algn="just">
              <a:buNone/>
            </a:pPr>
            <a:r>
              <a:rPr lang="en-IN" sz="2200" dirty="0" smtClean="0">
                <a:latin typeface="Times New Roman" pitchFamily="18" charset="0"/>
                <a:cs typeface="Times New Roman" pitchFamily="18" charset="0"/>
              </a:rPr>
              <a:t>Define what the system should do, including inputs, outputs, and operations</a:t>
            </a:r>
            <a:r>
              <a:rPr lang="en-IN" sz="2200" dirty="0" smtClean="0">
                <a:latin typeface="Times New Roman" pitchFamily="18" charset="0"/>
                <a:cs typeface="Times New Roman" pitchFamily="18" charset="0"/>
              </a:rPr>
              <a:t>.</a:t>
            </a:r>
          </a:p>
          <a:p>
            <a:pPr algn="just">
              <a:buNone/>
            </a:pPr>
            <a:endParaRPr lang="en-IN" sz="2200" dirty="0" smtClean="0">
              <a:latin typeface="Times New Roman" pitchFamily="18" charset="0"/>
              <a:cs typeface="Times New Roman" pitchFamily="18" charset="0"/>
            </a:endParaRPr>
          </a:p>
          <a:p>
            <a:pPr algn="just">
              <a:buNone/>
            </a:pPr>
            <a:r>
              <a:rPr lang="en-IN" sz="2200" b="1" dirty="0" smtClean="0">
                <a:latin typeface="Times New Roman" pitchFamily="18" charset="0"/>
                <a:cs typeface="Times New Roman" pitchFamily="18" charset="0"/>
              </a:rPr>
              <a:t>Interface Requirements</a:t>
            </a:r>
          </a:p>
          <a:p>
            <a:pPr algn="just">
              <a:buNone/>
            </a:pPr>
            <a:r>
              <a:rPr lang="en-IN" sz="2200" dirty="0" smtClean="0">
                <a:latin typeface="Times New Roman" pitchFamily="18" charset="0"/>
                <a:cs typeface="Times New Roman" pitchFamily="18" charset="0"/>
              </a:rPr>
              <a:t>Explain how the software communicates with users or other systems</a:t>
            </a:r>
            <a:r>
              <a:rPr lang="en-IN" sz="2200" dirty="0" smtClean="0">
                <a:latin typeface="Times New Roman" pitchFamily="18" charset="0"/>
                <a:cs typeface="Times New Roman" pitchFamily="18" charset="0"/>
              </a:rPr>
              <a:t>.</a:t>
            </a:r>
          </a:p>
          <a:p>
            <a:pPr algn="just">
              <a:buNone/>
            </a:pPr>
            <a:endParaRPr lang="en-IN" sz="2200" dirty="0" smtClean="0">
              <a:latin typeface="Times New Roman" pitchFamily="18" charset="0"/>
              <a:cs typeface="Times New Roman" pitchFamily="18" charset="0"/>
            </a:endParaRPr>
          </a:p>
          <a:p>
            <a:pPr algn="just">
              <a:buNone/>
            </a:pPr>
            <a:r>
              <a:rPr lang="en-IN" sz="2200" b="1" dirty="0" smtClean="0">
                <a:latin typeface="Times New Roman" pitchFamily="18" charset="0"/>
                <a:cs typeface="Times New Roman" pitchFamily="18" charset="0"/>
              </a:rPr>
              <a:t>Performance Requirements</a:t>
            </a:r>
          </a:p>
          <a:p>
            <a:pPr algn="just">
              <a:buNone/>
            </a:pPr>
            <a:r>
              <a:rPr lang="en-IN" sz="2200" dirty="0" smtClean="0">
                <a:latin typeface="Times New Roman" pitchFamily="18" charset="0"/>
                <a:cs typeface="Times New Roman" pitchFamily="18" charset="0"/>
              </a:rPr>
              <a:t>Specify system </a:t>
            </a:r>
            <a:r>
              <a:rPr lang="en-IN" sz="2200" dirty="0" smtClean="0">
                <a:latin typeface="Times New Roman" pitchFamily="18" charset="0"/>
                <a:cs typeface="Times New Roman" pitchFamily="18" charset="0"/>
              </a:rPr>
              <a:t>behaviour </a:t>
            </a:r>
            <a:r>
              <a:rPr lang="en-IN" sz="2200" dirty="0" smtClean="0">
                <a:latin typeface="Times New Roman" pitchFamily="18" charset="0"/>
                <a:cs typeface="Times New Roman" pitchFamily="18" charset="0"/>
              </a:rPr>
              <a:t>under conditions, like speed, memory use, and error limits.</a:t>
            </a:r>
          </a:p>
          <a:p>
            <a:endParaRPr lang="en-I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IN" b="1" dirty="0" smtClean="0">
                <a:solidFill>
                  <a:srgbClr val="C00000"/>
                </a:solidFill>
                <a:latin typeface="Times New Roman" pitchFamily="18" charset="0"/>
                <a:cs typeface="Times New Roman" pitchFamily="18" charset="0"/>
              </a:rPr>
              <a:t>Design Constraints</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830763"/>
          </a:xfrm>
        </p:spPr>
        <p:txBody>
          <a:bodyPr>
            <a:normAutofit/>
          </a:bodyPr>
          <a:lstStyle/>
          <a:p>
            <a:pPr algn="just" fontAlgn="base"/>
            <a:r>
              <a:rPr lang="en-IN" sz="2000" dirty="0" smtClean="0">
                <a:latin typeface="Times New Roman" pitchFamily="18" charset="0"/>
                <a:cs typeface="Times New Roman" pitchFamily="18" charset="0"/>
              </a:rPr>
              <a:t>In </a:t>
            </a:r>
            <a:r>
              <a:rPr lang="en-IN" sz="2000" dirty="0" smtClean="0">
                <a:latin typeface="Times New Roman" pitchFamily="18" charset="0"/>
                <a:cs typeface="Times New Roman" pitchFamily="18" charset="0"/>
              </a:rPr>
              <a:t>this, constraints which simply means limitation or restriction are specified and explained for design team. </a:t>
            </a:r>
            <a:endParaRPr lang="en-IN" sz="2000" dirty="0" smtClean="0">
              <a:latin typeface="Times New Roman" pitchFamily="18" charset="0"/>
              <a:cs typeface="Times New Roman" pitchFamily="18" charset="0"/>
            </a:endParaRP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Examples </a:t>
            </a:r>
            <a:r>
              <a:rPr lang="en-IN" sz="2000" dirty="0" smtClean="0">
                <a:latin typeface="Times New Roman" pitchFamily="18" charset="0"/>
                <a:cs typeface="Times New Roman" pitchFamily="18" charset="0"/>
              </a:rPr>
              <a:t>may include use of a particular algorithm, hardware and software limitations, etc. </a:t>
            </a:r>
            <a:endParaRPr lang="en-IN" sz="2000" dirty="0" smtClean="0">
              <a:latin typeface="Times New Roman" pitchFamily="18" charset="0"/>
              <a:cs typeface="Times New Roman" pitchFamily="18" charset="0"/>
            </a:endParaRP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There </a:t>
            </a:r>
            <a:r>
              <a:rPr lang="en-IN" sz="2000" dirty="0" smtClean="0">
                <a:latin typeface="Times New Roman" pitchFamily="18" charset="0"/>
                <a:cs typeface="Times New Roman" pitchFamily="18" charset="0"/>
              </a:rPr>
              <a:t>are a number of factors in the client's environment that may restrict the choices of a designer leading to design constraints such factors include standards that must be followed resource limits, operating environment, reliability and security requirements and policies that may have an impact on the design of the system. </a:t>
            </a:r>
            <a:endParaRPr lang="en-IN" sz="2000" dirty="0" smtClean="0">
              <a:latin typeface="Times New Roman" pitchFamily="18" charset="0"/>
              <a:cs typeface="Times New Roman" pitchFamily="18" charset="0"/>
            </a:endParaRPr>
          </a:p>
          <a:p>
            <a:pPr algn="just" fontAlgn="base"/>
            <a:endParaRPr lang="en-IN" sz="2000" dirty="0" smtClean="0">
              <a:latin typeface="Times New Roman" pitchFamily="18" charset="0"/>
              <a:cs typeface="Times New Roman" pitchFamily="18" charset="0"/>
            </a:endParaRPr>
          </a:p>
          <a:p>
            <a:pPr algn="just" fontAlgn="base"/>
            <a:r>
              <a:rPr lang="en-IN" sz="2000" dirty="0" smtClean="0">
                <a:latin typeface="Times New Roman" pitchFamily="18" charset="0"/>
                <a:cs typeface="Times New Roman" pitchFamily="18" charset="0"/>
              </a:rPr>
              <a:t>An </a:t>
            </a:r>
            <a:r>
              <a:rPr lang="en-IN" sz="2000" dirty="0" smtClean="0">
                <a:latin typeface="Times New Roman" pitchFamily="18" charset="0"/>
                <a:cs typeface="Times New Roman" pitchFamily="18" charset="0"/>
              </a:rPr>
              <a:t>SRS should identify and specify all such constraints.</a:t>
            </a:r>
          </a:p>
          <a:p>
            <a:endParaRPr lang="en-IN"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0000" lnSpcReduction="20000"/>
          </a:bodyPr>
          <a:lstStyle/>
          <a:p>
            <a:pPr algn="just" fontAlgn="base">
              <a:buNone/>
            </a:pPr>
            <a:endParaRPr lang="en-IN" b="1" dirty="0" smtClean="0">
              <a:latin typeface="Times New Roman" pitchFamily="18" charset="0"/>
              <a:cs typeface="Times New Roman" pitchFamily="18" charset="0"/>
            </a:endParaRPr>
          </a:p>
          <a:p>
            <a:pPr algn="just" fontAlgn="base">
              <a:buNone/>
            </a:pPr>
            <a:r>
              <a:rPr lang="en-IN" b="1" dirty="0" smtClean="0">
                <a:latin typeface="Times New Roman" pitchFamily="18" charset="0"/>
                <a:cs typeface="Times New Roman" pitchFamily="18" charset="0"/>
              </a:rPr>
              <a:t>Non-Functional </a:t>
            </a:r>
            <a:r>
              <a:rPr lang="en-IN" b="1" dirty="0" smtClean="0">
                <a:latin typeface="Times New Roman" pitchFamily="18" charset="0"/>
                <a:cs typeface="Times New Roman" pitchFamily="18" charset="0"/>
              </a:rPr>
              <a:t>Attributes</a:t>
            </a:r>
          </a:p>
          <a:p>
            <a:pPr algn="just" fontAlgn="base"/>
            <a:r>
              <a:rPr lang="en-IN" dirty="0" smtClean="0">
                <a:latin typeface="Times New Roman" pitchFamily="18" charset="0"/>
                <a:cs typeface="Times New Roman" pitchFamily="18" charset="0"/>
              </a:rPr>
              <a:t>In this, non-functional attributes are explained that are required by software system for better performance. An example may include Security, Portability, Reliability, Reusability, Application compatibility, Data integrity, Scalability capacity, etc</a:t>
            </a:r>
            <a:r>
              <a:rPr lang="en-IN" dirty="0" smtClean="0">
                <a:latin typeface="Times New Roman" pitchFamily="18" charset="0"/>
                <a:cs typeface="Times New Roman" pitchFamily="18" charset="0"/>
              </a:rPr>
              <a:t>.</a:t>
            </a:r>
          </a:p>
          <a:p>
            <a:pPr algn="just" fontAlgn="base"/>
            <a:endParaRPr lang="en-IN" dirty="0" smtClean="0">
              <a:latin typeface="Times New Roman" pitchFamily="18" charset="0"/>
              <a:cs typeface="Times New Roman" pitchFamily="18" charset="0"/>
            </a:endParaRPr>
          </a:p>
          <a:p>
            <a:pPr algn="just" fontAlgn="base"/>
            <a:endParaRPr lang="en-IN" dirty="0" smtClean="0">
              <a:latin typeface="Times New Roman" pitchFamily="18" charset="0"/>
              <a:cs typeface="Times New Roman" pitchFamily="18" charset="0"/>
            </a:endParaRPr>
          </a:p>
          <a:p>
            <a:pPr algn="just" fontAlgn="base">
              <a:buNone/>
            </a:pPr>
            <a:r>
              <a:rPr lang="en-IN" b="1" dirty="0" smtClean="0">
                <a:latin typeface="Times New Roman" pitchFamily="18" charset="0"/>
                <a:cs typeface="Times New Roman" pitchFamily="18" charset="0"/>
              </a:rPr>
              <a:t>Preliminary Schedule and Budget</a:t>
            </a:r>
          </a:p>
          <a:p>
            <a:pPr algn="just" fontAlgn="base"/>
            <a:r>
              <a:rPr lang="en-IN" dirty="0" smtClean="0">
                <a:latin typeface="Times New Roman" pitchFamily="18" charset="0"/>
                <a:cs typeface="Times New Roman" pitchFamily="18" charset="0"/>
              </a:rPr>
              <a:t>In this, initial version and budget of project plan are explained which include overall time duration required and overall cost required for development of project</a:t>
            </a:r>
            <a:r>
              <a:rPr lang="en-IN" dirty="0" smtClean="0">
                <a:latin typeface="Times New Roman" pitchFamily="18" charset="0"/>
                <a:cs typeface="Times New Roman" pitchFamily="18" charset="0"/>
              </a:rPr>
              <a:t>.</a:t>
            </a:r>
          </a:p>
          <a:p>
            <a:pPr algn="just" fontAlgn="base"/>
            <a:endParaRPr lang="en-IN" dirty="0" smtClean="0">
              <a:latin typeface="Times New Roman" pitchFamily="18" charset="0"/>
              <a:cs typeface="Times New Roman" pitchFamily="18" charset="0"/>
            </a:endParaRPr>
          </a:p>
          <a:p>
            <a:pPr algn="just" fontAlgn="base">
              <a:buNone/>
            </a:pPr>
            <a:r>
              <a:rPr lang="en-IN" b="1" dirty="0" smtClean="0">
                <a:latin typeface="Times New Roman" pitchFamily="18" charset="0"/>
                <a:cs typeface="Times New Roman" pitchFamily="18" charset="0"/>
              </a:rPr>
              <a:t>Appendices</a:t>
            </a:r>
          </a:p>
          <a:p>
            <a:pPr algn="just" fontAlgn="base"/>
            <a:r>
              <a:rPr lang="en-IN" dirty="0" smtClean="0">
                <a:latin typeface="Times New Roman" pitchFamily="18" charset="0"/>
                <a:cs typeface="Times New Roman" pitchFamily="18" charset="0"/>
              </a:rPr>
              <a:t>In this, additional information like references from where information is gathered, definitions of some specific terms, acronyms, abbreviations, etc. are given and explained.</a:t>
            </a:r>
          </a:p>
          <a:p>
            <a:endParaRPr lang="en-I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IN" sz="4000" b="1" dirty="0" smtClean="0">
                <a:solidFill>
                  <a:srgbClr val="C00000"/>
                </a:solidFill>
                <a:latin typeface="Times New Roman" pitchFamily="18" charset="0"/>
                <a:cs typeface="Times New Roman" pitchFamily="18" charset="0"/>
              </a:rPr>
              <a:t>Uses of SRS document</a:t>
            </a:r>
            <a:r>
              <a:rPr lang="en-IN" b="1" dirty="0" smtClean="0"/>
              <a:t/>
            </a:r>
            <a:br>
              <a:rPr lang="en-IN" b="1" dirty="0" smtClean="0"/>
            </a:br>
            <a:endParaRPr lang="en-IN" dirty="0"/>
          </a:p>
        </p:txBody>
      </p:sp>
      <p:sp>
        <p:nvSpPr>
          <p:cNvPr id="3" name="Content Placeholder 2"/>
          <p:cNvSpPr>
            <a:spLocks noGrp="1"/>
          </p:cNvSpPr>
          <p:nvPr>
            <p:ph idx="1"/>
          </p:nvPr>
        </p:nvSpPr>
        <p:spPr>
          <a:xfrm>
            <a:off x="457200" y="1371600"/>
            <a:ext cx="8229600" cy="4754563"/>
          </a:xfrm>
        </p:spPr>
        <p:txBody>
          <a:bodyPr>
            <a:normAutofit fontScale="55000" lnSpcReduction="20000"/>
          </a:bodyPr>
          <a:lstStyle/>
          <a:p>
            <a:pPr fontAlgn="base">
              <a:buFont typeface="Wingdings" pitchFamily="2" charset="2"/>
              <a:buChar char="§"/>
            </a:pPr>
            <a:r>
              <a:rPr lang="en-IN" dirty="0" smtClean="0">
                <a:latin typeface="Times New Roman" pitchFamily="18" charset="0"/>
                <a:cs typeface="Times New Roman" pitchFamily="18" charset="0"/>
              </a:rPr>
              <a:t>Development </a:t>
            </a:r>
            <a:r>
              <a:rPr lang="en-IN" dirty="0" smtClean="0">
                <a:latin typeface="Times New Roman" pitchFamily="18" charset="0"/>
                <a:cs typeface="Times New Roman" pitchFamily="18" charset="0"/>
              </a:rPr>
              <a:t>team require it for developing product according to the need</a:t>
            </a:r>
            <a:r>
              <a:rPr lang="en-IN" dirty="0" smtClean="0">
                <a:latin typeface="Times New Roman" pitchFamily="18" charset="0"/>
                <a:cs typeface="Times New Roman" pitchFamily="18" charset="0"/>
              </a:rPr>
              <a:t>.</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Test plans are generated by testing group based on the describe external behaviour</a:t>
            </a:r>
            <a:r>
              <a:rPr lang="en-IN" dirty="0" smtClean="0">
                <a:latin typeface="Times New Roman" pitchFamily="18" charset="0"/>
                <a:cs typeface="Times New Roman" pitchFamily="18" charset="0"/>
              </a:rPr>
              <a:t>.</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Maintenance and support staff need it to understand what the software product is supposed to do</a:t>
            </a:r>
            <a:r>
              <a:rPr lang="en-IN" dirty="0" smtClean="0">
                <a:latin typeface="Times New Roman" pitchFamily="18" charset="0"/>
                <a:cs typeface="Times New Roman" pitchFamily="18" charset="0"/>
              </a:rPr>
              <a:t>.</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Project manager base their plans and estimates of schedule, effort and resources on it</a:t>
            </a:r>
            <a:r>
              <a:rPr lang="en-IN" dirty="0" smtClean="0">
                <a:latin typeface="Times New Roman" pitchFamily="18" charset="0"/>
                <a:cs typeface="Times New Roman" pitchFamily="18" charset="0"/>
              </a:rPr>
              <a:t>.</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customer rely on it to know that product they can expect</a:t>
            </a:r>
            <a:r>
              <a:rPr lang="en-IN" dirty="0" smtClean="0">
                <a:latin typeface="Times New Roman" pitchFamily="18" charset="0"/>
                <a:cs typeface="Times New Roman" pitchFamily="18" charset="0"/>
              </a:rPr>
              <a:t>.</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As a contract between developer and </a:t>
            </a:r>
            <a:r>
              <a:rPr lang="en-IN" dirty="0" smtClean="0">
                <a:latin typeface="Times New Roman" pitchFamily="18" charset="0"/>
                <a:cs typeface="Times New Roman" pitchFamily="18" charset="0"/>
              </a:rPr>
              <a:t>customer </a:t>
            </a:r>
          </a:p>
          <a:p>
            <a:pPr fontAlgn="base">
              <a:buFont typeface="Wingdings" pitchFamily="2" charset="2"/>
              <a:buChar char="§"/>
            </a:pPr>
            <a:endParaRPr lang="en-IN" dirty="0" smtClean="0">
              <a:latin typeface="Times New Roman" pitchFamily="18" charset="0"/>
              <a:cs typeface="Times New Roman" pitchFamily="18" charset="0"/>
            </a:endParaRPr>
          </a:p>
          <a:p>
            <a:pPr fontAlgn="base">
              <a:buFont typeface="Wingdings" pitchFamily="2" charset="2"/>
              <a:buChar char="§"/>
            </a:pPr>
            <a:r>
              <a:rPr lang="en-IN" dirty="0" smtClean="0">
                <a:latin typeface="Times New Roman" pitchFamily="18" charset="0"/>
                <a:cs typeface="Times New Roman" pitchFamily="18" charset="0"/>
              </a:rPr>
              <a:t>For </a:t>
            </a:r>
            <a:r>
              <a:rPr lang="en-IN" dirty="0" smtClean="0">
                <a:latin typeface="Times New Roman" pitchFamily="18" charset="0"/>
                <a:cs typeface="Times New Roman" pitchFamily="18" charset="0"/>
              </a:rPr>
              <a:t>documentation purpose.</a:t>
            </a:r>
            <a:br>
              <a:rPr lang="en-IN" dirty="0" smtClean="0">
                <a:latin typeface="Times New Roman" pitchFamily="18" charset="0"/>
                <a:cs typeface="Times New Roman" pitchFamily="18" charset="0"/>
              </a:rPr>
            </a:br>
            <a:r>
              <a:rPr lang="en-IN" dirty="0" smtClean="0">
                <a:latin typeface="Times New Roman" pitchFamily="18" charset="0"/>
                <a:cs typeface="Times New Roman" pitchFamily="18" charset="0"/>
              </a:rPr>
              <a:t> </a:t>
            </a:r>
          </a:p>
          <a:p>
            <a:endParaRPr lang="en-I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r>
              <a:rPr lang="en-IN" sz="4000" b="1" dirty="0" smtClean="0">
                <a:solidFill>
                  <a:srgbClr val="C00000"/>
                </a:solidFill>
                <a:latin typeface="Times New Roman" pitchFamily="18" charset="0"/>
                <a:cs typeface="Times New Roman" pitchFamily="18" charset="0"/>
              </a:rPr>
              <a:t>Conclusion</a:t>
            </a:r>
            <a:r>
              <a:rPr lang="en-IN" b="1" dirty="0" smtClean="0"/>
              <a:t/>
            </a:r>
            <a:br>
              <a:rPr lang="en-IN" b="1" dirty="0" smtClean="0"/>
            </a:br>
            <a:endParaRPr lang="en-IN" dirty="0"/>
          </a:p>
        </p:txBody>
      </p:sp>
      <p:sp>
        <p:nvSpPr>
          <p:cNvPr id="3" name="Content Placeholder 2"/>
          <p:cNvSpPr>
            <a:spLocks noGrp="1"/>
          </p:cNvSpPr>
          <p:nvPr>
            <p:ph idx="1"/>
          </p:nvPr>
        </p:nvSpPr>
        <p:spPr>
          <a:xfrm>
            <a:off x="381000" y="1447800"/>
            <a:ext cx="8229600" cy="4525963"/>
          </a:xfrm>
        </p:spPr>
        <p:txBody>
          <a:bodyPr>
            <a:normAutofit/>
          </a:bodyPr>
          <a:lstStyle/>
          <a:p>
            <a:pPr algn="just" fontAlgn="base">
              <a:buFont typeface="Wingdings" pitchFamily="2" charset="2"/>
              <a:buChar char="q"/>
            </a:pPr>
            <a:r>
              <a:rPr lang="en-IN" sz="2000" dirty="0" smtClean="0">
                <a:latin typeface="Times New Roman" pitchFamily="18" charset="0"/>
                <a:cs typeface="Times New Roman" pitchFamily="18" charset="0"/>
              </a:rPr>
              <a:t>Software </a:t>
            </a:r>
            <a:r>
              <a:rPr lang="en-IN" sz="2000" dirty="0" smtClean="0">
                <a:latin typeface="Times New Roman" pitchFamily="18" charset="0"/>
                <a:cs typeface="Times New Roman" pitchFamily="18" charset="0"/>
              </a:rPr>
              <a:t>development requires a well-structured Software Requirement Specification (SRS). </a:t>
            </a:r>
            <a:endParaRPr lang="en-IN" sz="2000" dirty="0" smtClean="0">
              <a:latin typeface="Times New Roman" pitchFamily="18" charset="0"/>
              <a:cs typeface="Times New Roman" pitchFamily="18" charset="0"/>
            </a:endParaRPr>
          </a:p>
          <a:p>
            <a:pPr algn="just" fontAlgn="base">
              <a:buFont typeface="Wingdings" pitchFamily="2" charset="2"/>
              <a:buChar char="q"/>
            </a:pPr>
            <a:endParaRPr lang="en-IN" sz="2000" dirty="0" smtClean="0">
              <a:latin typeface="Times New Roman" pitchFamily="18" charset="0"/>
              <a:cs typeface="Times New Roman" pitchFamily="18" charset="0"/>
            </a:endParaRPr>
          </a:p>
          <a:p>
            <a:pPr algn="just" fontAlgn="base">
              <a:buFont typeface="Wingdings" pitchFamily="2" charset="2"/>
              <a:buChar char="q"/>
            </a:pPr>
            <a:r>
              <a:rPr lang="en-IN" sz="2000" dirty="0" smtClean="0">
                <a:latin typeface="Times New Roman" pitchFamily="18" charset="0"/>
                <a:cs typeface="Times New Roman" pitchFamily="18" charset="0"/>
              </a:rPr>
              <a:t>It </a:t>
            </a:r>
            <a:r>
              <a:rPr lang="en-IN" sz="2000" dirty="0" smtClean="0">
                <a:latin typeface="Times New Roman" pitchFamily="18" charset="0"/>
                <a:cs typeface="Times New Roman" pitchFamily="18" charset="0"/>
              </a:rPr>
              <a:t>helps stakeholders communicate, provides a roadmap for development teams, guides testers in creating effective test plans, guides maintenance and support employees, informs project management decisions, and sets customer expectations. </a:t>
            </a:r>
            <a:endParaRPr lang="en-IN" sz="2000" dirty="0" smtClean="0">
              <a:latin typeface="Times New Roman" pitchFamily="18" charset="0"/>
              <a:cs typeface="Times New Roman" pitchFamily="18" charset="0"/>
            </a:endParaRPr>
          </a:p>
          <a:p>
            <a:pPr algn="just" fontAlgn="base">
              <a:buFont typeface="Wingdings" pitchFamily="2" charset="2"/>
              <a:buChar char="q"/>
            </a:pPr>
            <a:endParaRPr lang="en-IN" sz="2000" dirty="0" smtClean="0">
              <a:latin typeface="Times New Roman" pitchFamily="18" charset="0"/>
              <a:cs typeface="Times New Roman" pitchFamily="18" charset="0"/>
            </a:endParaRPr>
          </a:p>
          <a:p>
            <a:pPr algn="just" fontAlgn="base">
              <a:buFont typeface="Wingdings" pitchFamily="2" charset="2"/>
              <a:buChar char="q"/>
            </a:pPr>
            <a:r>
              <a:rPr lang="en-IN"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SRS document helps ensure that the software meets functional and non-functional requirements, resulting in a quality product on time and within budget.</a:t>
            </a:r>
          </a:p>
          <a:p>
            <a:endParaRPr lang="en-I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3200"/>
            <a:ext cx="8229600" cy="1143000"/>
          </a:xfrm>
        </p:spPr>
        <p:txBody>
          <a:bodyPr>
            <a:normAutofit/>
          </a:bodyPr>
          <a:lstStyle/>
          <a:p>
            <a:r>
              <a:rPr lang="en-US" sz="6600" b="1" dirty="0" smtClean="0">
                <a:solidFill>
                  <a:srgbClr val="C00000"/>
                </a:solidFill>
                <a:latin typeface="Times New Roman" pitchFamily="18" charset="0"/>
                <a:cs typeface="Times New Roman" pitchFamily="18" charset="0"/>
              </a:rPr>
              <a:t>Thank You </a:t>
            </a:r>
            <a:endParaRPr lang="en-IN" sz="6600" b="1" dirty="0">
              <a:solidFill>
                <a:srgbClr val="C00000"/>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338</TotalTime>
  <Words>5297</Words>
  <Application>Microsoft Office PowerPoint</Application>
  <PresentationFormat>On-screen Show (4:3)</PresentationFormat>
  <Paragraphs>961</Paragraphs>
  <Slides>126</Slides>
  <Notes>0</Notes>
  <HiddenSlides>0</HiddenSlides>
  <MMClips>0</MMClips>
  <ScaleCrop>false</ScaleCrop>
  <HeadingPairs>
    <vt:vector size="4" baseType="variant">
      <vt:variant>
        <vt:lpstr>Theme</vt:lpstr>
      </vt:variant>
      <vt:variant>
        <vt:i4>1</vt:i4>
      </vt:variant>
      <vt:variant>
        <vt:lpstr>Slide Titles</vt:lpstr>
      </vt:variant>
      <vt:variant>
        <vt:i4>126</vt:i4>
      </vt:variant>
    </vt:vector>
  </HeadingPairs>
  <TitlesOfParts>
    <vt:vector size="127" baseType="lpstr">
      <vt:lpstr>Theme2</vt:lpstr>
      <vt:lpstr>Introduction to Software Engineering</vt:lpstr>
      <vt:lpstr>Contents</vt:lpstr>
      <vt:lpstr>Software</vt:lpstr>
      <vt:lpstr>Slide 4</vt:lpstr>
      <vt:lpstr>Slide 5</vt:lpstr>
      <vt:lpstr>Key Principles of Software Engineering  </vt:lpstr>
      <vt:lpstr>Slide 7</vt:lpstr>
      <vt:lpstr>Main Attributes of Software Engineering </vt:lpstr>
      <vt:lpstr>Dual Role of Software </vt:lpstr>
      <vt:lpstr>Slide 10</vt:lpstr>
      <vt:lpstr>Objectives of Software Engineering </vt:lpstr>
      <vt:lpstr>Slide 12</vt:lpstr>
      <vt:lpstr>What Careers Are There in Software Engineering? </vt:lpstr>
      <vt:lpstr>What Tasks do Software Engineers do? </vt:lpstr>
      <vt:lpstr>Slide 15</vt:lpstr>
      <vt:lpstr>What Skills do Software Engineers Need? </vt:lpstr>
      <vt:lpstr>Slide 17</vt:lpstr>
      <vt:lpstr>Program vs Software Product </vt:lpstr>
      <vt:lpstr>Software Development Life Cycle (SDLC) </vt:lpstr>
      <vt:lpstr>Introduction</vt:lpstr>
      <vt:lpstr>What is the Software Development Life Cycle (SDLC)? </vt:lpstr>
      <vt:lpstr>Slide 22</vt:lpstr>
      <vt:lpstr>Stages of the Software Development Life Cycle </vt:lpstr>
      <vt:lpstr>Slide 24</vt:lpstr>
      <vt:lpstr>Stage 1: Planning and Requirement Analysis </vt:lpstr>
      <vt:lpstr>Slide 26</vt:lpstr>
      <vt:lpstr>Stage 2: Defining Requirements </vt:lpstr>
      <vt:lpstr>Slide 28</vt:lpstr>
      <vt:lpstr>Stage 3: Designing Architecture </vt:lpstr>
      <vt:lpstr>Slide 30</vt:lpstr>
      <vt:lpstr>Stage 4: Developing Product </vt:lpstr>
      <vt:lpstr>Slide 32</vt:lpstr>
      <vt:lpstr>Stage 5: Product Testing and Integration </vt:lpstr>
      <vt:lpstr>Slide 34</vt:lpstr>
      <vt:lpstr>Slide 35</vt:lpstr>
      <vt:lpstr>Stage 6: Deployment and Maintenance of Products </vt:lpstr>
      <vt:lpstr>Slide 37</vt:lpstr>
      <vt:lpstr>SDLC Models</vt:lpstr>
      <vt:lpstr>Waterfall Model</vt:lpstr>
      <vt:lpstr>Waterfall Model - Software Engineering </vt:lpstr>
      <vt:lpstr>Phases of Waterfall Model </vt:lpstr>
      <vt:lpstr>Features of Waterfall Model </vt:lpstr>
      <vt:lpstr>Importance of Waterfall Model </vt:lpstr>
      <vt:lpstr>Advantages of Waterfall Model </vt:lpstr>
      <vt:lpstr>Disadvantages of Waterfall Model </vt:lpstr>
      <vt:lpstr>When to Use Waterfall Model? </vt:lpstr>
      <vt:lpstr>Applications of Waterfall Model </vt:lpstr>
      <vt:lpstr>Agile Development Model </vt:lpstr>
      <vt:lpstr>Steps in the Agile Model </vt:lpstr>
      <vt:lpstr>Slide 50</vt:lpstr>
      <vt:lpstr>Agile SDLC Process </vt:lpstr>
      <vt:lpstr>2. Design Requirements </vt:lpstr>
      <vt:lpstr>3. Construction / Iteration </vt:lpstr>
      <vt:lpstr>4. Testing / Quality Assurance </vt:lpstr>
      <vt:lpstr> 5. Deployment </vt:lpstr>
      <vt:lpstr>6. Feedback </vt:lpstr>
      <vt:lpstr>Agile Testing Methods </vt:lpstr>
      <vt:lpstr>Principles of Agile (12) </vt:lpstr>
      <vt:lpstr>Characteristics of Agile </vt:lpstr>
      <vt:lpstr>When to Use Agile </vt:lpstr>
      <vt:lpstr>Advantages </vt:lpstr>
      <vt:lpstr>Disadvantages </vt:lpstr>
      <vt:lpstr>Conclusion </vt:lpstr>
      <vt:lpstr>SDLC V-Model  </vt:lpstr>
      <vt:lpstr>V-Model (Verification &amp; Validation Model) </vt:lpstr>
      <vt:lpstr>Phases of V-Model </vt:lpstr>
      <vt:lpstr> </vt:lpstr>
      <vt:lpstr>Example of V-Model Let’s take the example of developing a Bank ATM System. </vt:lpstr>
      <vt:lpstr>Slide 69</vt:lpstr>
      <vt:lpstr>Summary </vt:lpstr>
      <vt:lpstr>Spiral Model </vt:lpstr>
      <vt:lpstr>SDLC Spiral Model</vt:lpstr>
      <vt:lpstr>Phases of Each Spiral Loop </vt:lpstr>
      <vt:lpstr>Slide 74</vt:lpstr>
      <vt:lpstr>Slide 75</vt:lpstr>
      <vt:lpstr>Example of Spiral Model Let’s take the example of developing an Online Shopping Application (E-commerce Website). </vt:lpstr>
      <vt:lpstr>Slide 77</vt:lpstr>
      <vt:lpstr>Slide 78</vt:lpstr>
      <vt:lpstr>4th Spiral (Final Deployment) </vt:lpstr>
      <vt:lpstr>Summary </vt:lpstr>
      <vt:lpstr>SDLC Incremental Model</vt:lpstr>
      <vt:lpstr>SDLC Incremental Model </vt:lpstr>
      <vt:lpstr>Phases of Incremental Model </vt:lpstr>
      <vt:lpstr>Slide 84</vt:lpstr>
      <vt:lpstr>Example of Incremental Model Let’s take the example of building an Online Food Delivery App (like Zomato/Swiggy). </vt:lpstr>
      <vt:lpstr>Increment 2: Ordering System </vt:lpstr>
      <vt:lpstr>Increment 3: Payment Integration </vt:lpstr>
      <vt:lpstr>Increment 4: Advanced Features </vt:lpstr>
      <vt:lpstr>Summary </vt:lpstr>
      <vt:lpstr>SDLC Rapid Application Development Model (RAD)  </vt:lpstr>
      <vt:lpstr>RAD Model (Rapid Application Development) </vt:lpstr>
      <vt:lpstr>Phases of RAD </vt:lpstr>
      <vt:lpstr>Example of RAD Model Let’s take the example of building a College Admission System. </vt:lpstr>
      <vt:lpstr>Slide 94</vt:lpstr>
      <vt:lpstr>Slide 95</vt:lpstr>
      <vt:lpstr>Slide 96</vt:lpstr>
      <vt:lpstr>Real Life  Examples</vt:lpstr>
      <vt:lpstr>Slide 98</vt:lpstr>
      <vt:lpstr>Slide 99</vt:lpstr>
      <vt:lpstr>Slide 100</vt:lpstr>
      <vt:lpstr>1.3 Requirement Engineering</vt:lpstr>
      <vt:lpstr>Requirement Engineering Process </vt:lpstr>
      <vt:lpstr>Feasibility Study </vt:lpstr>
      <vt:lpstr>Requirement Gathering </vt:lpstr>
      <vt:lpstr>Software Requirement Specification </vt:lpstr>
      <vt:lpstr>SRS should come up with following features: </vt:lpstr>
      <vt:lpstr>Software Requirement Validation </vt:lpstr>
      <vt:lpstr>Requirement Elicitation Process </vt:lpstr>
      <vt:lpstr>Slide 109</vt:lpstr>
      <vt:lpstr>Requirement Elicitation Techniques </vt:lpstr>
      <vt:lpstr>Software Requirements Characteristics </vt:lpstr>
      <vt:lpstr>Software Requirements </vt:lpstr>
      <vt:lpstr>Non-Functional Requirements </vt:lpstr>
      <vt:lpstr>Slide 114</vt:lpstr>
      <vt:lpstr>User Interface requirements </vt:lpstr>
      <vt:lpstr>Slide 116</vt:lpstr>
      <vt:lpstr>Software Requirement Specification (SRS) Format </vt:lpstr>
      <vt:lpstr>Software Requirement Specification (SRS) </vt:lpstr>
      <vt:lpstr>Slide 119</vt:lpstr>
      <vt:lpstr>Introduction </vt:lpstr>
      <vt:lpstr>General Description </vt:lpstr>
      <vt:lpstr>Design Constraints </vt:lpstr>
      <vt:lpstr>Slide 123</vt:lpstr>
      <vt:lpstr>Uses of SRS document </vt:lpstr>
      <vt:lpstr>Conclusion </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staff</dc:creator>
  <cp:lastModifiedBy>staff</cp:lastModifiedBy>
  <cp:revision>93</cp:revision>
  <dcterms:created xsi:type="dcterms:W3CDTF">2025-09-16T09:04:35Z</dcterms:created>
  <dcterms:modified xsi:type="dcterms:W3CDTF">2025-09-22T09:05:04Z</dcterms:modified>
</cp:coreProperties>
</file>